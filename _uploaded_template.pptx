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F2EC4-C076-4A07-B438-C52ED8362070}" type="datetimeFigureOut"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7E846-7598-4070-9CDC-FD9526AE9B2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89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" y="1353312"/>
            <a:ext cx="11247120" cy="2212848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731520" y="1755648"/>
            <a:ext cx="10735056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[CORRIDOR NAME]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REPORT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822960" y="2679192"/>
            <a:ext cx="105613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[MUNICIPALITIES / REGIONS]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[REPORTING DATE] | [PERIOD COVERED] | [DATA CLOSE TIME]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5852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64008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cases</a:t>
            </a:r>
            <a:endParaRPr lang="en-US" sz="770" dirty="0"/>
          </a:p>
        </p:txBody>
      </p:sp>
      <p:sp>
        <p:nvSpPr>
          <p:cNvPr id="10" name="Shape 6"/>
          <p:cNvSpPr/>
          <p:nvPr/>
        </p:nvSpPr>
        <p:spPr>
          <a:xfrm>
            <a:off x="255117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260604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[##/##]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260604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covered</a:t>
            </a:r>
            <a:endParaRPr lang="en-US" sz="770" dirty="0"/>
          </a:p>
        </p:txBody>
      </p:sp>
      <p:sp>
        <p:nvSpPr>
          <p:cNvPr id="13" name="Shape 9"/>
          <p:cNvSpPr/>
          <p:nvPr/>
        </p:nvSpPr>
        <p:spPr>
          <a:xfrm>
            <a:off x="451713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7200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770" dirty="0"/>
          </a:p>
        </p:txBody>
      </p:sp>
      <p:sp>
        <p:nvSpPr>
          <p:cNvPr id="16" name="Shape 12"/>
          <p:cNvSpPr/>
          <p:nvPr/>
        </p:nvSpPr>
        <p:spPr>
          <a:xfrm>
            <a:off x="648309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3796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53796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Wards missing</a:t>
            </a:r>
            <a:endParaRPr lang="en-US" sz="770" dirty="0"/>
          </a:p>
        </p:txBody>
      </p:sp>
      <p:sp>
        <p:nvSpPr>
          <p:cNvPr id="19" name="Shape 15"/>
          <p:cNvSpPr/>
          <p:nvPr/>
        </p:nvSpPr>
        <p:spPr>
          <a:xfrm>
            <a:off x="844905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850392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50392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ready / done</a:t>
            </a:r>
            <a:endParaRPr lang="en-US" sz="770" dirty="0"/>
          </a:p>
        </p:txBody>
      </p:sp>
      <p:sp>
        <p:nvSpPr>
          <p:cNvPr id="22" name="Shape 18"/>
          <p:cNvSpPr/>
          <p:nvPr/>
        </p:nvSpPr>
        <p:spPr>
          <a:xfrm>
            <a:off x="10415016" y="4096512"/>
            <a:ext cx="1719072" cy="768096"/>
          </a:xfrm>
          <a:prstGeom prst="roundRect">
            <a:avLst>
              <a:gd name="adj" fmla="val 8333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10469880" y="4206240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[RAG]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10469880" y="452628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status</a:t>
            </a:r>
            <a:endParaRPr lang="en-US" sz="770" dirty="0"/>
          </a:p>
        </p:txBody>
      </p:sp>
      <p:sp>
        <p:nvSpPr>
          <p:cNvPr id="25" name="Text 21"/>
          <p:cNvSpPr/>
          <p:nvPr/>
        </p:nvSpPr>
        <p:spPr>
          <a:xfrm>
            <a:off x="594360" y="5166360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as the single front page for all corridors. Keep only the six headline measures relevant to management.</a:t>
            </a:r>
            <a:endParaRPr lang="en-US" sz="820" dirty="0"/>
          </a:p>
        </p:txBody>
      </p:sp>
      <p:sp>
        <p:nvSpPr>
          <p:cNvPr id="26" name="Shape 22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[CORRIDOR NAME] | INTERNAL SDI OPERATIONS REPORTING | [REPORTING DATE] | [DATA CLOSE TIME]</a:t>
            </a:r>
            <a:endParaRPr lang="en-US" sz="570" dirty="0"/>
          </a:p>
        </p:txBody>
      </p:sp>
      <p:sp>
        <p:nvSpPr>
          <p:cNvPr id="28" name="Text 24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replace all [bracketed] fields and sample chart data</a:t>
            </a:r>
            <a:endParaRPr lang="en-US" sz="5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COVERAGE SNAPSHOT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[RAG]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[CORRIDOR NAME] | INTERNAL SDI OPERATIONS REPORTING | [REPORTING DATE] | [DATA CLOSE TIME]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replace all [bracketed] fields and sample chart data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41148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949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 now</a:t>
            </a:r>
            <a:endParaRPr lang="en-US" sz="1140" dirty="0"/>
          </a:p>
        </p:txBody>
      </p:sp>
      <p:sp>
        <p:nvSpPr>
          <p:cNvPr id="13" name="Text 9"/>
          <p:cNvSpPr/>
          <p:nvPr/>
        </p:nvSpPr>
        <p:spPr>
          <a:xfrm>
            <a:off x="53949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 valid cases opened [##] of [target] wards ([##%]). [Best-performing municipality/region] leads coverage; [largest gap] carries the largest missing-ward load.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25196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37997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</a:t>
            </a:r>
            <a:endParaRPr lang="en-US" sz="1140" dirty="0"/>
          </a:p>
        </p:txBody>
      </p:sp>
      <p:sp>
        <p:nvSpPr>
          <p:cNvPr id="16" name="Text 12"/>
          <p:cNvSpPr/>
          <p:nvPr/>
        </p:nvSpPr>
        <p:spPr>
          <a:xfrm>
            <a:off x="437997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[Today / week-to-date] added [##] new wards and [##] cases compared with [previous close]. Note material increases or flat movement only.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8092440" y="1554480"/>
            <a:ext cx="3703320" cy="13258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0456" y="1645920"/>
            <a:ext cx="3447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needs attention</a:t>
            </a:r>
            <a:endParaRPr lang="en-US" sz="1140" dirty="0"/>
          </a:p>
        </p:txBody>
      </p:sp>
      <p:sp>
        <p:nvSpPr>
          <p:cNvPr id="19" name="Text 15"/>
          <p:cNvSpPr/>
          <p:nvPr/>
        </p:nvSpPr>
        <p:spPr>
          <a:xfrm>
            <a:off x="8220456" y="1938528"/>
            <a:ext cx="3447288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 wards remain uncovered. Prioritise wards carried over from the previous close and any channel/time gaps affecting coverage.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502920" y="3154680"/>
            <a:ext cx="3657600" cy="21488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7512" y="3264408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movement</a:t>
            </a:r>
            <a:endParaRPr lang="en-US" sz="1080" dirty="0"/>
          </a:p>
        </p:txBody>
      </p:sp>
      <p:sp>
        <p:nvSpPr>
          <p:cNvPr id="22" name="Shape 18"/>
          <p:cNvSpPr/>
          <p:nvPr/>
        </p:nvSpPr>
        <p:spPr>
          <a:xfrm>
            <a:off x="822960" y="4206240"/>
            <a:ext cx="326898" cy="59436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417320" y="4389120"/>
            <a:ext cx="326898" cy="41148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011680" y="4023360"/>
            <a:ext cx="326898" cy="77724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606040" y="4507992"/>
            <a:ext cx="326898" cy="292608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3200400" y="4297680"/>
            <a:ext cx="326898" cy="50292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31520" y="4800600"/>
            <a:ext cx="3246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67512" y="5029200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cases and new wards by day.</a:t>
            </a:r>
            <a:endParaRPr lang="en-US" sz="660" dirty="0"/>
          </a:p>
        </p:txBody>
      </p:sp>
      <p:sp>
        <p:nvSpPr>
          <p:cNvPr id="29" name="Shape 25"/>
          <p:cNvSpPr/>
          <p:nvPr/>
        </p:nvSpPr>
        <p:spPr>
          <a:xfrm>
            <a:off x="4480560" y="3154680"/>
            <a:ext cx="434340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4480560" y="3154680"/>
            <a:ext cx="4343400" cy="42976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480560" y="3584448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480560" y="4014216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480560" y="4443984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480560" y="4873752"/>
            <a:ext cx="43434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34924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12648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708660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8138160" y="3154680"/>
            <a:ext cx="0" cy="21488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517136" y="3195828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770" dirty="0"/>
          </a:p>
        </p:txBody>
      </p:sp>
      <p:sp>
        <p:nvSpPr>
          <p:cNvPr id="40" name="Text 36"/>
          <p:cNvSpPr/>
          <p:nvPr/>
        </p:nvSpPr>
        <p:spPr>
          <a:xfrm>
            <a:off x="5385816" y="3195828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70" dirty="0"/>
          </a:p>
        </p:txBody>
      </p:sp>
      <p:sp>
        <p:nvSpPr>
          <p:cNvPr id="41" name="Text 37"/>
          <p:cNvSpPr/>
          <p:nvPr/>
        </p:nvSpPr>
        <p:spPr>
          <a:xfrm>
            <a:off x="6163056" y="3195828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70" dirty="0"/>
          </a:p>
        </p:txBody>
      </p:sp>
      <p:sp>
        <p:nvSpPr>
          <p:cNvPr id="42" name="Text 38"/>
          <p:cNvSpPr/>
          <p:nvPr/>
        </p:nvSpPr>
        <p:spPr>
          <a:xfrm>
            <a:off x="7123176" y="3195828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total</a:t>
            </a:r>
            <a:endParaRPr lang="en-US" sz="770" dirty="0"/>
          </a:p>
        </p:txBody>
      </p:sp>
      <p:sp>
        <p:nvSpPr>
          <p:cNvPr id="43" name="Text 39"/>
          <p:cNvSpPr/>
          <p:nvPr/>
        </p:nvSpPr>
        <p:spPr>
          <a:xfrm>
            <a:off x="8174736" y="3195828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needed</a:t>
            </a:r>
            <a:endParaRPr lang="en-US" sz="770" dirty="0"/>
          </a:p>
        </p:txBody>
      </p:sp>
      <p:sp>
        <p:nvSpPr>
          <p:cNvPr id="44" name="Text 40"/>
          <p:cNvSpPr/>
          <p:nvPr/>
        </p:nvSpPr>
        <p:spPr>
          <a:xfrm>
            <a:off x="4517136" y="3625596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[Day 1]</a:t>
            </a:r>
            <a:endParaRPr lang="en-US" sz="770" dirty="0"/>
          </a:p>
        </p:txBody>
      </p:sp>
      <p:sp>
        <p:nvSpPr>
          <p:cNvPr id="45" name="Text 41"/>
          <p:cNvSpPr/>
          <p:nvPr/>
        </p:nvSpPr>
        <p:spPr>
          <a:xfrm>
            <a:off x="5385816" y="3625596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46" name="Text 42"/>
          <p:cNvSpPr/>
          <p:nvPr/>
        </p:nvSpPr>
        <p:spPr>
          <a:xfrm>
            <a:off x="6163056" y="3625596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47" name="Text 43"/>
          <p:cNvSpPr/>
          <p:nvPr/>
        </p:nvSpPr>
        <p:spPr>
          <a:xfrm>
            <a:off x="7123176" y="3625596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[##/target]</a:t>
            </a:r>
            <a:endParaRPr lang="en-US" sz="770" dirty="0"/>
          </a:p>
        </p:txBody>
      </p:sp>
      <p:sp>
        <p:nvSpPr>
          <p:cNvPr id="48" name="Text 44"/>
          <p:cNvSpPr/>
          <p:nvPr/>
        </p:nvSpPr>
        <p:spPr>
          <a:xfrm>
            <a:off x="8174736" y="3625596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49" name="Text 45"/>
          <p:cNvSpPr/>
          <p:nvPr/>
        </p:nvSpPr>
        <p:spPr>
          <a:xfrm>
            <a:off x="4517136" y="4055364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[Day 2]</a:t>
            </a:r>
            <a:endParaRPr lang="en-US" sz="770" dirty="0"/>
          </a:p>
        </p:txBody>
      </p:sp>
      <p:sp>
        <p:nvSpPr>
          <p:cNvPr id="50" name="Text 46"/>
          <p:cNvSpPr/>
          <p:nvPr/>
        </p:nvSpPr>
        <p:spPr>
          <a:xfrm>
            <a:off x="5385816" y="4055364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1" name="Text 47"/>
          <p:cNvSpPr/>
          <p:nvPr/>
        </p:nvSpPr>
        <p:spPr>
          <a:xfrm>
            <a:off x="6163056" y="4055364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2" name="Text 48"/>
          <p:cNvSpPr/>
          <p:nvPr/>
        </p:nvSpPr>
        <p:spPr>
          <a:xfrm>
            <a:off x="7123176" y="4055364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[##/target]</a:t>
            </a:r>
            <a:endParaRPr lang="en-US" sz="770" dirty="0"/>
          </a:p>
        </p:txBody>
      </p:sp>
      <p:sp>
        <p:nvSpPr>
          <p:cNvPr id="53" name="Text 49"/>
          <p:cNvSpPr/>
          <p:nvPr/>
        </p:nvSpPr>
        <p:spPr>
          <a:xfrm>
            <a:off x="8174736" y="4055364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4" name="Text 50"/>
          <p:cNvSpPr/>
          <p:nvPr/>
        </p:nvSpPr>
        <p:spPr>
          <a:xfrm>
            <a:off x="4517136" y="4485132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[Today]</a:t>
            </a:r>
            <a:endParaRPr lang="en-US" sz="770" dirty="0"/>
          </a:p>
        </p:txBody>
      </p:sp>
      <p:sp>
        <p:nvSpPr>
          <p:cNvPr id="55" name="Text 51"/>
          <p:cNvSpPr/>
          <p:nvPr/>
        </p:nvSpPr>
        <p:spPr>
          <a:xfrm>
            <a:off x="5385816" y="4485132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6" name="Text 52"/>
          <p:cNvSpPr/>
          <p:nvPr/>
        </p:nvSpPr>
        <p:spPr>
          <a:xfrm>
            <a:off x="6163056" y="4485132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7" name="Text 53"/>
          <p:cNvSpPr/>
          <p:nvPr/>
        </p:nvSpPr>
        <p:spPr>
          <a:xfrm>
            <a:off x="7123176" y="4485132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[##/target]</a:t>
            </a:r>
            <a:endParaRPr lang="en-US" sz="770" dirty="0"/>
          </a:p>
        </p:txBody>
      </p:sp>
      <p:sp>
        <p:nvSpPr>
          <p:cNvPr id="58" name="Text 54"/>
          <p:cNvSpPr/>
          <p:nvPr/>
        </p:nvSpPr>
        <p:spPr>
          <a:xfrm>
            <a:off x="8174736" y="4485132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59" name="Text 55"/>
          <p:cNvSpPr/>
          <p:nvPr/>
        </p:nvSpPr>
        <p:spPr>
          <a:xfrm>
            <a:off x="4517136" y="4914900"/>
            <a:ext cx="79552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[Final day]</a:t>
            </a:r>
            <a:endParaRPr lang="en-US" sz="770" dirty="0"/>
          </a:p>
        </p:txBody>
      </p:sp>
      <p:sp>
        <p:nvSpPr>
          <p:cNvPr id="60" name="Text 56"/>
          <p:cNvSpPr/>
          <p:nvPr/>
        </p:nvSpPr>
        <p:spPr>
          <a:xfrm>
            <a:off x="5385816" y="4914900"/>
            <a:ext cx="70408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[target]</a:t>
            </a:r>
            <a:endParaRPr lang="en-US" sz="770" dirty="0"/>
          </a:p>
        </p:txBody>
      </p:sp>
      <p:sp>
        <p:nvSpPr>
          <p:cNvPr id="61" name="Text 57"/>
          <p:cNvSpPr/>
          <p:nvPr/>
        </p:nvSpPr>
        <p:spPr>
          <a:xfrm>
            <a:off x="6163056" y="4914900"/>
            <a:ext cx="88696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70" dirty="0"/>
          </a:p>
        </p:txBody>
      </p:sp>
      <p:sp>
        <p:nvSpPr>
          <p:cNvPr id="62" name="Text 58"/>
          <p:cNvSpPr/>
          <p:nvPr/>
        </p:nvSpPr>
        <p:spPr>
          <a:xfrm>
            <a:off x="7123176" y="4914900"/>
            <a:ext cx="97840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[target]</a:t>
            </a:r>
            <a:endParaRPr lang="en-US" sz="770" dirty="0"/>
          </a:p>
        </p:txBody>
      </p:sp>
      <p:sp>
        <p:nvSpPr>
          <p:cNvPr id="63" name="Text 59"/>
          <p:cNvSpPr/>
          <p:nvPr/>
        </p:nvSpPr>
        <p:spPr>
          <a:xfrm>
            <a:off x="8174736" y="4914900"/>
            <a:ext cx="612648" cy="3749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770" dirty="0"/>
          </a:p>
        </p:txBody>
      </p:sp>
      <p:sp>
        <p:nvSpPr>
          <p:cNvPr id="64" name="Text 60"/>
          <p:cNvSpPr/>
          <p:nvPr/>
        </p:nvSpPr>
        <p:spPr>
          <a:xfrm>
            <a:off x="9144000" y="31638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focus</a:t>
            </a:r>
            <a:endParaRPr lang="en-US" sz="1140" dirty="0"/>
          </a:p>
        </p:txBody>
      </p:sp>
      <p:sp>
        <p:nvSpPr>
          <p:cNvPr id="65" name="Text 61"/>
          <p:cNvSpPr/>
          <p:nvPr/>
        </p:nvSpPr>
        <p:spPr>
          <a:xfrm>
            <a:off x="9144000" y="3474720"/>
            <a:ext cx="2606040" cy="1810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missing wards by municipality/region.</a:t>
            </a:r>
            <a:endParaRPr lang="en-US" sz="940" dirty="0"/>
          </a:p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high-yield calling times.</a:t>
            </a:r>
            <a:endParaRPr lang="en-US" sz="940" dirty="0"/>
          </a:p>
          <a:p>
            <a:r>
              <a:rPr lang="en-US" sz="94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detailed exceptions to addendum.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WARD COVERAGE BY MUNICIPALITY / REGION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[RAG]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[CORRIDOR NAME] | INTERNAL SDI OPERATIONS REPORTING | [REPORTING DATE] | [DATA CLOSE TIME]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replace all [bracketed] fields and sample chart data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12064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02920" y="1645920"/>
            <a:ext cx="512064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2039112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" y="2432304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2825496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" y="3218688"/>
            <a:ext cx="51206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46888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18688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005072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91456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9496" y="1687068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2505456" y="1687068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255264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4041648" y="1687068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828032" y="1687068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[Municipality/Region A]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505456" y="2080260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255264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041648" y="2080260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4828032" y="2080260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[Municipality/Region B]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2505456" y="2473452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3255264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4041648" y="2473452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828032" y="2473452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[Municipality/Region C]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505456" y="2866644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55264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041648" y="2866644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4828032" y="2866644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892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2505456" y="3259836"/>
            <a:ext cx="676656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3255264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41648" y="3259836"/>
            <a:ext cx="71323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800" dirty="0"/>
          </a:p>
        </p:txBody>
      </p:sp>
      <p:sp>
        <p:nvSpPr>
          <p:cNvPr id="45" name="Text 41"/>
          <p:cNvSpPr/>
          <p:nvPr/>
        </p:nvSpPr>
        <p:spPr>
          <a:xfrm>
            <a:off x="4828032" y="3259836"/>
            <a:ext cx="758952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989320" y="1645920"/>
            <a:ext cx="544068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153912" y="175564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 vs missing wards by area</a:t>
            </a:r>
            <a:endParaRPr lang="en-US" sz="1080" dirty="0"/>
          </a:p>
        </p:txBody>
      </p:sp>
      <p:sp>
        <p:nvSpPr>
          <p:cNvPr id="48" name="Shape 44"/>
          <p:cNvSpPr/>
          <p:nvPr/>
        </p:nvSpPr>
        <p:spPr>
          <a:xfrm>
            <a:off x="6309360" y="2633472"/>
            <a:ext cx="523037" cy="475488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260336" y="2779776"/>
            <a:ext cx="523037" cy="329184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211312" y="2487168"/>
            <a:ext cx="523037" cy="621792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9162288" y="2874874"/>
            <a:ext cx="523037" cy="23408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0113264" y="2706624"/>
            <a:ext cx="523037" cy="40233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217920" y="3108960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153912" y="3337560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stacked bars by municipality/region.</a:t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12064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30936" y="3977640"/>
            <a:ext cx="4864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Interpretation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630936" y="4270248"/>
            <a:ext cx="486460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count wards after numeric Ward ID certification. Do not treat zero-case wards as zero demand; they become the calling queue.</a:t>
            </a:r>
            <a:endParaRPr lang="en-US" sz="960" dirty="0"/>
          </a:p>
        </p:txBody>
      </p:sp>
      <p:sp>
        <p:nvSpPr>
          <p:cNvPr id="58" name="Shape 54"/>
          <p:cNvSpPr/>
          <p:nvPr/>
        </p:nvSpPr>
        <p:spPr>
          <a:xfrm>
            <a:off x="5989320" y="3886200"/>
            <a:ext cx="5440680" cy="16002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117336" y="397764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Call-list link</a:t>
            </a:r>
            <a:endParaRPr lang="en-US" sz="1140" dirty="0"/>
          </a:p>
        </p:txBody>
      </p:sp>
      <p:sp>
        <p:nvSpPr>
          <p:cNvPr id="60" name="Text 56"/>
          <p:cNvSpPr/>
          <p:nvPr/>
        </p:nvSpPr>
        <p:spPr>
          <a:xfrm>
            <a:off x="6117336" y="4270248"/>
            <a:ext cx="5184648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addendum must carry the full accounted and missing ward list with area/sub-place names, carried-over flags and assigned owner.</a:t>
            </a:r>
            <a:endParaRPr lang="en-US" sz="9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CHANNEL AND TIME COVERAGE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[RAG]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[CORRIDOR NAME] | INTERNAL SDI OPERATIONS REPORTING | [REPORTING DATE] | [DATA CLOSE TIME]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replace all [bracketed] fields and sample chart data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553212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02920" y="1645920"/>
            <a:ext cx="5532120" cy="393192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2039112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" y="2432304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2825496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" y="3218688"/>
            <a:ext cx="553212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164592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37744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97180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794760" y="1645920"/>
            <a:ext cx="0" cy="196596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9496" y="1687068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1682496" y="1687068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2414016" y="1687068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50" dirty="0"/>
          </a:p>
        </p:txBody>
      </p:sp>
      <p:sp>
        <p:nvSpPr>
          <p:cNvPr id="24" name="Text 20"/>
          <p:cNvSpPr/>
          <p:nvPr/>
        </p:nvSpPr>
        <p:spPr>
          <a:xfrm>
            <a:off x="3008376" y="1687068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wards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3831336" y="1687068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note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539496" y="2080260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Outbound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1682496" y="2080260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2414016" y="2080260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3008376" y="2080260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3831336" y="2080260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[e.g., primary coverage lever]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539496" y="2473452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1682496" y="2473452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2414016" y="2473452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3008376" y="2473452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3831336" y="2473452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[e.g., narrative gaps]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539496" y="2866644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/ Email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1682496" y="2866644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2414016" y="2866644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3008376" y="2866644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3831336" y="2866644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[e.g., follow-up required]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539496" y="3259836"/>
            <a:ext cx="106984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1682496" y="3259836"/>
            <a:ext cx="65836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2414016" y="3259836"/>
            <a:ext cx="5212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3008376" y="3259836"/>
            <a:ext cx="74980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3831336" y="3259836"/>
            <a:ext cx="2167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[if applicable]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6355080" y="1645920"/>
            <a:ext cx="5074920" cy="196596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519672" y="1755648"/>
            <a:ext cx="4745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mix</a:t>
            </a:r>
            <a:endParaRPr lang="en-US" sz="1080" dirty="0"/>
          </a:p>
        </p:txBody>
      </p:sp>
      <p:sp>
        <p:nvSpPr>
          <p:cNvPr id="48" name="Shape 44"/>
          <p:cNvSpPr/>
          <p:nvPr/>
        </p:nvSpPr>
        <p:spPr>
          <a:xfrm>
            <a:off x="6675120" y="2633472"/>
            <a:ext cx="482803" cy="475488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552944" y="2779776"/>
            <a:ext cx="482803" cy="329184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430768" y="2487168"/>
            <a:ext cx="482803" cy="621792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9308592" y="2874874"/>
            <a:ext cx="482803" cy="23408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10186416" y="2706624"/>
            <a:ext cx="482803" cy="40233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6583680" y="3108960"/>
            <a:ext cx="466344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6519672" y="3337560"/>
            <a:ext cx="4745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cases by channel or channel share.</a:t>
            </a:r>
            <a:endParaRPr lang="en-US" sz="660" dirty="0"/>
          </a:p>
        </p:txBody>
      </p:sp>
      <p:sp>
        <p:nvSpPr>
          <p:cNvPr id="55" name="Shape 51"/>
          <p:cNvSpPr/>
          <p:nvPr/>
        </p:nvSpPr>
        <p:spPr>
          <a:xfrm>
            <a:off x="502920" y="3886200"/>
            <a:ext cx="5440680" cy="1627632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667512" y="3995928"/>
            <a:ext cx="5111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coverage / hourly activity</a:t>
            </a:r>
            <a:endParaRPr lang="en-US" sz="1080" dirty="0"/>
          </a:p>
        </p:txBody>
      </p:sp>
      <p:sp>
        <p:nvSpPr>
          <p:cNvPr id="57" name="Shape 53"/>
          <p:cNvSpPr/>
          <p:nvPr/>
        </p:nvSpPr>
        <p:spPr>
          <a:xfrm>
            <a:off x="822960" y="4755337"/>
            <a:ext cx="523037" cy="255575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773936" y="4833976"/>
            <a:ext cx="523037" cy="17693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2724912" y="4676699"/>
            <a:ext cx="523037" cy="334213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3675888" y="4885091"/>
            <a:ext cx="523037" cy="125821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626864" y="4794656"/>
            <a:ext cx="523037" cy="21625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731520" y="5010912"/>
            <a:ext cx="502920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667512" y="5239512"/>
            <a:ext cx="5111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cases by hour and cumulative new wards.</a:t>
            </a:r>
            <a:endParaRPr lang="en-US" sz="660" dirty="0"/>
          </a:p>
        </p:txBody>
      </p:sp>
      <p:sp>
        <p:nvSpPr>
          <p:cNvPr id="64" name="Shape 60"/>
          <p:cNvSpPr/>
          <p:nvPr/>
        </p:nvSpPr>
        <p:spPr>
          <a:xfrm>
            <a:off x="6355080" y="3886200"/>
            <a:ext cx="5074920" cy="162763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65" name="Text 61"/>
          <p:cNvSpPr/>
          <p:nvPr/>
        </p:nvSpPr>
        <p:spPr>
          <a:xfrm>
            <a:off x="6483096" y="3977640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management should see</a:t>
            </a:r>
            <a:endParaRPr lang="en-US" sz="1140" dirty="0"/>
          </a:p>
        </p:txBody>
      </p:sp>
      <p:sp>
        <p:nvSpPr>
          <p:cNvPr id="66" name="Text 62"/>
          <p:cNvSpPr/>
          <p:nvPr/>
        </p:nvSpPr>
        <p:spPr>
          <a:xfrm>
            <a:off x="6483096" y="4270248"/>
            <a:ext cx="4818888" cy="1170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only actionable timing patterns: peak intake hours, quiet periods, missed afternoon coverage, and the next calling window. Keep row-level time logs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SERVICES AND DEMAND MIX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[RAG]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[CORRIDOR NAME] | INTERNAL SDI OPERATIONS REPORTING | [REPORTING DATE] | [DATA CLOSE TIME]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replace all [bracketed] fields and sample chart data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45920"/>
            <a:ext cx="4800600" cy="210312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67512" y="1755648"/>
            <a:ext cx="4471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services logged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822960" y="2681478"/>
            <a:ext cx="452628" cy="564642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645920" y="2855214"/>
            <a:ext cx="452628" cy="390906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468880" y="2507742"/>
            <a:ext cx="452628" cy="738378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91840" y="2968142"/>
            <a:ext cx="452628" cy="277978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114800" y="2768346"/>
            <a:ext cx="452628" cy="477774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3246120"/>
            <a:ext cx="438912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67512" y="3474720"/>
            <a:ext cx="4471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top 5-8 services by cases.</a:t>
            </a:r>
            <a:endParaRPr lang="en-US" sz="660" dirty="0"/>
          </a:p>
        </p:txBody>
      </p:sp>
      <p:sp>
        <p:nvSpPr>
          <p:cNvPr id="20" name="Shape 16"/>
          <p:cNvSpPr/>
          <p:nvPr/>
        </p:nvSpPr>
        <p:spPr>
          <a:xfrm>
            <a:off x="5623560" y="1645920"/>
            <a:ext cx="57150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623560" y="1645920"/>
            <a:ext cx="5715000" cy="420624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623560" y="2066544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623560" y="2487168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623560" y="2907792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623560" y="3328416"/>
            <a:ext cx="571500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49808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13816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732520" y="1645920"/>
            <a:ext cx="0" cy="210312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660136" y="1687068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/ cluster</a:t>
            </a:r>
            <a:endParaRPr lang="en-US" sz="790" dirty="0"/>
          </a:p>
        </p:txBody>
      </p:sp>
      <p:sp>
        <p:nvSpPr>
          <p:cNvPr id="30" name="Text 26"/>
          <p:cNvSpPr/>
          <p:nvPr/>
        </p:nvSpPr>
        <p:spPr>
          <a:xfrm>
            <a:off x="7534656" y="1687068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8174736" y="1687068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90" dirty="0"/>
          </a:p>
        </p:txBody>
      </p:sp>
      <p:sp>
        <p:nvSpPr>
          <p:cNvPr id="32" name="Text 28"/>
          <p:cNvSpPr/>
          <p:nvPr/>
        </p:nvSpPr>
        <p:spPr>
          <a:xfrm>
            <a:off x="8769096" y="1687068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</a:t>
            </a:r>
            <a:endParaRPr lang="en-US" sz="790" dirty="0"/>
          </a:p>
        </p:txBody>
      </p:sp>
      <p:sp>
        <p:nvSpPr>
          <p:cNvPr id="33" name="Text 29"/>
          <p:cNvSpPr/>
          <p:nvPr/>
        </p:nvSpPr>
        <p:spPr>
          <a:xfrm>
            <a:off x="5660136" y="2107692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[Service 1]</a:t>
            </a:r>
            <a:endParaRPr lang="en-US" sz="790" dirty="0"/>
          </a:p>
        </p:txBody>
      </p:sp>
      <p:sp>
        <p:nvSpPr>
          <p:cNvPr id="34" name="Text 30"/>
          <p:cNvSpPr/>
          <p:nvPr/>
        </p:nvSpPr>
        <p:spPr>
          <a:xfrm>
            <a:off x="7534656" y="2107692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8174736" y="2107692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8769096" y="2107692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note]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5660136" y="2528316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[Service 2]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534656" y="2528316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8174736" y="2528316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8769096" y="2528316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note]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5660136" y="2948940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[Service 3]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534656" y="2948940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8174736" y="2948940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8769096" y="2948940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[key note]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5660136" y="3369564"/>
            <a:ext cx="180136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534656" y="3369564"/>
            <a:ext cx="56692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8174736" y="3369564"/>
            <a:ext cx="521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8769096" y="3369564"/>
            <a:ext cx="253288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[summary]</a:t>
            </a:r>
            <a:endParaRPr lang="en-US" sz="790" dirty="0"/>
          </a:p>
        </p:txBody>
      </p:sp>
      <p:sp>
        <p:nvSpPr>
          <p:cNvPr id="49" name="Shape 45"/>
          <p:cNvSpPr/>
          <p:nvPr/>
        </p:nvSpPr>
        <p:spPr>
          <a:xfrm>
            <a:off x="50292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3093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rule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demand indicators, not departmental performance. Avoid long service lists on the main slide; put detailed service tables in the addendum.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6080760" y="4005072"/>
            <a:ext cx="5257800" cy="1353312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6208776" y="4096512"/>
            <a:ext cx="5001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prompts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6208776" y="4389120"/>
            <a:ext cx="5001768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services not yet seen or single-service wards that require probing during callbacks. This keeps the slide operational without overcrowding it.</a:t>
            </a:r>
            <a:endParaRPr lang="en-US" sz="9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VOICE OF THE CITIZEN AND RESOLUTION POSITION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[RAG]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[CORRIDOR NAME] | INTERNAL SDI OPERATIONS REPORTING | [REPORTING DATE] | [DATA CLOSE TIME]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replace all [bracketed] fields and sample chart data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9436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4922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922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responses</a:t>
            </a:r>
            <a:endParaRPr lang="en-US" sz="770" dirty="0"/>
          </a:p>
        </p:txBody>
      </p:sp>
      <p:sp>
        <p:nvSpPr>
          <p:cNvPr id="14" name="Shape 10"/>
          <p:cNvSpPr/>
          <p:nvPr/>
        </p:nvSpPr>
        <p:spPr>
          <a:xfrm>
            <a:off x="269748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75234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[##%]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75234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770" dirty="0"/>
          </a:p>
        </p:txBody>
      </p:sp>
      <p:sp>
        <p:nvSpPr>
          <p:cNvPr id="17" name="Shape 13"/>
          <p:cNvSpPr/>
          <p:nvPr/>
        </p:nvSpPr>
        <p:spPr>
          <a:xfrm>
            <a:off x="480060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85546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485546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 cases</a:t>
            </a:r>
            <a:endParaRPr lang="en-US" sz="770" dirty="0"/>
          </a:p>
        </p:txBody>
      </p:sp>
      <p:sp>
        <p:nvSpPr>
          <p:cNvPr id="20" name="Shape 16"/>
          <p:cNvSpPr/>
          <p:nvPr/>
        </p:nvSpPr>
        <p:spPr>
          <a:xfrm>
            <a:off x="690372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95858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95858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Survey-ready</a:t>
            </a:r>
            <a:endParaRPr lang="en-US" sz="770" dirty="0"/>
          </a:p>
        </p:txBody>
      </p:sp>
      <p:sp>
        <p:nvSpPr>
          <p:cNvPr id="23" name="Shape 19"/>
          <p:cNvSpPr/>
          <p:nvPr/>
        </p:nvSpPr>
        <p:spPr>
          <a:xfrm>
            <a:off x="9006840" y="1673352"/>
            <a:ext cx="1828800" cy="786384"/>
          </a:xfrm>
          <a:prstGeom prst="roundRect">
            <a:avLst>
              <a:gd name="adj" fmla="val 8140"/>
            </a:avLst>
          </a:prstGeom>
          <a:solidFill>
            <a:srgbClr val="F2B200"/>
          </a:solidFill>
          <a:ln w="12700">
            <a:solidFill>
              <a:srgbClr val="F2B200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9061704" y="1783080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[Status]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9061704" y="2103120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availability</a:t>
            </a:r>
            <a:endParaRPr lang="en-US" sz="770" dirty="0"/>
          </a:p>
        </p:txBody>
      </p:sp>
      <p:sp>
        <p:nvSpPr>
          <p:cNvPr id="26" name="Shape 22"/>
          <p:cNvSpPr/>
          <p:nvPr/>
        </p:nvSpPr>
        <p:spPr>
          <a:xfrm>
            <a:off x="685800" y="2834640"/>
            <a:ext cx="516636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85800" y="2834640"/>
            <a:ext cx="5166360" cy="560070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85800" y="339471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85800" y="395478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85800" y="4514850"/>
            <a:ext cx="516636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21945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310896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343400" y="2834640"/>
            <a:ext cx="0" cy="224028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223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/ queue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2231136" y="287578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Ward</a:t>
            </a:r>
            <a:endParaRPr lang="en-US" sz="790" dirty="0"/>
          </a:p>
        </p:txBody>
      </p:sp>
      <p:sp>
        <p:nvSpPr>
          <p:cNvPr id="36" name="Text 32"/>
          <p:cNvSpPr/>
          <p:nvPr/>
        </p:nvSpPr>
        <p:spPr>
          <a:xfrm>
            <a:off x="3145536" y="287578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790" dirty="0"/>
          </a:p>
        </p:txBody>
      </p:sp>
      <p:sp>
        <p:nvSpPr>
          <p:cNvPr id="37" name="Text 33"/>
          <p:cNvSpPr/>
          <p:nvPr/>
        </p:nvSpPr>
        <p:spPr>
          <a:xfrm>
            <a:off x="4379976" y="287578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90" dirty="0"/>
          </a:p>
        </p:txBody>
      </p:sp>
      <p:sp>
        <p:nvSpPr>
          <p:cNvPr id="38" name="Text 34"/>
          <p:cNvSpPr/>
          <p:nvPr/>
        </p:nvSpPr>
        <p:spPr>
          <a:xfrm>
            <a:off x="7223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[Case ref]</a:t>
            </a:r>
            <a:endParaRPr lang="en-US" sz="790" dirty="0"/>
          </a:p>
        </p:txBody>
      </p:sp>
      <p:sp>
        <p:nvSpPr>
          <p:cNvPr id="39" name="Text 35"/>
          <p:cNvSpPr/>
          <p:nvPr/>
        </p:nvSpPr>
        <p:spPr>
          <a:xfrm>
            <a:off x="2231136" y="343585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[Ward]</a:t>
            </a:r>
            <a:endParaRPr lang="en-US" sz="790" dirty="0"/>
          </a:p>
        </p:txBody>
      </p:sp>
      <p:sp>
        <p:nvSpPr>
          <p:cNvPr id="40" name="Text 36"/>
          <p:cNvSpPr/>
          <p:nvPr/>
        </p:nvSpPr>
        <p:spPr>
          <a:xfrm>
            <a:off x="3145536" y="343585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[Service]</a:t>
            </a:r>
            <a:endParaRPr lang="en-US" sz="790" dirty="0"/>
          </a:p>
        </p:txBody>
      </p:sp>
      <p:sp>
        <p:nvSpPr>
          <p:cNvPr id="41" name="Text 37"/>
          <p:cNvSpPr/>
          <p:nvPr/>
        </p:nvSpPr>
        <p:spPr>
          <a:xfrm>
            <a:off x="4379976" y="343585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[Call / verify / close]</a:t>
            </a:r>
            <a:endParaRPr lang="en-US" sz="790" dirty="0"/>
          </a:p>
        </p:txBody>
      </p:sp>
      <p:sp>
        <p:nvSpPr>
          <p:cNvPr id="42" name="Text 38"/>
          <p:cNvSpPr/>
          <p:nvPr/>
        </p:nvSpPr>
        <p:spPr>
          <a:xfrm>
            <a:off x="7223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[Case ref]</a:t>
            </a:r>
            <a:endParaRPr lang="en-US" sz="790" dirty="0"/>
          </a:p>
        </p:txBody>
      </p:sp>
      <p:sp>
        <p:nvSpPr>
          <p:cNvPr id="43" name="Text 39"/>
          <p:cNvSpPr/>
          <p:nvPr/>
        </p:nvSpPr>
        <p:spPr>
          <a:xfrm>
            <a:off x="2231136" y="399592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[Ward]</a:t>
            </a:r>
            <a:endParaRPr lang="en-US" sz="790" dirty="0"/>
          </a:p>
        </p:txBody>
      </p:sp>
      <p:sp>
        <p:nvSpPr>
          <p:cNvPr id="44" name="Text 40"/>
          <p:cNvSpPr/>
          <p:nvPr/>
        </p:nvSpPr>
        <p:spPr>
          <a:xfrm>
            <a:off x="3145536" y="399592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[Service]</a:t>
            </a:r>
            <a:endParaRPr lang="en-US" sz="790" dirty="0"/>
          </a:p>
        </p:txBody>
      </p:sp>
      <p:sp>
        <p:nvSpPr>
          <p:cNvPr id="45" name="Text 41"/>
          <p:cNvSpPr/>
          <p:nvPr/>
        </p:nvSpPr>
        <p:spPr>
          <a:xfrm>
            <a:off x="4379976" y="399592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[Call / verify / close]</a:t>
            </a:r>
            <a:endParaRPr lang="en-US" sz="790" dirty="0"/>
          </a:p>
        </p:txBody>
      </p:sp>
      <p:sp>
        <p:nvSpPr>
          <p:cNvPr id="46" name="Text 42"/>
          <p:cNvSpPr/>
          <p:nvPr/>
        </p:nvSpPr>
        <p:spPr>
          <a:xfrm>
            <a:off x="7223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[Case ref]</a:t>
            </a:r>
            <a:endParaRPr lang="en-US" sz="790" dirty="0"/>
          </a:p>
        </p:txBody>
      </p:sp>
      <p:sp>
        <p:nvSpPr>
          <p:cNvPr id="47" name="Text 43"/>
          <p:cNvSpPr/>
          <p:nvPr/>
        </p:nvSpPr>
        <p:spPr>
          <a:xfrm>
            <a:off x="2231136" y="4555998"/>
            <a:ext cx="84124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[Ward]</a:t>
            </a:r>
            <a:endParaRPr lang="en-US" sz="790" dirty="0"/>
          </a:p>
        </p:txBody>
      </p:sp>
      <p:sp>
        <p:nvSpPr>
          <p:cNvPr id="48" name="Text 44"/>
          <p:cNvSpPr/>
          <p:nvPr/>
        </p:nvSpPr>
        <p:spPr>
          <a:xfrm>
            <a:off x="3145536" y="4555998"/>
            <a:ext cx="116128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[Service]</a:t>
            </a:r>
            <a:endParaRPr lang="en-US" sz="790" dirty="0"/>
          </a:p>
        </p:txBody>
      </p:sp>
      <p:sp>
        <p:nvSpPr>
          <p:cNvPr id="49" name="Text 45"/>
          <p:cNvSpPr/>
          <p:nvPr/>
        </p:nvSpPr>
        <p:spPr>
          <a:xfrm>
            <a:off x="4379976" y="4555998"/>
            <a:ext cx="1435608" cy="50520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9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[Call / verify / close]</a:t>
            </a:r>
            <a:endParaRPr lang="en-US" sz="790" dirty="0"/>
          </a:p>
        </p:txBody>
      </p:sp>
      <p:sp>
        <p:nvSpPr>
          <p:cNvPr id="50" name="Shape 46"/>
          <p:cNvSpPr/>
          <p:nvPr/>
        </p:nvSpPr>
        <p:spPr>
          <a:xfrm>
            <a:off x="6217920" y="2834640"/>
            <a:ext cx="4983480" cy="224028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345936" y="2926080"/>
            <a:ext cx="4727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reporting rule</a:t>
            </a:r>
            <a:endParaRPr lang="en-US" sz="1140" dirty="0"/>
          </a:p>
        </p:txBody>
      </p:sp>
      <p:sp>
        <p:nvSpPr>
          <p:cNvPr id="52" name="Text 48"/>
          <p:cNvSpPr/>
          <p:nvPr/>
        </p:nvSpPr>
        <p:spPr>
          <a:xfrm>
            <a:off x="6345936" y="3218688"/>
            <a:ext cx="4727448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 date-aligned VOC dataset is supplied, report availability as 'Not supplied' and do not infer happiness, effort, satisfaction or NPS. Put anomaly detail in the addendum.</a:t>
            </a:r>
            <a:endParaRPr lang="en-US" sz="9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auteng_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2788920" cy="786384"/>
          </a:xfrm>
          <a:prstGeom prst="rect">
            <a:avLst/>
          </a:prstGeom>
        </p:spPr>
      </p:pic>
      <p:pic>
        <p:nvPicPr>
          <p:cNvPr id="3" name="Image 1" descr="/mnt/data/ggt2030_logo_r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0" y="109728"/>
            <a:ext cx="20574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64592" y="941832"/>
            <a:ext cx="11859768" cy="393192"/>
          </a:xfrm>
          <a:prstGeom prst="rect">
            <a:avLst/>
          </a:prstGeom>
          <a:solidFill>
            <a:srgbClr val="0058A8"/>
          </a:solidFill>
          <a:ln w="12700">
            <a:solidFill>
              <a:srgbClr val="0058A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1005840"/>
            <a:ext cx="9098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ACTIONS, DATA QUALITY AND MANAGEMENT DECISIONS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10378440" y="987552"/>
            <a:ext cx="1417320" cy="265176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0378440" y="10287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[RAG]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64592" y="6446520"/>
            <a:ext cx="11841480" cy="0"/>
          </a:xfrm>
          <a:prstGeom prst="line">
            <a:avLst/>
          </a:prstGeom>
          <a:noFill/>
          <a:ln w="12700">
            <a:solidFill>
              <a:srgbClr val="0058A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82880" y="6519672"/>
            <a:ext cx="7955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70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[CORRIDOR NAME] | INTERNAL SDI OPERATIONS REPORTING | [REPORTING DATE] | [DATA CLOSE TIME]</a:t>
            </a:r>
            <a:endParaRPr lang="en-US" sz="570" dirty="0"/>
          </a:p>
        </p:txBody>
      </p:sp>
      <p:sp>
        <p:nvSpPr>
          <p:cNvPr id="10" name="Text 6"/>
          <p:cNvSpPr/>
          <p:nvPr/>
        </p:nvSpPr>
        <p:spPr>
          <a:xfrm>
            <a:off x="8412480" y="651967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7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Template: replace all [bracketed] fields and sample chart data</a:t>
            </a:r>
            <a:endParaRPr lang="en-US" sz="570" dirty="0"/>
          </a:p>
        </p:txBody>
      </p:sp>
      <p:sp>
        <p:nvSpPr>
          <p:cNvPr id="11" name="Shape 7"/>
          <p:cNvSpPr/>
          <p:nvPr/>
        </p:nvSpPr>
        <p:spPr>
          <a:xfrm>
            <a:off x="502920" y="1691640"/>
            <a:ext cx="58064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BFB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02920" y="1691640"/>
            <a:ext cx="5806440" cy="475488"/>
          </a:xfrm>
          <a:prstGeom prst="rect">
            <a:avLst/>
          </a:prstGeom>
          <a:solidFill>
            <a:srgbClr val="0058A8"/>
          </a:solidFill>
          <a:ln w="6350">
            <a:solidFill>
              <a:srgbClr val="0058A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2167128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02920" y="2642616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118104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" y="3593592"/>
            <a:ext cx="5806440" cy="0"/>
          </a:xfrm>
          <a:prstGeom prst="line">
            <a:avLst/>
          </a:prstGeom>
          <a:noFill/>
          <a:ln w="6350">
            <a:solidFill>
              <a:srgbClr val="D9D9D9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01168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246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89120" y="1691640"/>
            <a:ext cx="0" cy="2377440"/>
          </a:xfrm>
          <a:prstGeom prst="line">
            <a:avLst/>
          </a:prstGeom>
          <a:noFill/>
          <a:ln w="6350">
            <a:solidFill>
              <a:srgbClr val="E1E1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9496" y="1732788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2048256" y="1732788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282696" y="1732788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4425696" y="1732788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check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39496" y="2208276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wards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2048256" y="2208276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[Ops lead]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282696" y="2208276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[Next close]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4425696" y="2208276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 new wards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539496" y="2683764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Channel/time gap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048256" y="2683764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[Supervisor]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282696" y="2683764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[Today]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425696" y="2683764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[hours covered]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39496" y="3159252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 queue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2048256" y="3159252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[VOC lead]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3282696" y="3159252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[This week]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425696" y="3159252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 calls completed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39496" y="3634740"/>
            <a:ext cx="143560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2048256" y="3634740"/>
            <a:ext cx="11612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[Data lead]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3282696" y="3634740"/>
            <a:ext cx="106984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[Before circulation]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4425696" y="3634740"/>
            <a:ext cx="1847088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[exceptions corrected]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6629400" y="1691640"/>
            <a:ext cx="4709160" cy="2377440"/>
          </a:xfrm>
          <a:prstGeom prst="rect">
            <a:avLst/>
          </a:prstGeom>
          <a:solidFill>
            <a:srgbClr val="F8FAFC"/>
          </a:solidFill>
          <a:ln w="11430">
            <a:solidFill>
              <a:srgbClr val="D9E2F3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793992" y="1801368"/>
            <a:ext cx="4379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control load</a:t>
            </a:r>
            <a:endParaRPr lang="en-US" sz="1080" dirty="0"/>
          </a:p>
        </p:txBody>
      </p:sp>
      <p:sp>
        <p:nvSpPr>
          <p:cNvPr id="42" name="Shape 38"/>
          <p:cNvSpPr/>
          <p:nvPr/>
        </p:nvSpPr>
        <p:spPr>
          <a:xfrm>
            <a:off x="6949440" y="2823210"/>
            <a:ext cx="442570" cy="74295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7754112" y="3051810"/>
            <a:ext cx="442570" cy="51435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558784" y="2594610"/>
            <a:ext cx="442570" cy="97155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363456" y="3200400"/>
            <a:ext cx="442570" cy="36576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168128" y="2937510"/>
            <a:ext cx="442570" cy="628650"/>
          </a:xfrm>
          <a:prstGeom prst="rect">
            <a:avLst/>
          </a:prstGeom>
          <a:solidFill>
            <a:srgbClr val="0058A8">
              <a:alpha val="85000"/>
            </a:srgbClr>
          </a:solidFill>
          <a:ln w="12700">
            <a:solidFill>
              <a:srgbClr val="0058A8">
                <a:alpha val="7500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858000" y="3566160"/>
            <a:ext cx="4297680" cy="0"/>
          </a:xfrm>
          <a:prstGeom prst="line">
            <a:avLst/>
          </a:prstGeom>
          <a:noFill/>
          <a:ln w="6350">
            <a:solidFill>
              <a:srgbClr val="A6A6A6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793992" y="3794760"/>
            <a:ext cx="4379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" i="1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with missing wards, VOC queue and key data exceptions.</a:t>
            </a:r>
            <a:endParaRPr lang="en-US" sz="660" dirty="0"/>
          </a:p>
        </p:txBody>
      </p:sp>
      <p:sp>
        <p:nvSpPr>
          <p:cNvPr id="49" name="Shape 45"/>
          <p:cNvSpPr/>
          <p:nvPr/>
        </p:nvSpPr>
        <p:spPr>
          <a:xfrm>
            <a:off x="50292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3093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needed</a:t>
            </a:r>
            <a:endParaRPr lang="en-US" sz="1140" dirty="0"/>
          </a:p>
        </p:txBody>
      </p:sp>
      <p:sp>
        <p:nvSpPr>
          <p:cNvPr id="51" name="Text 47"/>
          <p:cNvSpPr/>
          <p:nvPr/>
        </p:nvSpPr>
        <p:spPr>
          <a:xfrm>
            <a:off x="63093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 one clear management decision or escalation required.]</a:t>
            </a:r>
            <a:endParaRPr lang="en-US" sz="960" dirty="0"/>
          </a:p>
        </p:txBody>
      </p:sp>
      <p:sp>
        <p:nvSpPr>
          <p:cNvPr id="52" name="Shape 48"/>
          <p:cNvSpPr/>
          <p:nvPr/>
        </p:nvSpPr>
        <p:spPr>
          <a:xfrm>
            <a:off x="425196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37997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caveat</a:t>
            </a:r>
            <a:endParaRPr lang="en-US" sz="1140" dirty="0"/>
          </a:p>
        </p:txBody>
      </p:sp>
      <p:sp>
        <p:nvSpPr>
          <p:cNvPr id="54" name="Text 50"/>
          <p:cNvSpPr/>
          <p:nvPr/>
        </p:nvSpPr>
        <p:spPr>
          <a:xfrm>
            <a:off x="437997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 the only caveat that changes interpretation: data cut-off, missing source, or unresolved validation.]</a:t>
            </a:r>
            <a:endParaRPr lang="en-US" sz="960" dirty="0"/>
          </a:p>
        </p:txBody>
      </p:sp>
      <p:sp>
        <p:nvSpPr>
          <p:cNvPr id="55" name="Shape 51"/>
          <p:cNvSpPr/>
          <p:nvPr/>
        </p:nvSpPr>
        <p:spPr>
          <a:xfrm>
            <a:off x="8001000" y="4343400"/>
            <a:ext cx="3429000" cy="1143000"/>
          </a:xfrm>
          <a:prstGeom prst="rect">
            <a:avLst/>
          </a:prstGeom>
          <a:solidFill>
            <a:srgbClr val="EAF3FB"/>
          </a:solidFill>
          <a:ln w="10160">
            <a:solidFill>
              <a:srgbClr val="D9E2F3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8129016" y="4434840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40" b="1" dirty="0">
                <a:solidFill>
                  <a:srgbClr val="005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Addendum pointer</a:t>
            </a:r>
            <a:endParaRPr lang="en-US" sz="1140" dirty="0"/>
          </a:p>
        </p:txBody>
      </p:sp>
      <p:sp>
        <p:nvSpPr>
          <p:cNvPr id="57" name="Text 53"/>
          <p:cNvSpPr/>
          <p:nvPr/>
        </p:nvSpPr>
        <p:spPr>
          <a:xfrm>
            <a:off x="8129016" y="4727448"/>
            <a:ext cx="317296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graphs, accounted wards, missing wards, time logs and correction registers are attached separately.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Gauteng Provincial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 Corridor Operations Report Template</dc:title>
  <dc:subject>Generic Corridor Operations Reporting Template</dc:subject>
  <dc:creator>CIC</dc:creator>
  <cp:lastModifiedBy>CIC</cp:lastModifiedBy>
  <cp:revision>3</cp:revision>
  <dcterms:created xsi:type="dcterms:W3CDTF">2026-08-26T12:35:59Z</dcterms:created>
  <dcterms:modified xsi:type="dcterms:W3CDTF">2026-08-27T13:13:33Z</dcterms:modified>
</cp:coreProperties>
</file>