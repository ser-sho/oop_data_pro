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2026-08-25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Reporting date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.1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Ekurhuleni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Ekurhuleni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.44000000000001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Wards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5.0"/>
      </c:valAx>
    </c:plotArea>
    <c:legend>
      <c:legendPos val="b"/>
      <c:overlay val="1"/>
      <c:txPr>
        <a:bodyPr/>
        <a:lstStyle/>
        <a:p>
          <a:pPr>
            <a:defRPr sz="7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Outbound Call</c:v>
                </c:pt>
                <c:pt idx="1">
                  <c:v>Inbound Call</c:v>
                </c:pt>
                <c:pt idx="2">
                  <c:v>Email</c:v>
                </c:pt>
                <c:pt idx="3">
                  <c:v>Walk-In</c:v>
                </c:pt>
                <c:pt idx="4">
                  <c:v>USSD - CTZN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7288.0</c:v>
                </c:pt>
                <c:pt idx="1">
                  <c:v>124.0</c:v>
                </c:pt>
                <c:pt idx="2">
                  <c:v>97.0</c:v>
                </c:pt>
                <c:pt idx="3">
                  <c:v>94.0</c:v>
                </c:pt>
                <c:pt idx="4">
                  <c:v>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381.199999999999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67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07:00</c:v>
                </c:pt>
                <c:pt idx="1">
                  <c:v>08:00</c:v>
                </c:pt>
                <c:pt idx="2">
                  <c:v>09:00</c:v>
                </c:pt>
                <c:pt idx="3">
                  <c:v>10:00</c:v>
                </c:pt>
                <c:pt idx="4">
                  <c:v>11:00</c:v>
                </c:pt>
                <c:pt idx="5">
                  <c:v>12:00</c:v>
                </c:pt>
                <c:pt idx="6">
                  <c:v>13:00</c:v>
                </c:pt>
                <c:pt idx="7">
                  <c:v>14:00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6.0</c:v>
                </c:pt>
                <c:pt idx="2">
                  <c:v>15.0</c:v>
                </c:pt>
                <c:pt idx="3">
                  <c:v>9.0</c:v>
                </c:pt>
                <c:pt idx="4">
                  <c:v>7.0</c:v>
                </c:pt>
                <c:pt idx="5">
                  <c:v>1.0</c:v>
                </c:pt>
                <c:pt idx="6">
                  <c:v>26.0</c:v>
                </c:pt>
                <c:pt idx="7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.9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Roads Services</c:v>
                </c:pt>
                <c:pt idx="1">
                  <c:v>Electricity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1703.0</c:v>
                </c:pt>
                <c:pt idx="1">
                  <c:v>1090.0</c:v>
                </c:pt>
                <c:pt idx="2">
                  <c:v>1079.0</c:v>
                </c:pt>
                <c:pt idx="3">
                  <c:v>577.0</c:v>
                </c:pt>
                <c:pt idx="4">
                  <c:v>334.0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Service 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58.449999999999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39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Missing wards</c:v>
                </c:pt>
                <c:pt idx="1">
                  <c:v>Channel/time</c:v>
                </c:pt>
                <c:pt idx="2">
                  <c:v>VOC queue</c:v>
                </c:pt>
                <c:pt idx="3">
                  <c:v>Data 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33.0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Control 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7.949999999999996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8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25 August 2026 | Tuesday 25 August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7,738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7,738 valid cases across 112 of 112 configured wards (100.0%).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7,738 records in the supplied extract. Prior-close comparison: 0/0.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wards are not represented in the supplied extract. Validate the ward register before circulation.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on reporting date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2026-08-25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112/112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ward representation (0 missing).
Protect observed peak intake periods.
Use the addendum for detailed evidence.</a:t>
            </a:r>
            <a:endParaRPr lang="en-US" sz="940" dirty="0"/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685800" y="3547872"/>
          <a:ext cx="3429000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configured wards are represented in this extract. Missing-ward names require the approved ward master when coverage is below 100%.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contains the ward evidence and validation trail.</a:t>
            </a:r>
            <a:endParaRPr lang="en-US" sz="960" dirty="0"/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6144768" y="2240280"/>
          <a:ext cx="51663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7,288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concentration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Call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mix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mix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mix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window: 07:06–14:31. Peak: 13:00 (26 cases).</a:t>
            </a:r>
            <a:endParaRPr lang="en-US" sz="960" dirty="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446520" y="2194560"/>
          <a:ext cx="49834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40080" y="4224528"/>
          <a:ext cx="5257800" cy="10789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1,703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demand category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1,079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2,896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categories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demand concentration to target follow-up; do not interpret case volume as departmental performance.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ward-level detail.</a:t>
            </a:r>
            <a:endParaRPr lang="en-US" sz="960" dirty="0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40080" y="2267712"/>
          <a:ext cx="4572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31/33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are calculated only from supported response fields;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VOC responses reviewed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0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6629400" y="2240280"/>
          <a:ext cx="46177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