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Covered</c:v>
                </c:pt>
              </c:strCache>
            </c:strRef>
          </c:tx>
          <c:spPr>
            <a:solidFill>
              <a:srgbClr val="0058A8"/>
            </a:solidFill>
          </c:spPr>
          <c:cat>
            <c:strRef>
              <c:f>Sheet1!$A$2:$A$3</c:f>
              <c:strCache>
                <c:ptCount val="2"/>
                <c:pt idx="0">
                  <c:v>NORTH EAST CORRIDOR</c:v>
                </c:pt>
                <c:pt idx="1">
                  <c:v>SOUTH EAST CORRIDOR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15.0</c:v>
                </c:pt>
                <c:pt idx="1">
                  <c:v>9.0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Missing</c:v>
                </c:pt>
              </c:strCache>
            </c:strRef>
          </c:tx>
          <c:spPr>
            <a:solidFill>
              <a:srgbClr val="FFC000"/>
            </a:solidFill>
          </c:spPr>
          <c:cat>
            <c:strRef>
              <c:f>Sheet1!$A$2:$A$3</c:f>
              <c:strCache>
                <c:ptCount val="2"/>
                <c:pt idx="0">
                  <c:v>NORTH EAST CORRIDOR</c:v>
                </c:pt>
                <c:pt idx="1">
                  <c:v>SOUTH EAST CORRIDOR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47.0</c:v>
                </c:pt>
                <c:pt idx="1">
                  <c:v>41.0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Cases</c:v>
                </c:pt>
              </c:strCache>
            </c:strRef>
          </c:tx>
          <c:cat>
            <c:strRef>
              <c:f>Sheet1!$A$2:$A$2</c:f>
              <c:strCache>
                <c:ptCount val="1"/>
                <c:pt idx="0">
                  <c:v>Outbound Call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104.0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>
                  <a:latin typeface="Aptos"/>
                </a:defRPr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  <c:txPr>
        <a:bodyPr/>
        <a:lstStyle/>
        <a:p>
          <a:pPr>
            <a:defRPr sz="800">
              <a:latin typeface="Aptos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00" b="1">
                <a:solidFill>
                  <a:srgbClr val="17324D"/>
                </a:solidFill>
                <a:latin typeface="Aptos"/>
              </a:rPr>
              <a:t>Cases by hour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Cases</c:v>
                </c:pt>
              </c:strCache>
            </c:strRef>
          </c:tx>
          <c:spPr>
            <a:solidFill>
              <a:srgbClr val="0058A8"/>
            </a:solidFill>
            <a:ln>
              <a:solidFill>
                <a:srgbClr val="0058A8"/>
              </a:solidFill>
            </a:ln>
          </c:spPr>
          <c:dLbls>
            <c:txPr>
              <a:bodyPr/>
              <a:lstStyle/>
              <a:p>
                <a:pPr>
                  <a:defRPr sz="700">
                    <a:solidFill>
                      <a:srgbClr val="263238"/>
                    </a:solidFill>
                    <a:latin typeface="Apto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06:00</c:v>
                </c:pt>
                <c:pt idx="1">
                  <c:v>07:00</c:v>
                </c:pt>
                <c:pt idx="2">
                  <c:v>08:00</c:v>
                </c:pt>
                <c:pt idx="3">
                  <c:v>09:00</c:v>
                </c:pt>
                <c:pt idx="4">
                  <c:v>10:00</c:v>
                </c:pt>
                <c:pt idx="5">
                  <c:v>11:00</c:v>
                </c:pt>
                <c:pt idx="6">
                  <c:v>12:00</c:v>
                </c:pt>
                <c:pt idx="7">
                  <c:v>13:00</c:v>
                </c:pt>
                <c:pt idx="8">
                  <c:v>14:00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15.0</c:v>
                </c:pt>
                <c:pt idx="1">
                  <c:v>15.0</c:v>
                </c:pt>
                <c:pt idx="2">
                  <c:v>11.0</c:v>
                </c:pt>
                <c:pt idx="3">
                  <c:v>28.0</c:v>
                </c:pt>
                <c:pt idx="4">
                  <c:v>8.0</c:v>
                </c:pt>
                <c:pt idx="5">
                  <c:v>3.0</c:v>
                </c:pt>
                <c:pt idx="6">
                  <c:v>2.0</c:v>
                </c:pt>
                <c:pt idx="7">
                  <c:v>12.0</c:v>
                </c:pt>
                <c:pt idx="8">
                  <c:v>10.0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Apto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3.04"/>
          <c:min val="0.0"/>
        </c:scaling>
        <c:delete val="0"/>
        <c:axPos val="b"/>
        <c:majorGridlines>
          <c:spPr>
            <a:ln>
              <a:solidFill>
                <a:srgbClr val="D9E2F3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Aptos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00" b="1">
                <a:solidFill>
                  <a:srgbClr val="17324D"/>
                </a:solidFill>
                <a:latin typeface="Aptos"/>
              </a:rPr>
              <a:t>Daily status mix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Cases</c:v>
                </c:pt>
              </c:strCache>
            </c:strRef>
          </c:tx>
          <c:spPr>
            <a:solidFill>
              <a:srgbClr val="0058A8"/>
            </a:solidFill>
            <a:ln>
              <a:solidFill>
                <a:srgbClr val="0058A8"/>
              </a:solidFill>
            </a:ln>
          </c:spPr>
          <c:dLbls>
            <c:txPr>
              <a:bodyPr/>
              <a:lstStyle/>
              <a:p>
                <a:pPr>
                  <a:defRPr sz="700">
                    <a:solidFill>
                      <a:srgbClr val="263238"/>
                    </a:solidFill>
                    <a:latin typeface="Apto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Active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104.0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Apto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2.72"/>
          <c:min val="0.0"/>
        </c:scaling>
        <c:delete val="0"/>
        <c:axPos val="b"/>
        <c:majorGridlines>
          <c:spPr>
            <a:ln>
              <a:solidFill>
                <a:srgbClr val="D9E2F3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Aptos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00" b="1">
                <a:solidFill>
                  <a:srgbClr val="17324D"/>
                </a:solidFill>
                <a:latin typeface="Aptos"/>
              </a:rPr>
              <a:t>Daily Case Category 1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Cases</c:v>
                </c:pt>
              </c:strCache>
            </c:strRef>
          </c:tx>
          <c:spPr>
            <a:solidFill>
              <a:srgbClr val="0058A8"/>
            </a:solidFill>
            <a:ln>
              <a:solidFill>
                <a:srgbClr val="0058A8"/>
              </a:solidFill>
            </a:ln>
          </c:spPr>
          <c:dLbls>
            <c:txPr>
              <a:bodyPr/>
              <a:lstStyle/>
              <a:p>
                <a:pPr>
                  <a:defRPr sz="700">
                    <a:solidFill>
                      <a:srgbClr val="263238"/>
                    </a:solidFill>
                    <a:latin typeface="Apto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Electricity Services</c:v>
                </c:pt>
                <c:pt idx="1">
                  <c:v>Roads Services</c:v>
                </c:pt>
                <c:pt idx="2">
                  <c:v>Environment Services</c:v>
                </c:pt>
                <c:pt idx="3">
                  <c:v>Water Services</c:v>
                </c:pt>
                <c:pt idx="4">
                  <c:v>Sanitation Services</c:v>
                </c:pt>
                <c:pt idx="5">
                  <c:v>Health Services</c:v>
                </c:pt>
                <c:pt idx="6">
                  <c:v>Citizens Online Services</c:v>
                </c:pt>
                <c:pt idx="7">
                  <c:v>Revenue Management Services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26.0</c:v>
                </c:pt>
                <c:pt idx="1">
                  <c:v>24.0</c:v>
                </c:pt>
                <c:pt idx="2">
                  <c:v>22.0</c:v>
                </c:pt>
                <c:pt idx="3">
                  <c:v>17.0</c:v>
                </c:pt>
                <c:pt idx="4">
                  <c:v>9.0</c:v>
                </c:pt>
                <c:pt idx="5">
                  <c:v>2.0</c:v>
                </c:pt>
                <c:pt idx="6">
                  <c:v>2.0</c:v>
                </c:pt>
                <c:pt idx="7">
                  <c:v>1.0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Apto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.68"/>
          <c:min val="0.0"/>
        </c:scaling>
        <c:delete val="0"/>
        <c:axPos val="b"/>
        <c:majorGridlines>
          <c:spPr>
            <a:ln>
              <a:solidFill>
                <a:srgbClr val="D9E2F3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Aptos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00" b="1">
                <a:solidFill>
                  <a:srgbClr val="17324D"/>
                </a:solidFill>
                <a:latin typeface="Aptos"/>
              </a:rPr>
              <a:t>Daily location mix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Cases</c:v>
                </c:pt>
              </c:strCache>
            </c:strRef>
          </c:tx>
          <c:spPr>
            <a:solidFill>
              <a:srgbClr val="0058A8"/>
            </a:solidFill>
            <a:ln>
              <a:solidFill>
                <a:srgbClr val="0058A8"/>
              </a:solidFill>
            </a:ln>
          </c:spPr>
          <c:dLbls>
            <c:txPr>
              <a:bodyPr/>
              <a:lstStyle/>
              <a:p>
                <a:pPr>
                  <a:defRPr sz="700">
                    <a:solidFill>
                      <a:srgbClr val="263238"/>
                    </a:solidFill>
                    <a:latin typeface="Apto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Ekurhuleni NU</c:v>
                </c:pt>
                <c:pt idx="1">
                  <c:v>Mayfield, Benoni</c:v>
                </c:pt>
                <c:pt idx="2">
                  <c:v>Reiger Park, Boksburg</c:v>
                </c:pt>
                <c:pt idx="3">
                  <c:v>Etwatwa X13</c:v>
                </c:pt>
                <c:pt idx="4">
                  <c:v>Essexwold, Germiston</c:v>
                </c:pt>
                <c:pt idx="5">
                  <c:v>Palm Ridge 5,6 Informal</c:v>
                </c:pt>
                <c:pt idx="6">
                  <c:v>Tsakane SP</c:v>
                </c:pt>
                <c:pt idx="7">
                  <c:v>Tsakane Ext 19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8.0</c:v>
                </c:pt>
                <c:pt idx="1">
                  <c:v>8.0</c:v>
                </c:pt>
                <c:pt idx="2">
                  <c:v>8.0</c:v>
                </c:pt>
                <c:pt idx="3">
                  <c:v>7.0</c:v>
                </c:pt>
                <c:pt idx="4">
                  <c:v>7.0</c:v>
                </c:pt>
                <c:pt idx="5">
                  <c:v>7.0</c:v>
                </c:pt>
                <c:pt idx="6">
                  <c:v>6.0</c:v>
                </c:pt>
                <c:pt idx="7">
                  <c:v>6.0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Apto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.44"/>
          <c:min val="0.0"/>
        </c:scaling>
        <c:delete val="0"/>
        <c:axPos val="b"/>
        <c:majorGridlines>
          <c:spPr>
            <a:ln>
              <a:solidFill>
                <a:srgbClr val="D9E2F3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Aptos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00" b="1">
                <a:solidFill>
                  <a:srgbClr val="17324D"/>
                </a:solidFill>
                <a:latin typeface="Aptos"/>
              </a:rPr>
              <a:t>Daily priority mix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Cases</c:v>
                </c:pt>
              </c:strCache>
            </c:strRef>
          </c:tx>
          <c:spPr>
            <a:solidFill>
              <a:srgbClr val="0058A8"/>
            </a:solidFill>
            <a:ln>
              <a:solidFill>
                <a:srgbClr val="0058A8"/>
              </a:solidFill>
            </a:ln>
          </c:spPr>
          <c:dLbls>
            <c:txPr>
              <a:bodyPr/>
              <a:lstStyle/>
              <a:p>
                <a:pPr>
                  <a:defRPr sz="700">
                    <a:solidFill>
                      <a:srgbClr val="263238"/>
                    </a:solidFill>
                    <a:latin typeface="Apto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High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103.0</c:v>
                </c:pt>
                <c:pt idx="1">
                  <c:v>1.0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Apto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1.53999999999999"/>
          <c:min val="0.0"/>
        </c:scaling>
        <c:delete val="0"/>
        <c:axPos val="b"/>
        <c:majorGridlines>
          <c:spPr>
            <a:ln>
              <a:solidFill>
                <a:srgbClr val="D9E2F3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Aptos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2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143000"/>
            <a:ext cx="10515600" cy="59436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"/>
              </a:rPr>
              <a:t>Ekurhuleni Operations &amp; Analytics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874519"/>
            <a:ext cx="987552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1800" b="0">
                <a:solidFill>
                  <a:srgbClr val="DCE8F2"/>
                </a:solidFill>
                <a:latin typeface="Aptos"/>
              </a:rPr>
              <a:t>02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743200"/>
            <a:ext cx="685800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1100" b="0">
                <a:solidFill>
                  <a:srgbClr val="DCE8F2"/>
                </a:solidFill>
                <a:latin typeface="Aptos"/>
              </a:rPr>
              <a:t>Requesting team: Operations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3154680"/>
            <a:ext cx="685800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1100" b="0">
                <a:solidFill>
                  <a:srgbClr val="DCE8F2"/>
                </a:solidFill>
                <a:latin typeface="Aptos"/>
              </a:rPr>
              <a:t>Audience: Executive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440680"/>
            <a:ext cx="96012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900" b="0">
                <a:solidFill>
                  <a:srgbClr val="B9C8D6"/>
                </a:solidFill>
                <a:latin typeface="Aptos"/>
              </a:rPr>
              <a:t>Automatically designed from the selected data, period and reporting brief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5138928"/>
            <a:ext cx="1280160" cy="4572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69848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2300" b="1">
                <a:solidFill>
                  <a:srgbClr val="17324D"/>
                </a:solidFill>
                <a:latin typeface="Aptos"/>
              </a:rPr>
              <a:t>Executive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60704"/>
            <a:ext cx="10744200" cy="36576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2057400" cy="9601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9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1453895"/>
            <a:ext cx="178308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800" b="0">
                <a:solidFill>
                  <a:srgbClr val="687783"/>
                </a:solidFill>
                <a:latin typeface="Aptos"/>
              </a:rPr>
              <a:t>Period cases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1691640"/>
            <a:ext cx="1783080" cy="393192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2000" b="1">
                <a:solidFill>
                  <a:srgbClr val="0058A8"/>
                </a:solidFill>
                <a:latin typeface="Aptos"/>
              </a:rPr>
              <a:t>104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1325880"/>
            <a:ext cx="2057400" cy="9601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9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9504" y="1453895"/>
            <a:ext cx="178308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800" b="0">
                <a:solidFill>
                  <a:srgbClr val="687783"/>
                </a:solidFill>
                <a:latin typeface="Aptos"/>
              </a:rPr>
              <a:t>Distinct wards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9504" y="1691640"/>
            <a:ext cx="1783080" cy="393192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2000" b="1">
                <a:solidFill>
                  <a:srgbClr val="0058A8"/>
                </a:solidFill>
                <a:latin typeface="Aptos"/>
              </a:rPr>
              <a:t>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7760" y="1325880"/>
            <a:ext cx="2057400" cy="9601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9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84064" y="1453895"/>
            <a:ext cx="178308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800" b="0">
                <a:solidFill>
                  <a:srgbClr val="687783"/>
                </a:solidFill>
                <a:latin typeface="Aptos"/>
              </a:rPr>
              <a:t>Period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064" y="1691640"/>
            <a:ext cx="1783080" cy="393192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2000" b="1">
                <a:solidFill>
                  <a:srgbClr val="0058A8"/>
                </a:solidFill>
                <a:latin typeface="Aptos"/>
              </a:rPr>
              <a:t>Daily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1325880"/>
            <a:ext cx="2057400" cy="9601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9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78624" y="1453895"/>
            <a:ext cx="178308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800" b="0">
                <a:solidFill>
                  <a:srgbClr val="687783"/>
                </a:solidFill>
                <a:latin typeface="Aptos"/>
              </a:rPr>
              <a:t>Vs comparison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78624" y="1691640"/>
            <a:ext cx="1783080" cy="393192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2000" b="1">
                <a:solidFill>
                  <a:srgbClr val="0058A8"/>
                </a:solidFill>
                <a:latin typeface="Aptos"/>
              </a:rPr>
              <a:t>Not available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560320"/>
            <a:ext cx="11064240" cy="3337560"/>
          </a:xfrm>
          <a:prstGeom prst="roundRect">
            <a:avLst/>
          </a:prstGeom>
          <a:solidFill>
            <a:srgbClr val="F3F6FA"/>
          </a:solidFill>
          <a:ln w="8890">
            <a:solidFill>
              <a:srgbClr val="F3F6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76148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1300" b="1">
                <a:solidFill>
                  <a:srgbClr val="17324D"/>
                </a:solidFill>
                <a:latin typeface="Aptos"/>
              </a:rPr>
              <a:t>What matters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182112"/>
            <a:ext cx="41148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900" b="1">
                <a:solidFill>
                  <a:srgbClr val="FFC000"/>
                </a:solidFill>
                <a:latin typeface="Aptos"/>
              </a:rPr>
              <a:t>DAY-001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3182112"/>
            <a:ext cx="1001268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1000" b="0">
                <a:solidFill>
                  <a:srgbClr val="263238"/>
                </a:solidFill>
                <a:latin typeface="Aptos"/>
              </a:rPr>
              <a:t>104 cases were logged on the selected reporting date.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712463"/>
            <a:ext cx="41148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900" b="1">
                <a:solidFill>
                  <a:srgbClr val="FFC000"/>
                </a:solidFill>
                <a:latin typeface="Aptos"/>
              </a:rPr>
              <a:t>DAY-002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0432" y="3712463"/>
            <a:ext cx="1001268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1000" b="0">
                <a:solidFill>
                  <a:srgbClr val="263238"/>
                </a:solidFill>
                <a:latin typeface="Aptos"/>
              </a:rPr>
              <a:t>24 distinct wards were represented on the selected reporting date; 24 were new to the reporting week.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242816"/>
            <a:ext cx="41148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900" b="1">
                <a:solidFill>
                  <a:srgbClr val="FFC000"/>
                </a:solidFill>
                <a:latin typeface="Aptos"/>
              </a:rPr>
              <a:t>DAY-003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" y="4242816"/>
            <a:ext cx="1001268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1000" b="0">
                <a:solidFill>
                  <a:srgbClr val="263238"/>
                </a:solidFill>
                <a:latin typeface="Aptos"/>
              </a:rPr>
              <a:t>Reporting-week running coverage is 24 wards, with 88 still needed against the configured benchmark where available.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773168"/>
            <a:ext cx="41148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900" b="1">
                <a:solidFill>
                  <a:srgbClr val="FFC000"/>
                </a:solidFill>
                <a:latin typeface="Aptos"/>
              </a:rPr>
              <a:t>DAY-004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0432" y="4773168"/>
            <a:ext cx="1001268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1000" b="0">
                <a:solidFill>
                  <a:srgbClr val="263238"/>
                </a:solidFill>
                <a:latin typeface="Aptos"/>
              </a:rPr>
              <a:t>Outbound Call was the leading intake channel with 104 cases (100.0%).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303520"/>
            <a:ext cx="41148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900" b="1">
                <a:solidFill>
                  <a:srgbClr val="FFC000"/>
                </a:solidFill>
                <a:latin typeface="Aptos"/>
              </a:rPr>
              <a:t>DAY-005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" y="5303520"/>
            <a:ext cx="1001268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1000" b="0">
                <a:solidFill>
                  <a:srgbClr val="263238"/>
                </a:solidFill>
                <a:latin typeface="Aptos"/>
              </a:rPr>
              <a:t>Peak activity occurred at 09:00 with 28 cases.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700" b="0">
                <a:solidFill>
                  <a:srgbClr val="6B7785"/>
                </a:solidFill>
                <a:latin typeface="Aptos"/>
              </a:rPr>
              <a:t>Ekurhuleni  •  Operations Team  •  02 September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92640" y="6492240"/>
            <a:ext cx="155448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r"/>
            <a:r>
              <a:rPr sz="700" b="0">
                <a:solidFill>
                  <a:srgbClr val="6B7785"/>
                </a:solidFill>
                <a:latin typeface="Aptos"/>
              </a:rPr>
              <a:t>Evidence-led report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69848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2300" b="1">
                <a:solidFill>
                  <a:srgbClr val="17324D"/>
                </a:solidFill>
                <a:latin typeface="Aptos"/>
              </a:rPr>
              <a:t>Daily Operational Snapshot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60704"/>
            <a:ext cx="10744200" cy="36576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4360" y="1417320"/>
            <a:ext cx="3432048" cy="9601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9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545336"/>
            <a:ext cx="3157728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800" b="0">
                <a:solidFill>
                  <a:srgbClr val="687783"/>
                </a:solidFill>
                <a:latin typeface="Aptos"/>
              </a:rPr>
              <a:t>Cases logged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1783080"/>
            <a:ext cx="3157728" cy="393192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2000" b="1">
                <a:solidFill>
                  <a:srgbClr val="0058A8"/>
                </a:solidFill>
                <a:latin typeface="Aptos"/>
              </a:rPr>
              <a:t>104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27576" y="1417320"/>
            <a:ext cx="3432048" cy="9601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9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73880" y="1545336"/>
            <a:ext cx="3157728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800" b="0">
                <a:solidFill>
                  <a:srgbClr val="687783"/>
                </a:solidFill>
                <a:latin typeface="Aptos"/>
              </a:rPr>
              <a:t>Daily wards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3880" y="1783080"/>
            <a:ext cx="3157728" cy="393192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2000" b="1">
                <a:solidFill>
                  <a:srgbClr val="17324D"/>
                </a:solidFill>
                <a:latin typeface="Aptos"/>
              </a:rPr>
              <a:t>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0792" y="1417320"/>
            <a:ext cx="3432048" cy="9601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9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7096" y="1545336"/>
            <a:ext cx="3157728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800" b="0">
                <a:solidFill>
                  <a:srgbClr val="687783"/>
                </a:solidFill>
                <a:latin typeface="Aptos"/>
              </a:rPr>
              <a:t>New wards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7096" y="1783080"/>
            <a:ext cx="3157728" cy="393192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2000" b="1">
                <a:solidFill>
                  <a:srgbClr val="0058A8"/>
                </a:solidFill>
                <a:latin typeface="Aptos"/>
              </a:rPr>
              <a:t>24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532888"/>
            <a:ext cx="3432048" cy="9601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9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" y="2660904"/>
            <a:ext cx="3157728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800" b="0">
                <a:solidFill>
                  <a:srgbClr val="687783"/>
                </a:solidFill>
                <a:latin typeface="Aptos"/>
              </a:rPr>
              <a:t>Running wards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" y="2898648"/>
            <a:ext cx="3157728" cy="393192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2000" b="1">
                <a:solidFill>
                  <a:srgbClr val="17324D"/>
                </a:solidFill>
                <a:latin typeface="Aptos"/>
              </a:rPr>
              <a:t>24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27576" y="2532888"/>
            <a:ext cx="3432048" cy="9601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9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73880" y="2660904"/>
            <a:ext cx="3157728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800" b="0">
                <a:solidFill>
                  <a:srgbClr val="687783"/>
                </a:solidFill>
                <a:latin typeface="Aptos"/>
              </a:rPr>
              <a:t>Still needed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73880" y="2898648"/>
            <a:ext cx="3157728" cy="393192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2000" b="1">
                <a:solidFill>
                  <a:srgbClr val="17324D"/>
                </a:solidFill>
                <a:latin typeface="Aptos"/>
              </a:rPr>
              <a:t>88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60792" y="2532888"/>
            <a:ext cx="3432048" cy="9601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9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7096" y="2660904"/>
            <a:ext cx="3157728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800" b="0">
                <a:solidFill>
                  <a:srgbClr val="687783"/>
                </a:solidFill>
                <a:latin typeface="Aptos"/>
              </a:rPr>
              <a:t>Coverage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7096" y="2898648"/>
            <a:ext cx="3157728" cy="393192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2000" b="1">
                <a:solidFill>
                  <a:srgbClr val="17324D"/>
                </a:solidFill>
                <a:latin typeface="Aptos"/>
              </a:rPr>
              <a:t>21.4%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3886200"/>
            <a:ext cx="10698480" cy="1417320"/>
          </a:xfrm>
          <a:prstGeom prst="roundRect">
            <a:avLst/>
          </a:prstGeom>
          <a:solidFill>
            <a:srgbClr val="F3F6FA"/>
          </a:solidFill>
          <a:ln w="8890">
            <a:solidFill>
              <a:srgbClr val="F3F6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133087"/>
            <a:ext cx="246888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1000" b="1">
                <a:solidFill>
                  <a:srgbClr val="17324D"/>
                </a:solidFill>
                <a:latin typeface="Aptos"/>
              </a:rPr>
              <a:t>Operational pacing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480560"/>
            <a:ext cx="99669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1000" b="0">
                <a:solidFill>
                  <a:srgbClr val="263238"/>
                </a:solidFill>
                <a:latin typeface="Aptos"/>
              </a:rPr>
              <a:t>Suggested new wards per remaining working day: 44 across 2 remaining working day(s).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010912"/>
            <a:ext cx="99669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800" b="0">
                <a:solidFill>
                  <a:srgbClr val="5C6B78"/>
                </a:solidFill>
                <a:latin typeface="Aptos"/>
              </a:rPr>
              <a:t>The pace is a recommendation based on the configured ward benchmark and remaining Monday–Friday days, not an observed performance value.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700" b="0">
                <a:solidFill>
                  <a:srgbClr val="6B7785"/>
                </a:solidFill>
                <a:latin typeface="Aptos"/>
              </a:rPr>
              <a:t>Ekurhuleni  •  Operations Team  •  02 September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6492240"/>
            <a:ext cx="155448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r"/>
            <a:r>
              <a:rPr sz="700" b="0">
                <a:solidFill>
                  <a:srgbClr val="6B7785"/>
                </a:solidFill>
                <a:latin typeface="Aptos"/>
              </a:rPr>
              <a:t>Evidence-led report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69848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2300" b="1">
                <a:solidFill>
                  <a:srgbClr val="17324D"/>
                </a:solidFill>
                <a:latin typeface="Aptos"/>
              </a:rPr>
              <a:t>Ward &amp; Geographic Coverage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60704"/>
            <a:ext cx="10744200" cy="36576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508760"/>
            <a:ext cx="2743200" cy="9601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9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636776"/>
            <a:ext cx="246888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800" b="0">
                <a:solidFill>
                  <a:srgbClr val="687783"/>
                </a:solidFill>
                <a:latin typeface="Aptos"/>
              </a:rPr>
              <a:t>Wards represented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1874519"/>
            <a:ext cx="2468880" cy="393192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2000" b="1">
                <a:solidFill>
                  <a:srgbClr val="0058A8"/>
                </a:solidFill>
                <a:latin typeface="Aptos"/>
              </a:rPr>
              <a:t>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11880" y="1508760"/>
            <a:ext cx="2743200" cy="9601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9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58184" y="1636776"/>
            <a:ext cx="246888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800" b="0">
                <a:solidFill>
                  <a:srgbClr val="687783"/>
                </a:solidFill>
                <a:latin typeface="Aptos"/>
              </a:rPr>
              <a:t>Configured total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58184" y="1874519"/>
            <a:ext cx="2468880" cy="393192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2000" b="1">
                <a:solidFill>
                  <a:srgbClr val="17324D"/>
                </a:solidFill>
                <a:latin typeface="Aptos"/>
              </a:rPr>
              <a:t>112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1508760"/>
            <a:ext cx="2743200" cy="9601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9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84264" y="1636776"/>
            <a:ext cx="246888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800" b="0">
                <a:solidFill>
                  <a:srgbClr val="687783"/>
                </a:solidFill>
                <a:latin typeface="Aptos"/>
              </a:rPr>
              <a:t>Coverage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84264" y="1874519"/>
            <a:ext cx="2468880" cy="393192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2000" b="1">
                <a:solidFill>
                  <a:srgbClr val="0058A8"/>
                </a:solidFill>
                <a:latin typeface="Aptos"/>
              </a:rPr>
              <a:t>21.4%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85800" y="2788920"/>
          <a:ext cx="6400800" cy="2697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7315200" y="2788920"/>
            <a:ext cx="3794760" cy="26974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9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43800" y="2999232"/>
            <a:ext cx="33375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1000" b="1">
                <a:solidFill>
                  <a:srgbClr val="17324D"/>
                </a:solidFill>
                <a:latin typeface="Aptos"/>
              </a:rPr>
              <a:t>CCA position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43800" y="3401568"/>
            <a:ext cx="329184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750" b="0">
                <a:solidFill>
                  <a:srgbClr val="263238"/>
                </a:solidFill>
                <a:latin typeface="Aptos"/>
              </a:rPr>
              <a:t>ALBERTON — 1/5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43800" y="3712464"/>
            <a:ext cx="329184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750" b="0">
                <a:solidFill>
                  <a:srgbClr val="263238"/>
                </a:solidFill>
                <a:latin typeface="Aptos"/>
              </a:rPr>
              <a:t>BENONI — 1/7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4023360"/>
            <a:ext cx="329184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750" b="0">
                <a:solidFill>
                  <a:srgbClr val="263238"/>
                </a:solidFill>
                <a:latin typeface="Aptos"/>
              </a:rPr>
              <a:t>BOKSBURG — 2/6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43800" y="4334256"/>
            <a:ext cx="329184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750" b="0">
                <a:solidFill>
                  <a:srgbClr val="263238"/>
                </a:solidFill>
                <a:latin typeface="Aptos"/>
              </a:rPr>
              <a:t>DAVEYTON — 1/4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43800" y="4645152"/>
            <a:ext cx="329184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750" b="0">
                <a:solidFill>
                  <a:srgbClr val="263238"/>
                </a:solidFill>
                <a:latin typeface="Aptos"/>
              </a:rPr>
              <a:t>EDENVALE — 1/6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43800" y="4956048"/>
            <a:ext cx="329184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750" b="0">
                <a:solidFill>
                  <a:srgbClr val="263238"/>
                </a:solidFill>
                <a:latin typeface="Aptos"/>
              </a:rPr>
              <a:t>ETWATWA — 1/4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5266944"/>
            <a:ext cx="329184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750" b="0">
                <a:solidFill>
                  <a:srgbClr val="263238"/>
                </a:solidFill>
                <a:latin typeface="Aptos"/>
              </a:rPr>
              <a:t>GERMISTON — 0/8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43800" y="5230368"/>
            <a:ext cx="329184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700" b="0">
                <a:solidFill>
                  <a:srgbClr val="687783"/>
                </a:solidFill>
                <a:latin typeface="Aptos"/>
              </a:rPr>
              <a:t>+ 13 more CCA rows in addendum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700" b="0">
                <a:solidFill>
                  <a:srgbClr val="6B7785"/>
                </a:solidFill>
                <a:latin typeface="Aptos"/>
              </a:rPr>
              <a:t>Ekurhuleni  •  Operations Team  •  02 September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0" y="6492240"/>
            <a:ext cx="155448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r"/>
            <a:r>
              <a:rPr sz="700" b="0">
                <a:solidFill>
                  <a:srgbClr val="6B7785"/>
                </a:solidFill>
                <a:latin typeface="Aptos"/>
              </a:rPr>
              <a:t>Evidence-led report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69848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2300" b="1">
                <a:solidFill>
                  <a:srgbClr val="17324D"/>
                </a:solidFill>
                <a:latin typeface="Aptos"/>
              </a:rPr>
              <a:t>Channel &amp; Hourly Activity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60704"/>
            <a:ext cx="10744200" cy="36576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94360" y="1371600"/>
          <a:ext cx="498348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897880" y="1371600"/>
          <a:ext cx="5394960" cy="44805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700" b="0">
                <a:solidFill>
                  <a:srgbClr val="6B7785"/>
                </a:solidFill>
                <a:latin typeface="Aptos"/>
              </a:rPr>
              <a:t>Ekurhuleni  •  Operations Team  •  02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492240"/>
            <a:ext cx="155448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r"/>
            <a:r>
              <a:rPr sz="700" b="0">
                <a:solidFill>
                  <a:srgbClr val="6B7785"/>
                </a:solidFill>
                <a:latin typeface="Aptos"/>
              </a:rPr>
              <a:t>Evidence-led report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69848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2300" b="1">
                <a:solidFill>
                  <a:srgbClr val="17324D"/>
                </a:solidFill>
                <a:latin typeface="Aptos"/>
              </a:rPr>
              <a:t>Workflow / Resolution 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31520"/>
            <a:ext cx="10424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900" b="0">
                <a:solidFill>
                  <a:srgbClr val="5C6B78"/>
                </a:solidFill>
                <a:latin typeface="Aptos"/>
              </a:rPr>
              <a:t>Daily status mix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60704"/>
            <a:ext cx="10744200" cy="36576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417320"/>
          <a:ext cx="10881360" cy="4434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700" b="0">
                <a:solidFill>
                  <a:srgbClr val="6B7785"/>
                </a:solidFill>
                <a:latin typeface="Aptos"/>
              </a:rPr>
              <a:t>Ekurhuleni  •  Operations Team  •  02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492240"/>
            <a:ext cx="155448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r"/>
            <a:r>
              <a:rPr sz="700" b="0">
                <a:solidFill>
                  <a:srgbClr val="6B7785"/>
                </a:solidFill>
                <a:latin typeface="Aptos"/>
              </a:rPr>
              <a:t>Evidence-led report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69848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2300" b="1">
                <a:solidFill>
                  <a:srgbClr val="17324D"/>
                </a:solidFill>
                <a:latin typeface="Aptos"/>
              </a:rPr>
              <a:t>Service &amp; Demand Mix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31520"/>
            <a:ext cx="10424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900" b="0">
                <a:solidFill>
                  <a:srgbClr val="5C6B78"/>
                </a:solidFill>
                <a:latin typeface="Aptos"/>
              </a:rPr>
              <a:t>Daily Case Category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60704"/>
            <a:ext cx="10744200" cy="36576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417320"/>
          <a:ext cx="10881360" cy="4434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700" b="0">
                <a:solidFill>
                  <a:srgbClr val="6B7785"/>
                </a:solidFill>
                <a:latin typeface="Aptos"/>
              </a:rPr>
              <a:t>Ekurhuleni  •  Operations Team  •  02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492240"/>
            <a:ext cx="155448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r"/>
            <a:r>
              <a:rPr sz="700" b="0">
                <a:solidFill>
                  <a:srgbClr val="6B7785"/>
                </a:solidFill>
                <a:latin typeface="Aptos"/>
              </a:rPr>
              <a:t>Evidence-led report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69848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2300" b="1">
                <a:solidFill>
                  <a:srgbClr val="17324D"/>
                </a:solidFill>
                <a:latin typeface="Aptos"/>
              </a:rPr>
              <a:t>Location / Entity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31520"/>
            <a:ext cx="10424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900" b="0">
                <a:solidFill>
                  <a:srgbClr val="5C6B78"/>
                </a:solidFill>
                <a:latin typeface="Aptos"/>
              </a:rPr>
              <a:t>Daily location mix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60704"/>
            <a:ext cx="10744200" cy="36576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417320"/>
          <a:ext cx="10881360" cy="4434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700" b="0">
                <a:solidFill>
                  <a:srgbClr val="6B7785"/>
                </a:solidFill>
                <a:latin typeface="Aptos"/>
              </a:rPr>
              <a:t>Ekurhuleni  •  Operations Team  •  02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492240"/>
            <a:ext cx="155448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r"/>
            <a:r>
              <a:rPr sz="700" b="0">
                <a:solidFill>
                  <a:srgbClr val="6B7785"/>
                </a:solidFill>
                <a:latin typeface="Aptos"/>
              </a:rPr>
              <a:t>Evidence-led report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69848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2300" b="1">
                <a:solidFill>
                  <a:srgbClr val="17324D"/>
                </a:solidFill>
                <a:latin typeface="Aptos"/>
              </a:rPr>
              <a:t>Priority / Risk 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31520"/>
            <a:ext cx="10424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900" b="0">
                <a:solidFill>
                  <a:srgbClr val="5C6B78"/>
                </a:solidFill>
                <a:latin typeface="Aptos"/>
              </a:rPr>
              <a:t>Daily priority mix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60704"/>
            <a:ext cx="10744200" cy="36576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417320"/>
          <a:ext cx="10881360" cy="4434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700" b="0">
                <a:solidFill>
                  <a:srgbClr val="6B7785"/>
                </a:solidFill>
                <a:latin typeface="Aptos"/>
              </a:rPr>
              <a:t>Ekurhuleni  •  Operations Team  •  02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492240"/>
            <a:ext cx="155448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r"/>
            <a:r>
              <a:rPr sz="700" b="0">
                <a:solidFill>
                  <a:srgbClr val="6B7785"/>
                </a:solidFill>
                <a:latin typeface="Aptos"/>
              </a:rPr>
              <a:t>Evidence-led report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69848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2300" b="1">
                <a:solidFill>
                  <a:srgbClr val="17324D"/>
                </a:solidFill>
                <a:latin typeface="Aptos"/>
              </a:rPr>
              <a:t>Voice of Citizen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60704"/>
            <a:ext cx="10744200" cy="36576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834640" cy="18288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9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783080"/>
            <a:ext cx="228600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800" b="0">
                <a:solidFill>
                  <a:srgbClr val="687783"/>
                </a:solidFill>
                <a:latin typeface="Aptos"/>
              </a:rPr>
              <a:t>VoC responses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121408"/>
            <a:ext cx="228600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2400" b="1">
                <a:solidFill>
                  <a:srgbClr val="0058A8"/>
                </a:solidFill>
                <a:latin typeface="Aptos"/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94760" y="1463040"/>
            <a:ext cx="2834640" cy="18288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9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23360" y="1783080"/>
            <a:ext cx="228600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800" b="0">
                <a:solidFill>
                  <a:srgbClr val="687783"/>
                </a:solidFill>
                <a:latin typeface="Aptos"/>
              </a:rPr>
              <a:t>Positive / resolved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121408"/>
            <a:ext cx="228600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2400" b="1">
                <a:solidFill>
                  <a:srgbClr val="2E7D32"/>
                </a:solidFill>
                <a:latin typeface="Aptos"/>
              </a:rPr>
              <a:t>Not available%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794760"/>
            <a:ext cx="10241280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1000" b="0">
                <a:solidFill>
                  <a:srgbClr val="263238"/>
                </a:solidFill>
                <a:latin typeface="Aptos"/>
              </a:rPr>
              <a:t>VoC is shown only when supplied evidence is available and labelled for the selected reporting context.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700" b="0">
                <a:solidFill>
                  <a:srgbClr val="6B7785"/>
                </a:solidFill>
                <a:latin typeface="Aptos"/>
              </a:rPr>
              <a:t>Ekurhuleni  •  Operations Team  •  02 September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6492240"/>
            <a:ext cx="155448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r"/>
            <a:r>
              <a:rPr sz="700" b="0">
                <a:solidFill>
                  <a:srgbClr val="6B7785"/>
                </a:solidFill>
                <a:latin typeface="Aptos"/>
              </a:rPr>
              <a:t>Evidence-led report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69848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2300" b="1">
                <a:solidFill>
                  <a:srgbClr val="17324D"/>
                </a:solidFill>
                <a:latin typeface="Aptos"/>
              </a:rPr>
              <a:t>Actions and Management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60704"/>
            <a:ext cx="10744200" cy="36576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417320"/>
            <a:ext cx="10744200" cy="6583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9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517904"/>
            <a:ext cx="68580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800" b="1">
                <a:solidFill>
                  <a:srgbClr val="FFC000"/>
                </a:solidFill>
                <a:latin typeface="Aptos"/>
              </a:rPr>
              <a:t>High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490472"/>
            <a:ext cx="9098280" cy="438912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1000" b="0">
                <a:solidFill>
                  <a:srgbClr val="263238"/>
                </a:solidFill>
                <a:latin typeface="Aptos"/>
              </a:rPr>
              <a:t/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67128"/>
            <a:ext cx="10744200" cy="6583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9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267712"/>
            <a:ext cx="68580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800" b="1">
                <a:solidFill>
                  <a:srgbClr val="FFC000"/>
                </a:solidFill>
                <a:latin typeface="Aptos"/>
              </a:rPr>
              <a:t>High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240280"/>
            <a:ext cx="9098280" cy="438912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1000" b="0">
                <a:solidFill>
                  <a:srgbClr val="263238"/>
                </a:solidFill>
                <a:latin typeface="Aptos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916936"/>
            <a:ext cx="10744200" cy="6583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9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017520"/>
            <a:ext cx="68580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800" b="1">
                <a:solidFill>
                  <a:srgbClr val="FFC000"/>
                </a:solidFill>
                <a:latin typeface="Aptos"/>
              </a:rPr>
              <a:t>High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990088"/>
            <a:ext cx="9098280" cy="438912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1000" b="0">
                <a:solidFill>
                  <a:srgbClr val="263238"/>
                </a:solidFill>
                <a:latin typeface="Aptos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666744"/>
            <a:ext cx="10744200" cy="6583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9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767328"/>
            <a:ext cx="68580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800" b="1">
                <a:solidFill>
                  <a:srgbClr val="FFC000"/>
                </a:solidFill>
                <a:latin typeface="Aptos"/>
              </a:rPr>
              <a:t>High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739896"/>
            <a:ext cx="9098280" cy="438912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1000" b="0">
                <a:solidFill>
                  <a:srgbClr val="263238"/>
                </a:solidFill>
                <a:latin typeface="Aptos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700" b="0">
                <a:solidFill>
                  <a:srgbClr val="6B7785"/>
                </a:solidFill>
                <a:latin typeface="Aptos"/>
              </a:rPr>
              <a:t>Ekurhuleni  •  Operations Team  •  02 September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0" y="6492240"/>
            <a:ext cx="155448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r"/>
            <a:r>
              <a:rPr sz="700" b="0">
                <a:solidFill>
                  <a:srgbClr val="6B7785"/>
                </a:solidFill>
                <a:latin typeface="Aptos"/>
              </a:rPr>
              <a:t>Evidence-led report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69848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2300" b="1">
                <a:solidFill>
                  <a:srgbClr val="17324D"/>
                </a:solidFill>
                <a:latin typeface="Aptos"/>
              </a:rPr>
              <a:t>Evidence and Method Note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60704"/>
            <a:ext cx="10744200" cy="36576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417320"/>
            <a:ext cx="10744200" cy="4389120"/>
          </a:xfrm>
          <a:prstGeom prst="roundRect">
            <a:avLst/>
          </a:prstGeom>
          <a:solidFill>
            <a:srgbClr val="F3F6FA"/>
          </a:solidFill>
          <a:ln w="8890">
            <a:solidFill>
              <a:srgbClr val="F3F6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91640"/>
            <a:ext cx="996696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1300" b="1">
                <a:solidFill>
                  <a:srgbClr val="17324D"/>
                </a:solidFill>
                <a:latin typeface="Aptos"/>
              </a:rPr>
              <a:t>How to verify this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76272"/>
            <a:ext cx="27432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1000" b="1">
                <a:solidFill>
                  <a:srgbClr val="FFC000"/>
                </a:solidFill>
                <a:latin typeface="Aptos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176272"/>
            <a:ext cx="9646920" cy="438912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900" b="0">
                <a:solidFill>
                  <a:srgbClr val="263238"/>
                </a:solidFill>
                <a:latin typeface="Aptos"/>
              </a:rPr>
              <a:t>Source and file register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15184"/>
            <a:ext cx="27432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1000" b="1">
                <a:solidFill>
                  <a:srgbClr val="FFC000"/>
                </a:solidFill>
                <a:latin typeface="Aptos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615184"/>
            <a:ext cx="9646920" cy="438912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900" b="0">
                <a:solidFill>
                  <a:srgbClr val="263238"/>
                </a:solidFill>
                <a:latin typeface="Aptos"/>
              </a:rPr>
              <a:t>Field mapping / data dictionary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54096"/>
            <a:ext cx="27432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1000" b="1">
                <a:solidFill>
                  <a:srgbClr val="FFC000"/>
                </a:solidFill>
                <a:latin typeface="Aptos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054096"/>
            <a:ext cx="9646920" cy="438912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900" b="0">
                <a:solidFill>
                  <a:srgbClr val="263238"/>
                </a:solidFill>
                <a:latin typeface="Aptos"/>
              </a:rPr>
              <a:t>Period filter and denominators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93008"/>
            <a:ext cx="27432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1000" b="1">
                <a:solidFill>
                  <a:srgbClr val="FFC000"/>
                </a:solidFill>
                <a:latin typeface="Aptos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493008"/>
            <a:ext cx="9646920" cy="438912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900" b="0">
                <a:solidFill>
                  <a:srgbClr val="263238"/>
                </a:solidFill>
                <a:latin typeface="Aptos"/>
              </a:rPr>
              <a:t>Full distributions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31920"/>
            <a:ext cx="27432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1000" b="1">
                <a:solidFill>
                  <a:srgbClr val="FFC000"/>
                </a:solidFill>
                <a:latin typeface="Aptos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931920"/>
            <a:ext cx="9646920" cy="438912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900" b="0">
                <a:solidFill>
                  <a:srgbClr val="263238"/>
                </a:solidFill>
                <a:latin typeface="Aptos"/>
              </a:rPr>
              <a:t>Record-level or pseudonymised evidence where appropriate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370831"/>
            <a:ext cx="27432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1000" b="1">
                <a:solidFill>
                  <a:srgbClr val="FFC000"/>
                </a:solidFill>
                <a:latin typeface="Aptos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370831"/>
            <a:ext cx="9646920" cy="438912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900" b="0">
                <a:solidFill>
                  <a:srgbClr val="263238"/>
                </a:solidFill>
                <a:latin typeface="Aptos"/>
              </a:rPr>
              <a:t>Quality exceptions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809744"/>
            <a:ext cx="27432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1000" b="1">
                <a:solidFill>
                  <a:srgbClr val="FFC000"/>
                </a:solidFill>
                <a:latin typeface="Aptos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4809744"/>
            <a:ext cx="9646920" cy="438912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900" b="0">
                <a:solidFill>
                  <a:srgbClr val="263238"/>
                </a:solidFill>
                <a:latin typeface="Aptos"/>
              </a:rPr>
              <a:t>Calculation checks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248656"/>
            <a:ext cx="27432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1000" b="1">
                <a:solidFill>
                  <a:srgbClr val="FFC000"/>
                </a:solidFill>
                <a:latin typeface="Aptos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248656"/>
            <a:ext cx="9646920" cy="438912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900" b="0">
                <a:solidFill>
                  <a:srgbClr val="263238"/>
                </a:solidFill>
                <a:latin typeface="Aptos"/>
              </a:rPr>
              <a:t>Finding-to-evidence traceability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257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900" b="0">
                <a:solidFill>
                  <a:srgbClr val="5C6B78"/>
                </a:solidFill>
                <a:latin typeface="Aptos"/>
              </a:rPr>
              <a:t>Detailed calculations, source registers, exceptions and traceability belong in the analytical addendum.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l"/>
            <a:r>
              <a:rPr sz="700" b="0">
                <a:solidFill>
                  <a:srgbClr val="6B7785"/>
                </a:solidFill>
                <a:latin typeface="Aptos"/>
              </a:rPr>
              <a:t>Ekurhuleni  •  Operations Team  •  02 September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0" y="6492240"/>
            <a:ext cx="155448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rmAutofit/>
          </a:bodyPr>
          <a:lstStyle/>
          <a:p>
            <a:pPr algn="r"/>
            <a:r>
              <a:rPr sz="700" b="0">
                <a:solidFill>
                  <a:srgbClr val="6B7785"/>
                </a:solidFill>
                <a:latin typeface="Aptos"/>
              </a:rPr>
              <a:t>Evidence-led report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