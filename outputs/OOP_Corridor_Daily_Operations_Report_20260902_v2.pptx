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marker>
            <c:symbol val="diamond"/>
            <c:size val="6"/>
          </c:marker>
          <c:cat>
            <c:strRef>
              <c:f>Sheet1!$A$2:$A$10</c:f>
              <c:strCache>
                <c:ptCount val="9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11.0</c:v>
                </c:pt>
                <c:pt idx="3">
                  <c:v>28.0</c:v>
                </c:pt>
                <c:pt idx="4">
                  <c:v>8.0</c:v>
                </c:pt>
                <c:pt idx="5">
                  <c:v>3.0</c:v>
                </c:pt>
                <c:pt idx="6">
                  <c:v>2.0</c:v>
                </c:pt>
                <c:pt idx="7">
                  <c:v>12.0</c:v>
                </c:pt>
                <c:pt idx="8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3.6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2118791784"/>
        <c:crosses val="autoZero"/>
        <c:majorUnit val="7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47.0</c:v>
                </c:pt>
                <c:pt idx="1">
                  <c:v>41.0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9.44000000000001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Wards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14.0"/>
      </c:valAx>
    </c:plotArea>
    <c:legend>
      <c:legendPos val="b"/>
      <c:overlay val="1"/>
      <c:txPr>
        <a:bodyPr/>
        <a:lstStyle/>
        <a:p>
          <a:pPr>
            <a:defRPr sz="7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9.6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4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11.0</c:v>
                </c:pt>
                <c:pt idx="3">
                  <c:v>28.0</c:v>
                </c:pt>
                <c:pt idx="4">
                  <c:v>8.0</c:v>
                </c:pt>
                <c:pt idx="5">
                  <c:v>3.0</c:v>
                </c:pt>
                <c:pt idx="6">
                  <c:v>2.0</c:v>
                </c:pt>
                <c:pt idx="7">
                  <c:v>12.0</c:v>
                </c:pt>
                <c:pt idx="8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199999999999996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26.0</c:v>
                </c:pt>
                <c:pt idx="1">
                  <c:v>24.0</c:v>
                </c:pt>
                <c:pt idx="2">
                  <c:v>22.0</c:v>
                </c:pt>
                <c:pt idx="3">
                  <c:v>17.0</c:v>
                </c:pt>
                <c:pt idx="4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Service 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9.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Missing wards</c:v>
                </c:pt>
                <c:pt idx="1">
                  <c:v>Channel/time</c:v>
                </c:pt>
                <c:pt idx="2">
                  <c:v>VOC queue</c:v>
                </c:pt>
                <c:pt idx="3">
                  <c:v>Data quality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88.0</c:v>
                </c:pt>
                <c:pt idx="1">
                  <c:v>1.0</c:v>
                </c:pt>
                <c:pt idx="2">
                  <c:v>3.0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Control 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1999999999999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F2EC4-C076-4A07-B438-C52ED8362070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7E846-7598-4070-9CDC-FD9526AE9B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488" y="1353312"/>
            <a:ext cx="11247120" cy="2212848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731520" y="1755648"/>
            <a:ext cx="107350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OPERATIONS REPORT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22960" y="2679192"/>
            <a:ext cx="10561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02 September 2026 | Wednesday 2 September | 15:00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852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008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cases</a:t>
            </a:r>
            <a:endParaRPr lang="en-US" sz="770" dirty="0"/>
          </a:p>
        </p:txBody>
      </p:sp>
      <p:sp>
        <p:nvSpPr>
          <p:cNvPr id="10" name="Shape 6"/>
          <p:cNvSpPr/>
          <p:nvPr/>
        </p:nvSpPr>
        <p:spPr>
          <a:xfrm>
            <a:off x="255117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60604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24/112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60604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covered</a:t>
            </a:r>
            <a:endParaRPr lang="en-US" sz="770" dirty="0"/>
          </a:p>
        </p:txBody>
      </p:sp>
      <p:sp>
        <p:nvSpPr>
          <p:cNvPr id="13" name="Shape 9"/>
          <p:cNvSpPr/>
          <p:nvPr/>
        </p:nvSpPr>
        <p:spPr>
          <a:xfrm>
            <a:off x="451713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457200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70" dirty="0"/>
          </a:p>
        </p:txBody>
      </p:sp>
      <p:sp>
        <p:nvSpPr>
          <p:cNvPr id="16" name="Shape 12"/>
          <p:cNvSpPr/>
          <p:nvPr/>
        </p:nvSpPr>
        <p:spPr>
          <a:xfrm>
            <a:off x="648309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53796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3796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missing</a:t>
            </a:r>
            <a:endParaRPr lang="en-US" sz="770" dirty="0"/>
          </a:p>
        </p:txBody>
      </p:sp>
      <p:sp>
        <p:nvSpPr>
          <p:cNvPr id="19" name="Shape 15"/>
          <p:cNvSpPr/>
          <p:nvPr/>
        </p:nvSpPr>
        <p:spPr>
          <a:xfrm>
            <a:off x="844905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50392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50392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ready / done</a:t>
            </a:r>
            <a:endParaRPr lang="en-US" sz="770" dirty="0"/>
          </a:p>
        </p:txBody>
      </p:sp>
      <p:sp>
        <p:nvSpPr>
          <p:cNvPr id="22" name="Shape 18"/>
          <p:cNvSpPr/>
          <p:nvPr/>
        </p:nvSpPr>
        <p:spPr>
          <a:xfrm>
            <a:off x="104150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0469880" y="4206240"/>
            <a:ext cx="1609344" cy="219456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04698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</a:t>
            </a:r>
            <a:endParaRPr lang="en-US" sz="770" dirty="0"/>
          </a:p>
        </p:txBody>
      </p:sp>
      <p:sp>
        <p:nvSpPr>
          <p:cNvPr id="25" name="Text 21"/>
          <p:cNvSpPr/>
          <p:nvPr/>
        </p:nvSpPr>
        <p:spPr>
          <a:xfrm>
            <a:off x="594360" y="5166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28" name="Text 24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COVERAGE SNAPSHOT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41148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3949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1140" dirty="0"/>
          </a:p>
        </p:txBody>
      </p:sp>
      <p:sp>
        <p:nvSpPr>
          <p:cNvPr id="13" name="Text 9"/>
          <p:cNvSpPr/>
          <p:nvPr/>
        </p:nvSpPr>
        <p:spPr>
          <a:xfrm>
            <a:off x="53949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valid cases on 02 September 2026; 24 new wards today; 24 wards reached cumulatively (21.4% of 112).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25196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37997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437997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104 cases and 24 new wards. New wards are unique to the selected reporting date after checking all prior valid dates; running wards are cumulative unique wards.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809244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22045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822045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ward allocations remain. To reach the 112-ward weekly target by Friday, aim for 44 new wards per remaining working day (2 days).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502920" y="3154680"/>
            <a:ext cx="3657600" cy="21488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67512" y="32644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logged per hour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731520" y="4800600"/>
            <a:ext cx="3246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67512" y="5029200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9" name="Shape 25"/>
          <p:cNvSpPr/>
          <p:nvPr/>
        </p:nvSpPr>
        <p:spPr>
          <a:xfrm>
            <a:off x="4480560" y="3154680"/>
            <a:ext cx="4343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4480560" y="3154680"/>
            <a:ext cx="4343400" cy="42976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4480560" y="3584448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4480560" y="4014216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480560" y="4443984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4480560" y="4873752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534924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12648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708660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813816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4517136" y="3195828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770" dirty="0"/>
          </a:p>
        </p:txBody>
      </p:sp>
      <p:sp>
        <p:nvSpPr>
          <p:cNvPr id="40" name="Text 36"/>
          <p:cNvSpPr/>
          <p:nvPr/>
        </p:nvSpPr>
        <p:spPr>
          <a:xfrm>
            <a:off x="5385816" y="3195828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70" dirty="0"/>
          </a:p>
        </p:txBody>
      </p:sp>
      <p:sp>
        <p:nvSpPr>
          <p:cNvPr id="41" name="Text 37"/>
          <p:cNvSpPr/>
          <p:nvPr/>
        </p:nvSpPr>
        <p:spPr>
          <a:xfrm>
            <a:off x="6163056" y="3195828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70" dirty="0"/>
          </a:p>
        </p:txBody>
      </p:sp>
      <p:sp>
        <p:nvSpPr>
          <p:cNvPr id="42" name="Text 38"/>
          <p:cNvSpPr/>
          <p:nvPr/>
        </p:nvSpPr>
        <p:spPr>
          <a:xfrm>
            <a:off x="7123176" y="3195828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</a:t>
            </a:r>
            <a:endParaRPr lang="en-US" sz="770" dirty="0"/>
          </a:p>
        </p:txBody>
      </p:sp>
      <p:sp>
        <p:nvSpPr>
          <p:cNvPr id="43" name="Text 39"/>
          <p:cNvSpPr/>
          <p:nvPr/>
        </p:nvSpPr>
        <p:spPr>
          <a:xfrm>
            <a:off x="8174736" y="3195828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needed</a:t>
            </a:r>
            <a:endParaRPr lang="en-US" sz="770" dirty="0"/>
          </a:p>
        </p:txBody>
      </p:sp>
      <p:sp>
        <p:nvSpPr>
          <p:cNvPr id="44" name="Text 40"/>
          <p:cNvSpPr/>
          <p:nvPr/>
        </p:nvSpPr>
        <p:spPr>
          <a:xfrm>
            <a:off x="4517136" y="3625596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2026-09-02</a:t>
            </a:r>
            <a:endParaRPr lang="en-US" sz="770" dirty="0"/>
          </a:p>
        </p:txBody>
      </p:sp>
      <p:sp>
        <p:nvSpPr>
          <p:cNvPr id="45" name="Text 41"/>
          <p:cNvSpPr/>
          <p:nvPr/>
        </p:nvSpPr>
        <p:spPr>
          <a:xfrm>
            <a:off x="5385816" y="3625596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770" dirty="0"/>
          </a:p>
        </p:txBody>
      </p:sp>
      <p:sp>
        <p:nvSpPr>
          <p:cNvPr id="46" name="Text 42"/>
          <p:cNvSpPr/>
          <p:nvPr/>
        </p:nvSpPr>
        <p:spPr>
          <a:xfrm>
            <a:off x="6163056" y="3625596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70" dirty="0"/>
          </a:p>
        </p:txBody>
      </p:sp>
      <p:sp>
        <p:nvSpPr>
          <p:cNvPr id="47" name="Text 43"/>
          <p:cNvSpPr/>
          <p:nvPr/>
        </p:nvSpPr>
        <p:spPr>
          <a:xfrm>
            <a:off x="7123176" y="3625596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24/112</a:t>
            </a:r>
            <a:endParaRPr lang="en-US" sz="770" dirty="0"/>
          </a:p>
        </p:txBody>
      </p:sp>
      <p:sp>
        <p:nvSpPr>
          <p:cNvPr id="48" name="Text 44"/>
          <p:cNvSpPr/>
          <p:nvPr/>
        </p:nvSpPr>
        <p:spPr>
          <a:xfrm>
            <a:off x="8174736" y="3625596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770" dirty="0"/>
          </a:p>
        </p:txBody>
      </p:sp>
      <p:sp>
        <p:nvSpPr>
          <p:cNvPr id="49" name="Text 45"/>
          <p:cNvSpPr/>
          <p:nvPr/>
        </p:nvSpPr>
        <p:spPr>
          <a:xfrm>
            <a:off x="4517136" y="4055364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0" name="Text 46"/>
          <p:cNvSpPr/>
          <p:nvPr/>
        </p:nvSpPr>
        <p:spPr>
          <a:xfrm>
            <a:off x="5385816" y="4055364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1" name="Text 47"/>
          <p:cNvSpPr/>
          <p:nvPr/>
        </p:nvSpPr>
        <p:spPr>
          <a:xfrm>
            <a:off x="6163056" y="4055364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2" name="Text 48"/>
          <p:cNvSpPr/>
          <p:nvPr/>
        </p:nvSpPr>
        <p:spPr>
          <a:xfrm>
            <a:off x="7123176" y="4055364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3" name="Text 49"/>
          <p:cNvSpPr/>
          <p:nvPr/>
        </p:nvSpPr>
        <p:spPr>
          <a:xfrm>
            <a:off x="8174736" y="4055364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4" name="Text 50"/>
          <p:cNvSpPr/>
          <p:nvPr/>
        </p:nvSpPr>
        <p:spPr>
          <a:xfrm>
            <a:off x="4517136" y="4485132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5" name="Text 51"/>
          <p:cNvSpPr/>
          <p:nvPr/>
        </p:nvSpPr>
        <p:spPr>
          <a:xfrm>
            <a:off x="5385816" y="4485132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6" name="Text 52"/>
          <p:cNvSpPr/>
          <p:nvPr/>
        </p:nvSpPr>
        <p:spPr>
          <a:xfrm>
            <a:off x="6163056" y="4485132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7" name="Text 53"/>
          <p:cNvSpPr/>
          <p:nvPr/>
        </p:nvSpPr>
        <p:spPr>
          <a:xfrm>
            <a:off x="7123176" y="4485132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8" name="Text 54"/>
          <p:cNvSpPr/>
          <p:nvPr/>
        </p:nvSpPr>
        <p:spPr>
          <a:xfrm>
            <a:off x="8174736" y="4485132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9" name="Text 55"/>
          <p:cNvSpPr/>
          <p:nvPr/>
        </p:nvSpPr>
        <p:spPr>
          <a:xfrm>
            <a:off x="4517136" y="4914900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0" name="Text 56"/>
          <p:cNvSpPr/>
          <p:nvPr/>
        </p:nvSpPr>
        <p:spPr>
          <a:xfrm>
            <a:off x="5385816" y="4914900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1" name="Text 57"/>
          <p:cNvSpPr/>
          <p:nvPr/>
        </p:nvSpPr>
        <p:spPr>
          <a:xfrm>
            <a:off x="6163056" y="4914900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2" name="Text 58"/>
          <p:cNvSpPr/>
          <p:nvPr/>
        </p:nvSpPr>
        <p:spPr>
          <a:xfrm>
            <a:off x="7123176" y="4914900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3" name="Text 59"/>
          <p:cNvSpPr/>
          <p:nvPr/>
        </p:nvSpPr>
        <p:spPr>
          <a:xfrm>
            <a:off x="8174736" y="4914900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4" name="Text 60"/>
          <p:cNvSpPr/>
          <p:nvPr/>
        </p:nvSpPr>
        <p:spPr>
          <a:xfrm>
            <a:off x="9144000" y="31638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focus</a:t>
            </a:r>
            <a:endParaRPr lang="en-US" sz="1140" dirty="0"/>
          </a:p>
        </p:txBody>
      </p:sp>
      <p:sp>
        <p:nvSpPr>
          <p:cNvPr id="65" name="Text 61"/>
          <p:cNvSpPr/>
          <p:nvPr/>
        </p:nvSpPr>
        <p:spPr>
          <a:xfrm>
            <a:off x="9144000" y="3474720"/>
            <a:ext cx="260604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ward representation (88 missing).
Protect observed peak intake periods.
Use the addendum for detailed evidence.</a:t>
            </a:r>
            <a:endParaRPr lang="en-US" sz="940" dirty="0"/>
          </a:p>
        </p:txBody>
      </p:sp>
      <p:graphicFrame>
        <p:nvGraphicFramePr>
          <p:cNvPr id="66" name="Chart 65"/>
          <p:cNvGraphicFramePr>
            <a:graphicFrameLocks noGrp="1"/>
          </p:cNvGraphicFramePr>
          <p:nvPr/>
        </p:nvGraphicFramePr>
        <p:xfrm>
          <a:off x="685800" y="3547872"/>
          <a:ext cx="3429000" cy="1417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WARD COVERAGE BY MUNICIPALITY / REGION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120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12064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46888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18688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005072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4791456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505456" y="1687068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255264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041648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28032" y="1687068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EAST CORRIDOR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505456" y="2080260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55264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41648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828032" y="2080260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EAST CORRIDOR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05456" y="2473452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255264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41648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828032" y="247345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505456" y="2866644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55264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041648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828032" y="2866644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505456" y="3259836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255264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041648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828032" y="3259836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unique / 112 listed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989320" y="1645920"/>
            <a:ext cx="544068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153912" y="175564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vs missing wards by area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217920" y="3108960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153912" y="3337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12064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30936" y="397764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630936" y="4270248"/>
            <a:ext cx="486460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Selected-day coverage: 24 of 112 listed ward allocations were covered across North East and South East. Cumulative progress remains 24/112; master validation: 111 unique ward numbers and 0 observed ward numbers outside the master.</a:t>
            </a:r>
            <a:endParaRPr lang="en-US" sz="960" dirty="0"/>
          </a:p>
        </p:txBody>
      </p:sp>
      <p:sp>
        <p:nvSpPr>
          <p:cNvPr id="58" name="Shape 54"/>
          <p:cNvSpPr/>
          <p:nvPr/>
        </p:nvSpPr>
        <p:spPr>
          <a:xfrm>
            <a:off x="5989320" y="3886200"/>
            <a:ext cx="544068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9" name="Text 55"/>
          <p:cNvSpPr/>
          <p:nvPr/>
        </p:nvSpPr>
        <p:spPr>
          <a:xfrm>
            <a:off x="6117336" y="3977640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Call-list link</a:t>
            </a:r>
            <a:endParaRPr lang="en-US" sz="1140" dirty="0"/>
          </a:p>
        </p:txBody>
      </p:sp>
      <p:sp>
        <p:nvSpPr>
          <p:cNvPr id="60" name="Text 56"/>
          <p:cNvSpPr/>
          <p:nvPr/>
        </p:nvSpPr>
        <p:spPr>
          <a:xfrm>
            <a:off x="6117336" y="4270248"/>
            <a:ext cx="518464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addendum contains the ward evidence and validation trail.</a:t>
            </a:r>
            <a:endParaRPr lang="en-US" sz="960" dirty="0"/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6144768" y="2240280"/>
          <a:ext cx="5166360" cy="1783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 AND TIME COVERAGE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53212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164592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237744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297180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79476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682496" y="1687068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414016" y="1687068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008376" y="1687068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831336" y="1687068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note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Call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682496" y="2080260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2414016" y="2080260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008376" y="2080260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831336" y="2080260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concentration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682496" y="2473452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414016" y="2473452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3008376" y="2473452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831336" y="2473452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682496" y="2866644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414016" y="2866644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008376" y="2866644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3831336" y="2866644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1682496" y="3259836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2414016" y="3259836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3008376" y="3259836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3831336" y="3259836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6355080" y="1645920"/>
            <a:ext cx="507492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519672" y="175564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583680" y="3108960"/>
            <a:ext cx="466344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519672" y="3337560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440680" cy="1627632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67512" y="399592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coverage / hourly activity</a:t>
            </a:r>
            <a:endParaRPr lang="en-US" sz="1080" dirty="0"/>
          </a:p>
        </p:txBody>
      </p:sp>
      <p:sp>
        <p:nvSpPr>
          <p:cNvPr id="62" name="Shape 58"/>
          <p:cNvSpPr/>
          <p:nvPr/>
        </p:nvSpPr>
        <p:spPr>
          <a:xfrm>
            <a:off x="731520" y="5010912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667512" y="5239512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64" name="Shape 60"/>
          <p:cNvSpPr/>
          <p:nvPr/>
        </p:nvSpPr>
        <p:spPr>
          <a:xfrm>
            <a:off x="6355080" y="3886200"/>
            <a:ext cx="5074920" cy="162763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65" name="Text 61"/>
          <p:cNvSpPr/>
          <p:nvPr/>
        </p:nvSpPr>
        <p:spPr>
          <a:xfrm>
            <a:off x="6483096" y="3977640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should see</a:t>
            </a:r>
            <a:endParaRPr lang="en-US" sz="1140" dirty="0"/>
          </a:p>
        </p:txBody>
      </p:sp>
      <p:sp>
        <p:nvSpPr>
          <p:cNvPr id="66" name="Text 62"/>
          <p:cNvSpPr/>
          <p:nvPr/>
        </p:nvSpPr>
        <p:spPr>
          <a:xfrm>
            <a:off x="6483096" y="4270248"/>
            <a:ext cx="481888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window: 06:26–14:29. Peak: 09:00 (28 cases).</a:t>
            </a:r>
            <a:endParaRPr lang="en-US" sz="960" dirty="0"/>
          </a:p>
        </p:txBody>
      </p:sp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6446520" y="2194560"/>
          <a:ext cx="4983480" cy="1234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8" name="Chart 67"/>
          <p:cNvGraphicFramePr>
            <a:graphicFrameLocks noGrp="1"/>
          </p:cNvGraphicFramePr>
          <p:nvPr/>
        </p:nvGraphicFramePr>
        <p:xfrm>
          <a:off x="640080" y="4224528"/>
          <a:ext cx="5257800" cy="107899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SERVICES AND DEMAND MIX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4800600" cy="210312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67512" y="175564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services logged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731520" y="3246120"/>
            <a:ext cx="4389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67512" y="3474720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0" name="Shape 16"/>
          <p:cNvSpPr/>
          <p:nvPr/>
        </p:nvSpPr>
        <p:spPr>
          <a:xfrm>
            <a:off x="5623560" y="1645920"/>
            <a:ext cx="5715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623560" y="1645920"/>
            <a:ext cx="5715000" cy="420624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5623560" y="2066544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623560" y="2487168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5623560" y="2907792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623560" y="3328416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749808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13816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73252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660136" y="1687068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cluster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7534656" y="1687068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8174736" y="1687068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8769096" y="1687068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5660136" y="2107692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Services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7534656" y="2107692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8174736" y="2107692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25.0%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8769096" y="2107692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demand category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5660136" y="2528316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Services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534656" y="2528316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8174736" y="2528316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8769096" y="2528316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5660136" y="2948940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Services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534656" y="2948940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8174736" y="2948940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8769096" y="2948940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5660136" y="3369564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534656" y="3369564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8174736" y="3369564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30.8%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8769096" y="3369564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categories</a:t>
            </a:r>
            <a:endParaRPr lang="en-US" sz="790" dirty="0"/>
          </a:p>
        </p:txBody>
      </p:sp>
      <p:sp>
        <p:nvSpPr>
          <p:cNvPr id="49" name="Shape 45"/>
          <p:cNvSpPr/>
          <p:nvPr/>
        </p:nvSpPr>
        <p:spPr>
          <a:xfrm>
            <a:off x="50292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rule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demand concentration to target follow-up; do not interpret case volume as departmental performance.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608076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620877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prompts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620877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addendum for low-volume services and ward-level detail.</a:t>
            </a:r>
            <a:endParaRPr lang="en-US" sz="960" dirty="0"/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640080" y="2267712"/>
          <a:ext cx="4572000" cy="1554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VOICE OF THE CITIZEN AND RESOLUTION POSITION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9436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4922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responses</a:t>
            </a:r>
            <a:endParaRPr lang="en-US" sz="770" dirty="0"/>
          </a:p>
        </p:txBody>
      </p:sp>
      <p:sp>
        <p:nvSpPr>
          <p:cNvPr id="14" name="Shape 10"/>
          <p:cNvSpPr/>
          <p:nvPr/>
        </p:nvSpPr>
        <p:spPr>
          <a:xfrm>
            <a:off x="269748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275234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75234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770" dirty="0"/>
          </a:p>
        </p:txBody>
      </p:sp>
      <p:sp>
        <p:nvSpPr>
          <p:cNvPr id="17" name="Shape 13"/>
          <p:cNvSpPr/>
          <p:nvPr/>
        </p:nvSpPr>
        <p:spPr>
          <a:xfrm>
            <a:off x="480060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85546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85546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cases</a:t>
            </a:r>
            <a:endParaRPr lang="en-US" sz="770" dirty="0"/>
          </a:p>
        </p:txBody>
      </p:sp>
      <p:sp>
        <p:nvSpPr>
          <p:cNvPr id="20" name="Shape 16"/>
          <p:cNvSpPr/>
          <p:nvPr/>
        </p:nvSpPr>
        <p:spPr>
          <a:xfrm>
            <a:off x="690372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95858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95858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Survey-ready</a:t>
            </a:r>
            <a:endParaRPr lang="en-US" sz="770" dirty="0"/>
          </a:p>
        </p:txBody>
      </p:sp>
      <p:sp>
        <p:nvSpPr>
          <p:cNvPr id="23" name="Shape 19"/>
          <p:cNvSpPr/>
          <p:nvPr/>
        </p:nvSpPr>
        <p:spPr>
          <a:xfrm>
            <a:off x="900684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906170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06170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availability</a:t>
            </a:r>
            <a:endParaRPr lang="en-US" sz="770" dirty="0"/>
          </a:p>
        </p:txBody>
      </p:sp>
      <p:sp>
        <p:nvSpPr>
          <p:cNvPr id="26" name="Shape 22"/>
          <p:cNvSpPr/>
          <p:nvPr/>
        </p:nvSpPr>
        <p:spPr>
          <a:xfrm>
            <a:off x="685800" y="2834640"/>
            <a:ext cx="5166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85800" y="2834640"/>
            <a:ext cx="5166360" cy="560070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85800" y="339471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685800" y="395478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685800" y="451485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21945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31089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34340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7223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queue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2231136" y="287578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3145536" y="287578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43799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223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2231136" y="343585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3145536" y="343585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43799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223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2231136" y="399592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3145536" y="399592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43799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223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2231136" y="455599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3145536" y="455599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9" name="Text 45"/>
          <p:cNvSpPr/>
          <p:nvPr/>
        </p:nvSpPr>
        <p:spPr>
          <a:xfrm>
            <a:off x="43799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50" name="Shape 46"/>
          <p:cNvSpPr/>
          <p:nvPr/>
        </p:nvSpPr>
        <p:spPr>
          <a:xfrm>
            <a:off x="6217920" y="2834640"/>
            <a:ext cx="4983480" cy="22402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6345936" y="2926080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reporting rule</a:t>
            </a:r>
            <a:endParaRPr lang="en-US" sz="1140" dirty="0"/>
          </a:p>
        </p:txBody>
      </p:sp>
      <p:sp>
        <p:nvSpPr>
          <p:cNvPr id="52" name="Text 48"/>
          <p:cNvSpPr/>
          <p:nvPr/>
        </p:nvSpPr>
        <p:spPr>
          <a:xfrm>
            <a:off x="6345936" y="3218688"/>
            <a:ext cx="4727448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source supplied. Metrics are calculated only from supported response fields; detailed responses remain in the addendum.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ACTIONS, DATA QUALITY AND MANAGEMENT DECISIONS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91640"/>
            <a:ext cx="58064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91640"/>
            <a:ext cx="5806440" cy="47548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167128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642616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3118104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593592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01168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46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389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39496" y="1732788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048256" y="1732788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82696" y="1732788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425696" y="1732788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check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39496" y="2208276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wards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048256" y="2208276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lead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282696" y="2208276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close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25696" y="2208276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wards validated/assigned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39496" y="2683764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Channel/time gap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048256" y="2683764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82696" y="2683764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operating window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425696" y="2683764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 protected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39496" y="3159252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queue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048256" y="3159252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lead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82696" y="3159252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period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425696" y="3159252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VOC responses reviewed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3634740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048256" y="3634740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lead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82696" y="3634740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circulation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425696" y="3634740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quality findings reviewed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6629400" y="1691640"/>
            <a:ext cx="4709160" cy="23774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6793992" y="1801368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control load</a:t>
            </a:r>
            <a:endParaRPr lang="en-US" sz="1080" dirty="0"/>
          </a:p>
        </p:txBody>
      </p:sp>
      <p:sp>
        <p:nvSpPr>
          <p:cNvPr id="47" name="Shape 43"/>
          <p:cNvSpPr/>
          <p:nvPr/>
        </p:nvSpPr>
        <p:spPr>
          <a:xfrm>
            <a:off x="6858000" y="3566160"/>
            <a:ext cx="429768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6793992" y="3794760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49" name="Shape 45"/>
          <p:cNvSpPr/>
          <p:nvPr/>
        </p:nvSpPr>
        <p:spPr>
          <a:xfrm>
            <a:off x="50292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and assign the 88 unrepresented wards before the next operational close.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425196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437997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caveat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437997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Area-level municipality breakdown requires a validated ward/master reference mapping.</a:t>
            </a:r>
            <a:endParaRPr lang="en-US" sz="960" dirty="0"/>
          </a:p>
        </p:txBody>
      </p:sp>
      <p:sp>
        <p:nvSpPr>
          <p:cNvPr id="55" name="Shape 51"/>
          <p:cNvSpPr/>
          <p:nvPr/>
        </p:nvSpPr>
        <p:spPr>
          <a:xfrm>
            <a:off x="800100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812901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Addendum pointer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812901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graphs, accounted wards, missing wards, time logs and correction registers are attached separately.</a:t>
            </a:r>
            <a:endParaRPr lang="en-US" sz="960" dirty="0"/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6629400" y="2240280"/>
          <a:ext cx="4617720" cy="19659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Gauteng Provincial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 Corridor Operations Report Template</dc:title>
  <dc:subject>Generic Corridor Operations Reporting Template</dc:subject>
  <dc:creator>CIC</dc:creator>
  <cp:lastModifiedBy>CIC</cp:lastModifiedBy>
  <cp:revision>3</cp:revision>
  <dcterms:created xsi:type="dcterms:W3CDTF">2026-08-26T12:35:59Z</dcterms:created>
  <dcterms:modified xsi:type="dcterms:W3CDTF">2026-08-27T13:13:33Z</dcterms:modified>
</cp:coreProperties>
</file>