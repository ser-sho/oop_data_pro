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Cases</c:v>
                </c:pt>
              </c:strCache>
            </c:strRef>
          </c:tx>
          <c:spPr>
            <a:solidFill>
              <a:srgbClr val="0058A8"/>
            </a:solidFill>
            <a:ln>
              <a:solidFill>
                <a:srgbClr val="0058A8"/>
              </a:solidFill>
            </a:ln>
          </c:spPr>
          <c:marker>
            <c:symbol val="diamond"/>
            <c:size val="6"/>
          </c:marker>
          <c:cat>
            <c:strRef>
              <c:f>Sheet1!$A$2:$A$8</c:f>
              <c:strCache>
                <c:ptCount val="7"/>
                <c:pt idx="0">
                  <c:v>08:00</c:v>
                </c:pt>
                <c:pt idx="1">
                  <c:v>09:00</c:v>
                </c:pt>
                <c:pt idx="2">
                  <c:v>10:00</c:v>
                </c:pt>
                <c:pt idx="3">
                  <c:v>11:00</c:v>
                </c:pt>
                <c:pt idx="4">
                  <c:v>12:00</c:v>
                </c:pt>
                <c:pt idx="5">
                  <c:v>13:00</c:v>
                </c:pt>
                <c:pt idx="6">
                  <c:v>14:00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5.0</c:v>
                </c:pt>
                <c:pt idx="1">
                  <c:v>9.0</c:v>
                </c:pt>
                <c:pt idx="2">
                  <c:v>7.0</c:v>
                </c:pt>
                <c:pt idx="3">
                  <c:v>14.0</c:v>
                </c:pt>
                <c:pt idx="4">
                  <c:v>8.0</c:v>
                </c:pt>
                <c:pt idx="5">
                  <c:v>13.0</c:v>
                </c:pt>
                <c:pt idx="6">
                  <c:v>16.0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sz="700">
                    <a:latin typeface="Arial"/>
                  </a:rPr>
                  <a:t>Hour of day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700">
                <a:solidFill>
                  <a:srgbClr val="404040"/>
                </a:solidFill>
                <a:latin typeface="Arial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9.2"/>
          <c:min val="0.0"/>
        </c:scaling>
        <c:delete val="0"/>
        <c:axPos val="l"/>
        <c:majorGridlines>
          <c:spPr>
            <a:ln>
              <a:solidFill>
                <a:srgbClr val="D9E2F3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700">
                    <a:latin typeface="Arial"/>
                  </a:rPr>
                  <a:t>Cases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700">
                <a:solidFill>
                  <a:srgbClr val="404040"/>
                </a:solidFill>
                <a:latin typeface="Arial"/>
              </a:defRPr>
            </a:pPr>
          </a:p>
        </c:txPr>
        <c:crossAx val="2118791784"/>
        <c:crosses val="autoZero"/>
        <c:majorUnit val="4.0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1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Covered</c:v>
                </c:pt>
              </c:strCache>
            </c:strRef>
          </c:tx>
          <c:spPr>
            <a:solidFill>
              <a:srgbClr val="0058A8"/>
            </a:solidFill>
            <a:ln>
              <a:solidFill>
                <a:srgbClr val="0058A8"/>
              </a:solidFill>
            </a:ln>
          </c:spPr>
          <c:dLbls>
            <c:txPr>
              <a:bodyPr/>
              <a:lstStyle/>
              <a:p>
                <a:pPr>
                  <a:defRPr sz="700">
                    <a:solidFill>
                      <a:srgbClr val="40404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NORTH EAST CORRIDOR</c:v>
                </c:pt>
                <c:pt idx="1">
                  <c:v>SOUTH EAST CORRIDOR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11.0</c:v>
                </c:pt>
                <c:pt idx="1">
                  <c:v>9.0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Missing</c:v>
                </c:pt>
              </c:strCache>
            </c:strRef>
          </c:tx>
          <c:spPr>
            <a:solidFill>
              <a:srgbClr val="FFC000"/>
            </a:solidFill>
            <a:ln>
              <a:solidFill>
                <a:srgbClr val="FFC000"/>
              </a:solidFill>
            </a:ln>
          </c:spPr>
          <c:dLbls>
            <c:txPr>
              <a:bodyPr/>
              <a:lstStyle/>
              <a:p>
                <a:pPr>
                  <a:defRPr sz="700">
                    <a:solidFill>
                      <a:srgbClr val="40404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NORTH EAST CORRIDOR</c:v>
                </c:pt>
                <c:pt idx="1">
                  <c:v>SOUTH EAST CORRIDOR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51.0</c:v>
                </c:pt>
                <c:pt idx="1">
                  <c:v>41.0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title>
          <c:tx>
            <c:rich>
              <a:bodyPr/>
              <a:lstStyle/>
              <a:p>
                <a:r>
                  <a:rPr sz="700">
                    <a:latin typeface="Arial"/>
                  </a:rPr>
                  <a:t>Area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700">
                <a:solidFill>
                  <a:srgbClr val="404040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69.44000000000001"/>
          <c:min val="0.0"/>
        </c:scaling>
        <c:delete val="0"/>
        <c:axPos val="b"/>
        <c:majorGridlines>
          <c:spPr>
            <a:ln>
              <a:solidFill>
                <a:srgbClr val="D9E2F3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700">
                    <a:latin typeface="Arial"/>
                  </a:rPr>
                  <a:t>Wards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700">
                <a:solidFill>
                  <a:srgbClr val="404040"/>
                </a:solidFill>
                <a:latin typeface="Arial"/>
              </a:defRPr>
            </a:pPr>
          </a:p>
        </c:txPr>
        <c:crossAx val="-2068027336"/>
        <c:crosses val="autoZero"/>
        <c:majorUnit val="14.0"/>
      </c:valAx>
    </c:plotArea>
    <c:legend>
      <c:legendPos val="b"/>
      <c:overlay val="1"/>
      <c:txPr>
        <a:bodyPr/>
        <a:lstStyle/>
        <a:p>
          <a:pPr>
            <a:defRPr sz="700">
              <a:latin typeface="Arial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Cases</c:v>
                </c:pt>
              </c:strCache>
            </c:strRef>
          </c:tx>
          <c:spPr>
            <a:solidFill>
              <a:srgbClr val="0058A8"/>
            </a:solidFill>
            <a:ln>
              <a:solidFill>
                <a:srgbClr val="0058A8"/>
              </a:solidFill>
            </a:ln>
          </c:spPr>
          <c:dLbls>
            <c:txPr>
              <a:bodyPr/>
              <a:lstStyle/>
              <a:p>
                <a:pPr>
                  <a:defRPr sz="700">
                    <a:solidFill>
                      <a:srgbClr val="404040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</c:f>
              <c:strCache>
                <c:ptCount val="1"/>
                <c:pt idx="0">
                  <c:v>Outbound Call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72.0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/>
        <c:delete val="0"/>
        <c:axPos val="b"/>
        <c:title>
          <c:tx>
            <c:rich>
              <a:bodyPr/>
              <a:lstStyle/>
              <a:p>
                <a:r>
                  <a:rPr sz="700">
                    <a:latin typeface="Arial"/>
                  </a:rPr>
                  <a:t>Channel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700">
                <a:solidFill>
                  <a:srgbClr val="404040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2.8"/>
          <c:min val="0.0"/>
        </c:scaling>
        <c:delete val="0"/>
        <c:axPos val="l"/>
        <c:majorGridlines>
          <c:spPr>
            <a:ln>
              <a:solidFill>
                <a:srgbClr val="D9E2F3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700">
                    <a:latin typeface="Arial"/>
                  </a:rPr>
                  <a:t>Cases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700">
                <a:solidFill>
                  <a:srgbClr val="404040"/>
                </a:solidFill>
                <a:latin typeface="Arial"/>
              </a:defRPr>
            </a:pPr>
          </a:p>
        </c:txPr>
        <c:crossAx val="-2068027336"/>
        <c:crosses val="autoZero"/>
        <c:majorUnit val="17.0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Cases</c:v>
                </c:pt>
              </c:strCache>
            </c:strRef>
          </c:tx>
          <c:spPr>
            <a:solidFill>
              <a:srgbClr val="0058A8"/>
            </a:solidFill>
            <a:ln>
              <a:solidFill>
                <a:srgbClr val="0058A8"/>
              </a:solidFill>
            </a:ln>
          </c:spPr>
          <c:dLbls>
            <c:txPr>
              <a:bodyPr/>
              <a:lstStyle/>
              <a:p>
                <a:pPr>
                  <a:defRPr sz="700">
                    <a:solidFill>
                      <a:srgbClr val="404040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08:00</c:v>
                </c:pt>
                <c:pt idx="1">
                  <c:v>09:00</c:v>
                </c:pt>
                <c:pt idx="2">
                  <c:v>10:00</c:v>
                </c:pt>
                <c:pt idx="3">
                  <c:v>11:00</c:v>
                </c:pt>
                <c:pt idx="4">
                  <c:v>12:00</c:v>
                </c:pt>
                <c:pt idx="5">
                  <c:v>13:00</c:v>
                </c:pt>
                <c:pt idx="6">
                  <c:v>14:00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5.0</c:v>
                </c:pt>
                <c:pt idx="1">
                  <c:v>9.0</c:v>
                </c:pt>
                <c:pt idx="2">
                  <c:v>7.0</c:v>
                </c:pt>
                <c:pt idx="3">
                  <c:v>14.0</c:v>
                </c:pt>
                <c:pt idx="4">
                  <c:v>8.0</c:v>
                </c:pt>
                <c:pt idx="5">
                  <c:v>13.0</c:v>
                </c:pt>
                <c:pt idx="6">
                  <c:v>16.0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/>
        <c:delete val="0"/>
        <c:axPos val="b"/>
        <c:title>
          <c:tx>
            <c:rich>
              <a:bodyPr/>
              <a:lstStyle/>
              <a:p>
                <a:r>
                  <a:rPr sz="700">
                    <a:latin typeface="Arial"/>
                  </a:rPr>
                  <a:t>Hour of day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700">
                <a:solidFill>
                  <a:srgbClr val="404040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8.4"/>
          <c:min val="0.0"/>
        </c:scaling>
        <c:delete val="0"/>
        <c:axPos val="l"/>
        <c:majorGridlines>
          <c:spPr>
            <a:ln>
              <a:solidFill>
                <a:srgbClr val="D9E2F3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700">
                    <a:latin typeface="Arial"/>
                  </a:rPr>
                  <a:t>Cases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700">
                <a:solidFill>
                  <a:srgbClr val="404040"/>
                </a:solidFill>
                <a:latin typeface="Arial"/>
              </a:defRPr>
            </a:pPr>
          </a:p>
        </c:txPr>
        <c:crossAx val="-2068027336"/>
        <c:crosses val="autoZero"/>
        <c:majorUnit val="4.0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Count</c:v>
                </c:pt>
              </c:strCache>
            </c:strRef>
          </c:tx>
          <c:spPr>
            <a:solidFill>
              <a:srgbClr val="0058A8"/>
            </a:solidFill>
            <a:ln>
              <a:solidFill>
                <a:srgbClr val="0058A8"/>
              </a:solidFill>
            </a:ln>
          </c:spPr>
          <c:dLbls>
            <c:txPr>
              <a:bodyPr/>
              <a:lstStyle/>
              <a:p>
                <a:pPr>
                  <a:defRPr sz="700">
                    <a:solidFill>
                      <a:srgbClr val="404040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Roads Services</c:v>
                </c:pt>
                <c:pt idx="1">
                  <c:v>Electricity Services</c:v>
                </c:pt>
                <c:pt idx="2">
                  <c:v>Environment Services</c:v>
                </c:pt>
                <c:pt idx="3">
                  <c:v>Water Services</c:v>
                </c:pt>
                <c:pt idx="4">
                  <c:v>Sanitation Services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1703.0</c:v>
                </c:pt>
                <c:pt idx="1">
                  <c:v>1090.0</c:v>
                </c:pt>
                <c:pt idx="2">
                  <c:v>1079.0</c:v>
                </c:pt>
                <c:pt idx="3">
                  <c:v>577.0</c:v>
                </c:pt>
                <c:pt idx="4">
                  <c:v>334.0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title>
          <c:tx>
            <c:rich>
              <a:bodyPr/>
              <a:lstStyle/>
              <a:p>
                <a:r>
                  <a:rPr sz="700">
                    <a:latin typeface="Arial"/>
                  </a:rPr>
                  <a:t>Service category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700">
                <a:solidFill>
                  <a:srgbClr val="404040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958.4499999999998"/>
          <c:min val="0.0"/>
        </c:scaling>
        <c:delete val="0"/>
        <c:axPos val="b"/>
        <c:majorGridlines>
          <c:spPr>
            <a:ln>
              <a:solidFill>
                <a:srgbClr val="D9E2F3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700">
                    <a:latin typeface="Arial"/>
                  </a:rPr>
                  <a:t>Cases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700">
                <a:solidFill>
                  <a:srgbClr val="404040"/>
                </a:solidFill>
                <a:latin typeface="Arial"/>
              </a:defRPr>
            </a:pPr>
          </a:p>
        </c:txPr>
        <c:crossAx val="-2068027336"/>
        <c:crosses val="autoZero"/>
        <c:majorUnit val="392.0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Count</c:v>
                </c:pt>
              </c:strCache>
            </c:strRef>
          </c:tx>
          <c:spPr>
            <a:solidFill>
              <a:srgbClr val="0058A8"/>
            </a:solidFill>
            <a:ln>
              <a:solidFill>
                <a:srgbClr val="0058A8"/>
              </a:solidFill>
            </a:ln>
          </c:spPr>
          <c:dLbls>
            <c:txPr>
              <a:bodyPr/>
              <a:lstStyle/>
              <a:p>
                <a:pPr>
                  <a:defRPr sz="700">
                    <a:solidFill>
                      <a:srgbClr val="404040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Missing wards</c:v>
                </c:pt>
                <c:pt idx="1">
                  <c:v>Channel/time</c:v>
                </c:pt>
                <c:pt idx="2">
                  <c:v>VOC queue</c:v>
                </c:pt>
                <c:pt idx="3">
                  <c:v>Data quality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92.0</c:v>
                </c:pt>
                <c:pt idx="1">
                  <c:v>1.0</c:v>
                </c:pt>
                <c:pt idx="2">
                  <c:v>14.0</c:v>
                </c:pt>
                <c:pt idx="3">
                  <c:v>4.0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title>
          <c:tx>
            <c:rich>
              <a:bodyPr/>
              <a:lstStyle/>
              <a:p>
                <a:r>
                  <a:rPr sz="700">
                    <a:latin typeface="Arial"/>
                  </a:rPr>
                  <a:t>Control area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700">
                <a:solidFill>
                  <a:srgbClr val="404040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5.8"/>
          <c:min val="0.0"/>
        </c:scaling>
        <c:delete val="0"/>
        <c:axPos val="b"/>
        <c:majorGridlines>
          <c:spPr>
            <a:ln>
              <a:solidFill>
                <a:srgbClr val="D9E2F3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700">
                    <a:latin typeface="Arial"/>
                  </a:rPr>
                  <a:t>Count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700">
                <a:solidFill>
                  <a:srgbClr val="404040"/>
                </a:solidFill>
                <a:latin typeface="Arial"/>
              </a:defRPr>
            </a:pPr>
          </a:p>
        </c:txPr>
        <c:crossAx val="-2068027336"/>
        <c:crosses val="autoZero"/>
        <c:majorUnit val="21.0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611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611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29F2EC4-C076-4A07-B438-C52ED8362070}" type="datetimeFigureOut">
              <a:t>8/27/2026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11580813"/>
            <a:ext cx="2971800" cy="611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11580813"/>
            <a:ext cx="2971800" cy="611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077E846-7598-4070-9CDC-FD9526AE9B2A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36897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chart" Target="../charts/chart3.xml"/><Relationship Id="rId6" Type="http://schemas.openxmlformats.org/officeDocument/2006/relationships/chart" Target="../charts/char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chart" Target="../charts/chart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chart" Target="../charts/char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gauteng_logo_le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592" y="73152"/>
            <a:ext cx="2788920" cy="786384"/>
          </a:xfrm>
          <a:prstGeom prst="rect">
            <a:avLst/>
          </a:prstGeom>
        </p:spPr>
      </p:pic>
      <p:pic>
        <p:nvPicPr>
          <p:cNvPr id="3" name="Image 1" descr="/mnt/data/ggt2030_logo_r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09728"/>
            <a:ext cx="2057400" cy="566928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475488" y="1353312"/>
            <a:ext cx="11247120" cy="2212848"/>
          </a:xfrm>
          <a:prstGeom prst="rect">
            <a:avLst/>
          </a:prstGeom>
          <a:solidFill>
            <a:srgbClr val="0058A8"/>
          </a:solidFill>
          <a:ln w="12700">
            <a:solidFill>
              <a:srgbClr val="0058A8"/>
            </a:solidFill>
            <a:prstDash val="solid"/>
          </a:ln>
        </p:spPr>
        <p:txBody>
          <a:bodyPr/>
          <a:p/>
        </p:txBody>
      </p:sp>
      <p:sp>
        <p:nvSpPr>
          <p:cNvPr id="5" name="Text 1"/>
          <p:cNvSpPr/>
          <p:nvPr/>
        </p:nvSpPr>
        <p:spPr>
          <a:xfrm>
            <a:off x="731520" y="1755648"/>
            <a:ext cx="10735056" cy="7132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C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Ekurhuleni
OPERATIONS REPORT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>
            <a:off x="822960" y="2679192"/>
            <a:ext cx="10561320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14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Ekurhuleni
24 August 2026 | 24 Monday august  | 15:00</a:t>
            </a:r>
            <a:endParaRPr lang="en-US" sz="1450" dirty="0"/>
          </a:p>
        </p:txBody>
      </p:sp>
      <p:sp>
        <p:nvSpPr>
          <p:cNvPr id="7" name="Shape 3"/>
          <p:cNvSpPr/>
          <p:nvPr/>
        </p:nvSpPr>
        <p:spPr>
          <a:xfrm>
            <a:off x="585216" y="4096512"/>
            <a:ext cx="1719072" cy="768096"/>
          </a:xfrm>
          <a:prstGeom prst="roundRect">
            <a:avLst>
              <a:gd name="adj" fmla="val 8333"/>
            </a:avLst>
          </a:prstGeom>
          <a:solidFill>
            <a:srgbClr val="FFC000"/>
          </a:solidFill>
          <a:ln w="12700">
            <a:solidFill>
              <a:srgbClr val="FFC000"/>
            </a:solidFill>
            <a:prstDash val="solid"/>
          </a:ln>
          <a:effectLst>
            <a:outerShdw blurRad="12700" dist="12700" dir="27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8" name="Text 4"/>
          <p:cNvSpPr/>
          <p:nvPr/>
        </p:nvSpPr>
        <p:spPr>
          <a:xfrm>
            <a:off x="640080" y="4206240"/>
            <a:ext cx="16093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</a:t>
            </a:r>
            <a:endParaRPr lang="en-US" sz="1350" dirty="0"/>
          </a:p>
        </p:txBody>
      </p:sp>
      <p:sp>
        <p:nvSpPr>
          <p:cNvPr id="9" name="Text 5"/>
          <p:cNvSpPr/>
          <p:nvPr/>
        </p:nvSpPr>
        <p:spPr>
          <a:xfrm>
            <a:off x="640080" y="4526280"/>
            <a:ext cx="160934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7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 cases</a:t>
            </a:r>
            <a:endParaRPr lang="en-US" sz="770" dirty="0"/>
          </a:p>
        </p:txBody>
      </p:sp>
      <p:sp>
        <p:nvSpPr>
          <p:cNvPr id="10" name="Shape 6"/>
          <p:cNvSpPr/>
          <p:nvPr/>
        </p:nvSpPr>
        <p:spPr>
          <a:xfrm>
            <a:off x="2551176" y="4096512"/>
            <a:ext cx="1719072" cy="768096"/>
          </a:xfrm>
          <a:prstGeom prst="roundRect">
            <a:avLst>
              <a:gd name="adj" fmla="val 8333"/>
            </a:avLst>
          </a:prstGeom>
          <a:solidFill>
            <a:srgbClr val="FFC000"/>
          </a:solidFill>
          <a:ln w="12700">
            <a:solidFill>
              <a:srgbClr val="FFC000"/>
            </a:solidFill>
            <a:prstDash val="solid"/>
          </a:ln>
          <a:effectLst>
            <a:outerShdw blurRad="12700" dist="12700" dir="27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1" name="Text 7"/>
          <p:cNvSpPr/>
          <p:nvPr/>
        </p:nvSpPr>
        <p:spPr>
          <a:xfrm>
            <a:off x="2606040" y="4206240"/>
            <a:ext cx="16093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20/112</a:t>
            </a:r>
            <a:endParaRPr lang="en-US" sz="1350" dirty="0"/>
          </a:p>
        </p:txBody>
      </p:sp>
      <p:sp>
        <p:nvSpPr>
          <p:cNvPr id="12" name="Text 8"/>
          <p:cNvSpPr/>
          <p:nvPr/>
        </p:nvSpPr>
        <p:spPr>
          <a:xfrm>
            <a:off x="2606040" y="4526280"/>
            <a:ext cx="160934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7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Wards covered</a:t>
            </a:r>
            <a:endParaRPr lang="en-US" sz="770" dirty="0"/>
          </a:p>
        </p:txBody>
      </p:sp>
      <p:sp>
        <p:nvSpPr>
          <p:cNvPr id="13" name="Shape 9"/>
          <p:cNvSpPr/>
          <p:nvPr/>
        </p:nvSpPr>
        <p:spPr>
          <a:xfrm>
            <a:off x="4517136" y="4096512"/>
            <a:ext cx="1719072" cy="768096"/>
          </a:xfrm>
          <a:prstGeom prst="roundRect">
            <a:avLst>
              <a:gd name="adj" fmla="val 8333"/>
            </a:avLst>
          </a:prstGeom>
          <a:solidFill>
            <a:srgbClr val="00B050"/>
          </a:solidFill>
          <a:ln w="12700">
            <a:solidFill>
              <a:srgbClr val="00B050"/>
            </a:solidFill>
            <a:prstDash val="solid"/>
          </a:ln>
          <a:effectLst>
            <a:outerShdw blurRad="12700" dist="12700" dir="27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4" name="Text 10"/>
          <p:cNvSpPr/>
          <p:nvPr/>
        </p:nvSpPr>
        <p:spPr>
          <a:xfrm>
            <a:off x="4572000" y="4206240"/>
            <a:ext cx="16093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17.9%</a:t>
            </a:r>
            <a:endParaRPr lang="en-US" sz="1350" dirty="0"/>
          </a:p>
        </p:txBody>
      </p:sp>
      <p:sp>
        <p:nvSpPr>
          <p:cNvPr id="15" name="Text 11"/>
          <p:cNvSpPr/>
          <p:nvPr/>
        </p:nvSpPr>
        <p:spPr>
          <a:xfrm>
            <a:off x="4572000" y="4526280"/>
            <a:ext cx="160934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7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Coverage</a:t>
            </a:r>
            <a:endParaRPr lang="en-US" sz="770" dirty="0"/>
          </a:p>
        </p:txBody>
      </p:sp>
      <p:sp>
        <p:nvSpPr>
          <p:cNvPr id="16" name="Shape 12"/>
          <p:cNvSpPr/>
          <p:nvPr/>
        </p:nvSpPr>
        <p:spPr>
          <a:xfrm>
            <a:off x="6483096" y="4096512"/>
            <a:ext cx="1719072" cy="768096"/>
          </a:xfrm>
          <a:prstGeom prst="roundRect">
            <a:avLst>
              <a:gd name="adj" fmla="val 8333"/>
            </a:avLst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  <a:effectLst>
            <a:outerShdw blurRad="12700" dist="12700" dir="27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7" name="Text 13"/>
          <p:cNvSpPr/>
          <p:nvPr/>
        </p:nvSpPr>
        <p:spPr>
          <a:xfrm>
            <a:off x="6537960" y="4206240"/>
            <a:ext cx="16093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92</a:t>
            </a:r>
            <a:endParaRPr lang="en-US" sz="1350" dirty="0"/>
          </a:p>
        </p:txBody>
      </p:sp>
      <p:sp>
        <p:nvSpPr>
          <p:cNvPr id="18" name="Text 14"/>
          <p:cNvSpPr/>
          <p:nvPr/>
        </p:nvSpPr>
        <p:spPr>
          <a:xfrm>
            <a:off x="6537960" y="4526280"/>
            <a:ext cx="160934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7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Wards missing</a:t>
            </a:r>
            <a:endParaRPr lang="en-US" sz="770" dirty="0"/>
          </a:p>
        </p:txBody>
      </p:sp>
      <p:sp>
        <p:nvSpPr>
          <p:cNvPr id="19" name="Shape 15"/>
          <p:cNvSpPr/>
          <p:nvPr/>
        </p:nvSpPr>
        <p:spPr>
          <a:xfrm>
            <a:off x="8449056" y="4096512"/>
            <a:ext cx="1719072" cy="768096"/>
          </a:xfrm>
          <a:prstGeom prst="roundRect">
            <a:avLst>
              <a:gd name="adj" fmla="val 8333"/>
            </a:avLst>
          </a:prstGeom>
          <a:solidFill>
            <a:srgbClr val="F2B200"/>
          </a:solidFill>
          <a:ln w="12700">
            <a:solidFill>
              <a:srgbClr val="F2B200"/>
            </a:solidFill>
            <a:prstDash val="solid"/>
          </a:ln>
          <a:effectLst>
            <a:outerShdw blurRad="12700" dist="12700" dir="27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0" name="Text 16"/>
          <p:cNvSpPr/>
          <p:nvPr/>
        </p:nvSpPr>
        <p:spPr>
          <a:xfrm>
            <a:off x="8503920" y="4206240"/>
            <a:ext cx="16093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50" dirty="0"/>
          </a:p>
        </p:txBody>
      </p:sp>
      <p:sp>
        <p:nvSpPr>
          <p:cNvPr id="21" name="Text 17"/>
          <p:cNvSpPr/>
          <p:nvPr/>
        </p:nvSpPr>
        <p:spPr>
          <a:xfrm>
            <a:off x="8503920" y="4526280"/>
            <a:ext cx="160934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7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 ready / done</a:t>
            </a:r>
            <a:endParaRPr lang="en-US" sz="770" dirty="0"/>
          </a:p>
        </p:txBody>
      </p:sp>
      <p:sp>
        <p:nvSpPr>
          <p:cNvPr id="22" name="Shape 18"/>
          <p:cNvSpPr/>
          <p:nvPr/>
        </p:nvSpPr>
        <p:spPr>
          <a:xfrm>
            <a:off x="10415016" y="4096512"/>
            <a:ext cx="1719072" cy="768096"/>
          </a:xfrm>
          <a:prstGeom prst="roundRect">
            <a:avLst>
              <a:gd name="adj" fmla="val 8333"/>
            </a:avLst>
          </a:prstGeom>
          <a:solidFill>
            <a:srgbClr val="FFC000"/>
          </a:solidFill>
          <a:ln w="12700">
            <a:solidFill>
              <a:srgbClr val="FFC000"/>
            </a:solidFill>
            <a:prstDash val="solid"/>
          </a:ln>
          <a:effectLst>
            <a:outerShdw blurRad="12700" dist="12700" dir="27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3" name="Text 19"/>
          <p:cNvSpPr/>
          <p:nvPr/>
        </p:nvSpPr>
        <p:spPr>
          <a:xfrm>
            <a:off x="10469880" y="4206240"/>
            <a:ext cx="1609344" cy="219456"/>
          </a:xfrm>
          <a:prstGeom prst="rect">
            <a:avLst/>
          </a:prstGeom>
          <a:solidFill>
            <a:srgbClr val="FFC00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AMBER</a:t>
            </a:r>
            <a:endParaRPr lang="en-US" sz="1350" dirty="0"/>
          </a:p>
        </p:txBody>
      </p:sp>
      <p:sp>
        <p:nvSpPr>
          <p:cNvPr id="24" name="Text 20"/>
          <p:cNvSpPr/>
          <p:nvPr/>
        </p:nvSpPr>
        <p:spPr>
          <a:xfrm>
            <a:off x="10469880" y="4526280"/>
            <a:ext cx="160934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7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Overall status</a:t>
            </a:r>
            <a:endParaRPr lang="en-US" sz="770" dirty="0"/>
          </a:p>
        </p:txBody>
      </p:sp>
      <p:sp>
        <p:nvSpPr>
          <p:cNvPr id="25" name="Text 21"/>
          <p:cNvSpPr/>
          <p:nvPr/>
        </p:nvSpPr>
        <p:spPr>
          <a:xfrm>
            <a:off x="594360" y="5166360"/>
            <a:ext cx="10972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i="1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820" dirty="0"/>
          </a:p>
        </p:txBody>
      </p:sp>
      <p:sp>
        <p:nvSpPr>
          <p:cNvPr id="26" name="Shape 22"/>
          <p:cNvSpPr/>
          <p:nvPr/>
        </p:nvSpPr>
        <p:spPr>
          <a:xfrm>
            <a:off x="164592" y="6446520"/>
            <a:ext cx="11841480" cy="0"/>
          </a:xfrm>
          <a:prstGeom prst="line">
            <a:avLst/>
          </a:prstGeom>
          <a:noFill/>
          <a:ln w="12700">
            <a:solidFill>
              <a:srgbClr val="0058A8"/>
            </a:solidFill>
            <a:prstDash val="solid"/>
          </a:ln>
        </p:spPr>
        <p:txBody>
          <a:bodyPr/>
          <a:p/>
        </p:txBody>
      </p:sp>
      <p:sp>
        <p:nvSpPr>
          <p:cNvPr id="27" name="Text 23"/>
          <p:cNvSpPr/>
          <p:nvPr/>
        </p:nvSpPr>
        <p:spPr>
          <a:xfrm>
            <a:off x="182880" y="6519672"/>
            <a:ext cx="7955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70" dirty="0">
                <a:solidFill>
                  <a:srgbClr val="005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Ekurhuleni | INTERNAL SDI OPERATIONS REPORTING | 24 August 2026 | 15:00</a:t>
            </a:r>
            <a:endParaRPr lang="en-US" sz="570" dirty="0"/>
          </a:p>
        </p:txBody>
      </p:sp>
      <p:sp>
        <p:nvSpPr>
          <p:cNvPr id="28" name="Text 24"/>
          <p:cNvSpPr/>
          <p:nvPr/>
        </p:nvSpPr>
        <p:spPr>
          <a:xfrm>
            <a:off x="8412480" y="6519672"/>
            <a:ext cx="35661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570" i="1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57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gauteng_logo_le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592" y="73152"/>
            <a:ext cx="2788920" cy="786384"/>
          </a:xfrm>
          <a:prstGeom prst="rect">
            <a:avLst/>
          </a:prstGeom>
        </p:spPr>
      </p:pic>
      <p:pic>
        <p:nvPicPr>
          <p:cNvPr id="3" name="Image 1" descr="/mnt/data/ggt2030_logo_r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09728"/>
            <a:ext cx="2057400" cy="566928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164592" y="941832"/>
            <a:ext cx="11859768" cy="393192"/>
          </a:xfrm>
          <a:prstGeom prst="rect">
            <a:avLst/>
          </a:prstGeom>
          <a:solidFill>
            <a:srgbClr val="0058A8"/>
          </a:solidFill>
          <a:ln w="12700">
            <a:solidFill>
              <a:srgbClr val="0058A8"/>
            </a:solidFill>
            <a:prstDash val="solid"/>
          </a:ln>
        </p:spPr>
        <p:txBody>
          <a:bodyPr/>
          <a:p/>
        </p:txBody>
      </p:sp>
      <p:sp>
        <p:nvSpPr>
          <p:cNvPr id="5" name="Text 1"/>
          <p:cNvSpPr/>
          <p:nvPr/>
        </p:nvSpPr>
        <p:spPr>
          <a:xfrm>
            <a:off x="320040" y="1005840"/>
            <a:ext cx="9098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EXECUTIVE COVERAGE SNAPSHOT</a:t>
            </a:r>
            <a:endParaRPr lang="en-US" sz="1300" dirty="0"/>
          </a:p>
        </p:txBody>
      </p:sp>
      <p:sp>
        <p:nvSpPr>
          <p:cNvPr id="6" name="Shape 2"/>
          <p:cNvSpPr/>
          <p:nvPr/>
        </p:nvSpPr>
        <p:spPr>
          <a:xfrm>
            <a:off x="10378440" y="987552"/>
            <a:ext cx="1417320" cy="265176"/>
          </a:xfrm>
          <a:prstGeom prst="rect">
            <a:avLst/>
          </a:prstGeom>
          <a:solidFill>
            <a:srgbClr val="FFC000"/>
          </a:solidFill>
          <a:ln w="12700">
            <a:solidFill>
              <a:srgbClr val="FFC000"/>
            </a:solidFill>
            <a:prstDash val="solid"/>
          </a:ln>
        </p:spPr>
        <p:txBody>
          <a:bodyPr/>
          <a:p/>
        </p:txBody>
      </p:sp>
      <p:sp>
        <p:nvSpPr>
          <p:cNvPr id="7" name="Text 3"/>
          <p:cNvSpPr/>
          <p:nvPr/>
        </p:nvSpPr>
        <p:spPr>
          <a:xfrm>
            <a:off x="10378440" y="1028700"/>
            <a:ext cx="1417320" cy="164592"/>
          </a:xfrm>
          <a:prstGeom prst="rect">
            <a:avLst/>
          </a:prstGeom>
          <a:solidFill>
            <a:srgbClr val="FFC00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AMBER</a:t>
            </a:r>
            <a:endParaRPr lang="en-US" sz="850" dirty="0"/>
          </a:p>
        </p:txBody>
      </p:sp>
      <p:sp>
        <p:nvSpPr>
          <p:cNvPr id="8" name="Shape 4"/>
          <p:cNvSpPr/>
          <p:nvPr/>
        </p:nvSpPr>
        <p:spPr>
          <a:xfrm>
            <a:off x="164592" y="6446520"/>
            <a:ext cx="11841480" cy="0"/>
          </a:xfrm>
          <a:prstGeom prst="line">
            <a:avLst/>
          </a:prstGeom>
          <a:noFill/>
          <a:ln w="12700">
            <a:solidFill>
              <a:srgbClr val="0058A8"/>
            </a:solidFill>
            <a:prstDash val="solid"/>
          </a:ln>
        </p:spPr>
        <p:txBody>
          <a:bodyPr/>
          <a:p/>
        </p:txBody>
      </p:sp>
      <p:sp>
        <p:nvSpPr>
          <p:cNvPr id="9" name="Text 5"/>
          <p:cNvSpPr/>
          <p:nvPr/>
        </p:nvSpPr>
        <p:spPr>
          <a:xfrm>
            <a:off x="182880" y="6519672"/>
            <a:ext cx="7955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70" dirty="0">
                <a:solidFill>
                  <a:srgbClr val="005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Ekurhuleni | INTERNAL SDI OPERATIONS REPORTING | 24 August 2026 | 15:00</a:t>
            </a:r>
            <a:endParaRPr lang="en-US" sz="570" dirty="0"/>
          </a:p>
        </p:txBody>
      </p:sp>
      <p:sp>
        <p:nvSpPr>
          <p:cNvPr id="10" name="Text 6"/>
          <p:cNvSpPr/>
          <p:nvPr/>
        </p:nvSpPr>
        <p:spPr>
          <a:xfrm>
            <a:off x="8412480" y="6519672"/>
            <a:ext cx="35661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570" i="1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570" dirty="0"/>
          </a:p>
        </p:txBody>
      </p:sp>
      <p:sp>
        <p:nvSpPr>
          <p:cNvPr id="11" name="Shape 7"/>
          <p:cNvSpPr/>
          <p:nvPr/>
        </p:nvSpPr>
        <p:spPr>
          <a:xfrm>
            <a:off x="411480" y="1554480"/>
            <a:ext cx="3703320" cy="1325880"/>
          </a:xfrm>
          <a:prstGeom prst="rect">
            <a:avLst/>
          </a:prstGeom>
          <a:solidFill>
            <a:srgbClr val="EAF3FB"/>
          </a:solidFill>
          <a:ln w="10160">
            <a:solidFill>
              <a:srgbClr val="D9E2F3"/>
            </a:solidFill>
            <a:prstDash val="solid"/>
          </a:ln>
        </p:spPr>
        <p:txBody>
          <a:bodyPr/>
          <a:p/>
        </p:txBody>
      </p:sp>
      <p:sp>
        <p:nvSpPr>
          <p:cNvPr id="12" name="Text 8"/>
          <p:cNvSpPr/>
          <p:nvPr/>
        </p:nvSpPr>
        <p:spPr>
          <a:xfrm>
            <a:off x="539496" y="1645920"/>
            <a:ext cx="34472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40" b="1" dirty="0">
                <a:solidFill>
                  <a:srgbClr val="005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we are now</a:t>
            </a:r>
            <a:endParaRPr lang="en-US" sz="1140" dirty="0"/>
          </a:p>
        </p:txBody>
      </p:sp>
      <p:sp>
        <p:nvSpPr>
          <p:cNvPr id="13" name="Text 9"/>
          <p:cNvSpPr/>
          <p:nvPr/>
        </p:nvSpPr>
        <p:spPr>
          <a:xfrm>
            <a:off x="539496" y="1938528"/>
            <a:ext cx="3447288" cy="8686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 valid cases on 24 August 2026; 20 new wards today; 20 wards reached cumulatively (17.9% of 112).</a:t>
            </a:r>
            <a:endParaRPr lang="en-US" sz="960" dirty="0"/>
          </a:p>
        </p:txBody>
      </p:sp>
      <p:sp>
        <p:nvSpPr>
          <p:cNvPr id="14" name="Shape 10"/>
          <p:cNvSpPr/>
          <p:nvPr/>
        </p:nvSpPr>
        <p:spPr>
          <a:xfrm>
            <a:off x="4251960" y="1554480"/>
            <a:ext cx="3703320" cy="1325880"/>
          </a:xfrm>
          <a:prstGeom prst="rect">
            <a:avLst/>
          </a:prstGeom>
          <a:solidFill>
            <a:srgbClr val="EAF3FB"/>
          </a:solidFill>
          <a:ln w="10160">
            <a:solidFill>
              <a:srgbClr val="D9E2F3"/>
            </a:solidFill>
            <a:prstDash val="solid"/>
          </a:ln>
        </p:spPr>
        <p:txBody>
          <a:bodyPr/>
          <a:p/>
        </p:txBody>
      </p:sp>
      <p:sp>
        <p:nvSpPr>
          <p:cNvPr id="15" name="Text 11"/>
          <p:cNvSpPr/>
          <p:nvPr/>
        </p:nvSpPr>
        <p:spPr>
          <a:xfrm>
            <a:off x="4379976" y="1645920"/>
            <a:ext cx="34472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40" b="1" dirty="0">
                <a:solidFill>
                  <a:srgbClr val="005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changed</a:t>
            </a:r>
            <a:endParaRPr lang="en-US" sz="1140" dirty="0"/>
          </a:p>
        </p:txBody>
      </p:sp>
      <p:sp>
        <p:nvSpPr>
          <p:cNvPr id="16" name="Text 12"/>
          <p:cNvSpPr/>
          <p:nvPr/>
        </p:nvSpPr>
        <p:spPr>
          <a:xfrm>
            <a:off x="4379976" y="1938528"/>
            <a:ext cx="3447288" cy="8686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Today: 72 cases and 20 new wards. New wards are unique to the selected reporting date after checking all prior valid dates; running wards are cumulative unique wards.</a:t>
            </a:r>
            <a:endParaRPr lang="en-US" sz="960" dirty="0"/>
          </a:p>
        </p:txBody>
      </p:sp>
      <p:sp>
        <p:nvSpPr>
          <p:cNvPr id="17" name="Shape 13"/>
          <p:cNvSpPr/>
          <p:nvPr/>
        </p:nvSpPr>
        <p:spPr>
          <a:xfrm>
            <a:off x="8092440" y="1554480"/>
            <a:ext cx="3703320" cy="1325880"/>
          </a:xfrm>
          <a:prstGeom prst="rect">
            <a:avLst/>
          </a:prstGeom>
          <a:solidFill>
            <a:srgbClr val="EAF3FB"/>
          </a:solidFill>
          <a:ln w="10160">
            <a:solidFill>
              <a:srgbClr val="D9E2F3"/>
            </a:solidFill>
            <a:prstDash val="solid"/>
          </a:ln>
        </p:spPr>
        <p:txBody>
          <a:bodyPr/>
          <a:p/>
        </p:txBody>
      </p:sp>
      <p:sp>
        <p:nvSpPr>
          <p:cNvPr id="18" name="Text 14"/>
          <p:cNvSpPr/>
          <p:nvPr/>
        </p:nvSpPr>
        <p:spPr>
          <a:xfrm>
            <a:off x="8220456" y="1645920"/>
            <a:ext cx="34472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40" b="1" dirty="0">
                <a:solidFill>
                  <a:srgbClr val="005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needs attention</a:t>
            </a:r>
            <a:endParaRPr lang="en-US" sz="1140" dirty="0"/>
          </a:p>
        </p:txBody>
      </p:sp>
      <p:sp>
        <p:nvSpPr>
          <p:cNvPr id="19" name="Text 15"/>
          <p:cNvSpPr/>
          <p:nvPr/>
        </p:nvSpPr>
        <p:spPr>
          <a:xfrm>
            <a:off x="8220456" y="1938528"/>
            <a:ext cx="3447288" cy="8686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92 ward allocations remain. To reach the 112-ward weekly target by Friday, aim for 23 new wards per remaining working day (4 days).</a:t>
            </a:r>
            <a:endParaRPr lang="en-US" sz="960" dirty="0"/>
          </a:p>
        </p:txBody>
      </p:sp>
      <p:sp>
        <p:nvSpPr>
          <p:cNvPr id="20" name="Shape 16"/>
          <p:cNvSpPr/>
          <p:nvPr/>
        </p:nvSpPr>
        <p:spPr>
          <a:xfrm>
            <a:off x="502920" y="3154680"/>
            <a:ext cx="3657600" cy="2148840"/>
          </a:xfrm>
          <a:prstGeom prst="rect">
            <a:avLst/>
          </a:prstGeom>
          <a:solidFill>
            <a:srgbClr val="F8FAFC"/>
          </a:solidFill>
          <a:ln w="11430">
            <a:solidFill>
              <a:srgbClr val="D9E2F3"/>
            </a:solidFill>
            <a:prstDash val="solid"/>
          </a:ln>
        </p:spPr>
        <p:txBody>
          <a:bodyPr/>
          <a:p/>
        </p:txBody>
      </p:sp>
      <p:sp>
        <p:nvSpPr>
          <p:cNvPr id="21" name="Text 17"/>
          <p:cNvSpPr/>
          <p:nvPr/>
        </p:nvSpPr>
        <p:spPr>
          <a:xfrm>
            <a:off x="667512" y="3264408"/>
            <a:ext cx="3328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80" b="1" dirty="0">
                <a:solidFill>
                  <a:srgbClr val="005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Cases logged per hour</a:t>
            </a:r>
            <a:endParaRPr lang="en-US" sz="1080" dirty="0"/>
          </a:p>
        </p:txBody>
      </p:sp>
      <p:sp>
        <p:nvSpPr>
          <p:cNvPr id="27" name="Shape 23"/>
          <p:cNvSpPr/>
          <p:nvPr/>
        </p:nvSpPr>
        <p:spPr>
          <a:xfrm>
            <a:off x="731520" y="4800600"/>
            <a:ext cx="3246120" cy="0"/>
          </a:xfrm>
          <a:prstGeom prst="line">
            <a:avLst/>
          </a:prstGeom>
          <a:noFill/>
          <a:ln w="6350">
            <a:solidFill>
              <a:srgbClr val="A6A6A6"/>
            </a:solidFill>
            <a:prstDash val="solid"/>
          </a:ln>
        </p:spPr>
        <p:txBody>
          <a:bodyPr/>
          <a:p/>
        </p:txBody>
      </p:sp>
      <p:sp>
        <p:nvSpPr>
          <p:cNvPr id="28" name="Text 24"/>
          <p:cNvSpPr/>
          <p:nvPr/>
        </p:nvSpPr>
        <p:spPr>
          <a:xfrm>
            <a:off x="667512" y="5029200"/>
            <a:ext cx="33284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i="1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660" dirty="0"/>
          </a:p>
        </p:txBody>
      </p:sp>
      <p:sp>
        <p:nvSpPr>
          <p:cNvPr id="29" name="Shape 25"/>
          <p:cNvSpPr/>
          <p:nvPr/>
        </p:nvSpPr>
        <p:spPr>
          <a:xfrm>
            <a:off x="4480560" y="3154680"/>
            <a:ext cx="4343400" cy="214884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  <a:prstDash val="solid"/>
          </a:ln>
        </p:spPr>
        <p:txBody>
          <a:bodyPr/>
          <a:p/>
        </p:txBody>
      </p:sp>
      <p:sp>
        <p:nvSpPr>
          <p:cNvPr id="30" name="Shape 26"/>
          <p:cNvSpPr/>
          <p:nvPr/>
        </p:nvSpPr>
        <p:spPr>
          <a:xfrm>
            <a:off x="4480560" y="3154680"/>
            <a:ext cx="4343400" cy="429768"/>
          </a:xfrm>
          <a:prstGeom prst="rect">
            <a:avLst/>
          </a:prstGeom>
          <a:solidFill>
            <a:srgbClr val="0058A8"/>
          </a:solidFill>
          <a:ln w="6350">
            <a:solidFill>
              <a:srgbClr val="0058A8"/>
            </a:solidFill>
            <a:prstDash val="solid"/>
          </a:ln>
        </p:spPr>
        <p:txBody>
          <a:bodyPr/>
          <a:p/>
        </p:txBody>
      </p:sp>
      <p:sp>
        <p:nvSpPr>
          <p:cNvPr id="31" name="Shape 27"/>
          <p:cNvSpPr/>
          <p:nvPr/>
        </p:nvSpPr>
        <p:spPr>
          <a:xfrm>
            <a:off x="4480560" y="3584448"/>
            <a:ext cx="434340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  <p:txBody>
          <a:bodyPr/>
          <a:p/>
        </p:txBody>
      </p:sp>
      <p:sp>
        <p:nvSpPr>
          <p:cNvPr id="32" name="Shape 28"/>
          <p:cNvSpPr/>
          <p:nvPr/>
        </p:nvSpPr>
        <p:spPr>
          <a:xfrm>
            <a:off x="4480560" y="4014216"/>
            <a:ext cx="434340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  <p:txBody>
          <a:bodyPr/>
          <a:p/>
        </p:txBody>
      </p:sp>
      <p:sp>
        <p:nvSpPr>
          <p:cNvPr id="33" name="Shape 29"/>
          <p:cNvSpPr/>
          <p:nvPr/>
        </p:nvSpPr>
        <p:spPr>
          <a:xfrm>
            <a:off x="4480560" y="4443984"/>
            <a:ext cx="434340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  <p:txBody>
          <a:bodyPr/>
          <a:p/>
        </p:txBody>
      </p:sp>
      <p:sp>
        <p:nvSpPr>
          <p:cNvPr id="34" name="Shape 30"/>
          <p:cNvSpPr/>
          <p:nvPr/>
        </p:nvSpPr>
        <p:spPr>
          <a:xfrm>
            <a:off x="4480560" y="4873752"/>
            <a:ext cx="434340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  <p:txBody>
          <a:bodyPr/>
          <a:p/>
        </p:txBody>
      </p:sp>
      <p:sp>
        <p:nvSpPr>
          <p:cNvPr id="35" name="Shape 31"/>
          <p:cNvSpPr/>
          <p:nvPr/>
        </p:nvSpPr>
        <p:spPr>
          <a:xfrm>
            <a:off x="5349240" y="3154680"/>
            <a:ext cx="0" cy="2148840"/>
          </a:xfrm>
          <a:prstGeom prst="line">
            <a:avLst/>
          </a:prstGeom>
          <a:noFill/>
          <a:ln w="6350">
            <a:solidFill>
              <a:srgbClr val="E1E1E1"/>
            </a:solidFill>
            <a:prstDash val="solid"/>
          </a:ln>
        </p:spPr>
        <p:txBody>
          <a:bodyPr/>
          <a:p/>
        </p:txBody>
      </p:sp>
      <p:sp>
        <p:nvSpPr>
          <p:cNvPr id="36" name="Shape 32"/>
          <p:cNvSpPr/>
          <p:nvPr/>
        </p:nvSpPr>
        <p:spPr>
          <a:xfrm>
            <a:off x="6126480" y="3154680"/>
            <a:ext cx="0" cy="2148840"/>
          </a:xfrm>
          <a:prstGeom prst="line">
            <a:avLst/>
          </a:prstGeom>
          <a:noFill/>
          <a:ln w="6350">
            <a:solidFill>
              <a:srgbClr val="E1E1E1"/>
            </a:solidFill>
            <a:prstDash val="solid"/>
          </a:ln>
        </p:spPr>
        <p:txBody>
          <a:bodyPr/>
          <a:p/>
        </p:txBody>
      </p:sp>
      <p:sp>
        <p:nvSpPr>
          <p:cNvPr id="37" name="Shape 33"/>
          <p:cNvSpPr/>
          <p:nvPr/>
        </p:nvSpPr>
        <p:spPr>
          <a:xfrm>
            <a:off x="7086600" y="3154680"/>
            <a:ext cx="0" cy="2148840"/>
          </a:xfrm>
          <a:prstGeom prst="line">
            <a:avLst/>
          </a:prstGeom>
          <a:noFill/>
          <a:ln w="6350">
            <a:solidFill>
              <a:srgbClr val="E1E1E1"/>
            </a:solidFill>
            <a:prstDash val="solid"/>
          </a:ln>
        </p:spPr>
        <p:txBody>
          <a:bodyPr/>
          <a:p/>
        </p:txBody>
      </p:sp>
      <p:sp>
        <p:nvSpPr>
          <p:cNvPr id="38" name="Shape 34"/>
          <p:cNvSpPr/>
          <p:nvPr/>
        </p:nvSpPr>
        <p:spPr>
          <a:xfrm>
            <a:off x="8138160" y="3154680"/>
            <a:ext cx="0" cy="2148840"/>
          </a:xfrm>
          <a:prstGeom prst="line">
            <a:avLst/>
          </a:prstGeom>
          <a:noFill/>
          <a:ln w="6350">
            <a:solidFill>
              <a:srgbClr val="E1E1E1"/>
            </a:solidFill>
            <a:prstDash val="solid"/>
          </a:ln>
        </p:spPr>
        <p:txBody>
          <a:bodyPr/>
          <a:p/>
        </p:txBody>
      </p:sp>
      <p:sp>
        <p:nvSpPr>
          <p:cNvPr id="39" name="Text 35"/>
          <p:cNvSpPr/>
          <p:nvPr/>
        </p:nvSpPr>
        <p:spPr>
          <a:xfrm>
            <a:off x="4517136" y="3195828"/>
            <a:ext cx="795528" cy="37490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7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</a:t>
            </a:r>
            <a:endParaRPr lang="en-US" sz="770" dirty="0"/>
          </a:p>
        </p:txBody>
      </p:sp>
      <p:sp>
        <p:nvSpPr>
          <p:cNvPr id="40" name="Text 36"/>
          <p:cNvSpPr/>
          <p:nvPr/>
        </p:nvSpPr>
        <p:spPr>
          <a:xfrm>
            <a:off x="5385816" y="3195828"/>
            <a:ext cx="704088" cy="37490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7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Cases</a:t>
            </a:r>
            <a:endParaRPr lang="en-US" sz="770" dirty="0"/>
          </a:p>
        </p:txBody>
      </p:sp>
      <p:sp>
        <p:nvSpPr>
          <p:cNvPr id="41" name="Text 37"/>
          <p:cNvSpPr/>
          <p:nvPr/>
        </p:nvSpPr>
        <p:spPr>
          <a:xfrm>
            <a:off x="6163056" y="3195828"/>
            <a:ext cx="886968" cy="37490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7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wards</a:t>
            </a:r>
            <a:endParaRPr lang="en-US" sz="770" dirty="0"/>
          </a:p>
        </p:txBody>
      </p:sp>
      <p:sp>
        <p:nvSpPr>
          <p:cNvPr id="42" name="Text 38"/>
          <p:cNvSpPr/>
          <p:nvPr/>
        </p:nvSpPr>
        <p:spPr>
          <a:xfrm>
            <a:off x="7123176" y="3195828"/>
            <a:ext cx="978408" cy="37490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7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Running total</a:t>
            </a:r>
            <a:endParaRPr lang="en-US" sz="770" dirty="0"/>
          </a:p>
        </p:txBody>
      </p:sp>
      <p:sp>
        <p:nvSpPr>
          <p:cNvPr id="43" name="Text 39"/>
          <p:cNvSpPr/>
          <p:nvPr/>
        </p:nvSpPr>
        <p:spPr>
          <a:xfrm>
            <a:off x="8174736" y="3195828"/>
            <a:ext cx="612648" cy="37490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7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Still needed</a:t>
            </a:r>
            <a:endParaRPr lang="en-US" sz="770" dirty="0"/>
          </a:p>
        </p:txBody>
      </p:sp>
      <p:sp>
        <p:nvSpPr>
          <p:cNvPr id="44" name="Text 40"/>
          <p:cNvSpPr/>
          <p:nvPr/>
        </p:nvSpPr>
        <p:spPr>
          <a:xfrm>
            <a:off x="4517136" y="3625596"/>
            <a:ext cx="795528" cy="37490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7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2026-08-24</a:t>
            </a:r>
            <a:endParaRPr lang="en-US" sz="770" dirty="0"/>
          </a:p>
        </p:txBody>
      </p:sp>
      <p:sp>
        <p:nvSpPr>
          <p:cNvPr id="45" name="Text 41"/>
          <p:cNvSpPr/>
          <p:nvPr/>
        </p:nvSpPr>
        <p:spPr>
          <a:xfrm>
            <a:off x="5385816" y="3625596"/>
            <a:ext cx="704088" cy="37490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7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</a:t>
            </a:r>
            <a:endParaRPr lang="en-US" sz="770" dirty="0"/>
          </a:p>
        </p:txBody>
      </p:sp>
      <p:sp>
        <p:nvSpPr>
          <p:cNvPr id="46" name="Text 42"/>
          <p:cNvSpPr/>
          <p:nvPr/>
        </p:nvSpPr>
        <p:spPr>
          <a:xfrm>
            <a:off x="6163056" y="3625596"/>
            <a:ext cx="886968" cy="37490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7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770" dirty="0"/>
          </a:p>
        </p:txBody>
      </p:sp>
      <p:sp>
        <p:nvSpPr>
          <p:cNvPr id="47" name="Text 43"/>
          <p:cNvSpPr/>
          <p:nvPr/>
        </p:nvSpPr>
        <p:spPr>
          <a:xfrm>
            <a:off x="7123176" y="3625596"/>
            <a:ext cx="978408" cy="37490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7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20/112</a:t>
            </a:r>
            <a:endParaRPr lang="en-US" sz="770" dirty="0"/>
          </a:p>
        </p:txBody>
      </p:sp>
      <p:sp>
        <p:nvSpPr>
          <p:cNvPr id="48" name="Text 44"/>
          <p:cNvSpPr/>
          <p:nvPr/>
        </p:nvSpPr>
        <p:spPr>
          <a:xfrm>
            <a:off x="8174736" y="3625596"/>
            <a:ext cx="612648" cy="37490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7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92</a:t>
            </a:r>
            <a:endParaRPr lang="en-US" sz="770" dirty="0"/>
          </a:p>
        </p:txBody>
      </p:sp>
      <p:sp>
        <p:nvSpPr>
          <p:cNvPr id="49" name="Text 45"/>
          <p:cNvSpPr/>
          <p:nvPr/>
        </p:nvSpPr>
        <p:spPr>
          <a:xfrm>
            <a:off x="4517136" y="4055364"/>
            <a:ext cx="795528" cy="37490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7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770" dirty="0"/>
          </a:p>
        </p:txBody>
      </p:sp>
      <p:sp>
        <p:nvSpPr>
          <p:cNvPr id="50" name="Text 46"/>
          <p:cNvSpPr/>
          <p:nvPr/>
        </p:nvSpPr>
        <p:spPr>
          <a:xfrm>
            <a:off x="5385816" y="4055364"/>
            <a:ext cx="704088" cy="37490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7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770" dirty="0"/>
          </a:p>
        </p:txBody>
      </p:sp>
      <p:sp>
        <p:nvSpPr>
          <p:cNvPr id="51" name="Text 47"/>
          <p:cNvSpPr/>
          <p:nvPr/>
        </p:nvSpPr>
        <p:spPr>
          <a:xfrm>
            <a:off x="6163056" y="4055364"/>
            <a:ext cx="886968" cy="37490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7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770" dirty="0"/>
          </a:p>
        </p:txBody>
      </p:sp>
      <p:sp>
        <p:nvSpPr>
          <p:cNvPr id="52" name="Text 48"/>
          <p:cNvSpPr/>
          <p:nvPr/>
        </p:nvSpPr>
        <p:spPr>
          <a:xfrm>
            <a:off x="7123176" y="4055364"/>
            <a:ext cx="978408" cy="37490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7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770" dirty="0"/>
          </a:p>
        </p:txBody>
      </p:sp>
      <p:sp>
        <p:nvSpPr>
          <p:cNvPr id="53" name="Text 49"/>
          <p:cNvSpPr/>
          <p:nvPr/>
        </p:nvSpPr>
        <p:spPr>
          <a:xfrm>
            <a:off x="8174736" y="4055364"/>
            <a:ext cx="612648" cy="37490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7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770" dirty="0"/>
          </a:p>
        </p:txBody>
      </p:sp>
      <p:sp>
        <p:nvSpPr>
          <p:cNvPr id="54" name="Text 50"/>
          <p:cNvSpPr/>
          <p:nvPr/>
        </p:nvSpPr>
        <p:spPr>
          <a:xfrm>
            <a:off x="4517136" y="4485132"/>
            <a:ext cx="795528" cy="37490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7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770" dirty="0"/>
          </a:p>
        </p:txBody>
      </p:sp>
      <p:sp>
        <p:nvSpPr>
          <p:cNvPr id="55" name="Text 51"/>
          <p:cNvSpPr/>
          <p:nvPr/>
        </p:nvSpPr>
        <p:spPr>
          <a:xfrm>
            <a:off x="5385816" y="4485132"/>
            <a:ext cx="704088" cy="37490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7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770" dirty="0"/>
          </a:p>
        </p:txBody>
      </p:sp>
      <p:sp>
        <p:nvSpPr>
          <p:cNvPr id="56" name="Text 52"/>
          <p:cNvSpPr/>
          <p:nvPr/>
        </p:nvSpPr>
        <p:spPr>
          <a:xfrm>
            <a:off x="6163056" y="4485132"/>
            <a:ext cx="886968" cy="37490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7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770" dirty="0"/>
          </a:p>
        </p:txBody>
      </p:sp>
      <p:sp>
        <p:nvSpPr>
          <p:cNvPr id="57" name="Text 53"/>
          <p:cNvSpPr/>
          <p:nvPr/>
        </p:nvSpPr>
        <p:spPr>
          <a:xfrm>
            <a:off x="7123176" y="4485132"/>
            <a:ext cx="978408" cy="37490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7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770" dirty="0"/>
          </a:p>
        </p:txBody>
      </p:sp>
      <p:sp>
        <p:nvSpPr>
          <p:cNvPr id="58" name="Text 54"/>
          <p:cNvSpPr/>
          <p:nvPr/>
        </p:nvSpPr>
        <p:spPr>
          <a:xfrm>
            <a:off x="8174736" y="4485132"/>
            <a:ext cx="612648" cy="37490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7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770" dirty="0"/>
          </a:p>
        </p:txBody>
      </p:sp>
      <p:sp>
        <p:nvSpPr>
          <p:cNvPr id="59" name="Text 55"/>
          <p:cNvSpPr/>
          <p:nvPr/>
        </p:nvSpPr>
        <p:spPr>
          <a:xfrm>
            <a:off x="4517136" y="4914900"/>
            <a:ext cx="795528" cy="37490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7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770" dirty="0"/>
          </a:p>
        </p:txBody>
      </p:sp>
      <p:sp>
        <p:nvSpPr>
          <p:cNvPr id="60" name="Text 56"/>
          <p:cNvSpPr/>
          <p:nvPr/>
        </p:nvSpPr>
        <p:spPr>
          <a:xfrm>
            <a:off x="5385816" y="4914900"/>
            <a:ext cx="704088" cy="37490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7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770" dirty="0"/>
          </a:p>
        </p:txBody>
      </p:sp>
      <p:sp>
        <p:nvSpPr>
          <p:cNvPr id="61" name="Text 57"/>
          <p:cNvSpPr/>
          <p:nvPr/>
        </p:nvSpPr>
        <p:spPr>
          <a:xfrm>
            <a:off x="6163056" y="4914900"/>
            <a:ext cx="886968" cy="37490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7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770" dirty="0"/>
          </a:p>
        </p:txBody>
      </p:sp>
      <p:sp>
        <p:nvSpPr>
          <p:cNvPr id="62" name="Text 58"/>
          <p:cNvSpPr/>
          <p:nvPr/>
        </p:nvSpPr>
        <p:spPr>
          <a:xfrm>
            <a:off x="7123176" y="4914900"/>
            <a:ext cx="978408" cy="37490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7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770" dirty="0"/>
          </a:p>
        </p:txBody>
      </p:sp>
      <p:sp>
        <p:nvSpPr>
          <p:cNvPr id="63" name="Text 59"/>
          <p:cNvSpPr/>
          <p:nvPr/>
        </p:nvSpPr>
        <p:spPr>
          <a:xfrm>
            <a:off x="8174736" y="4914900"/>
            <a:ext cx="612648" cy="37490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7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770" dirty="0"/>
          </a:p>
        </p:txBody>
      </p:sp>
      <p:sp>
        <p:nvSpPr>
          <p:cNvPr id="64" name="Text 60"/>
          <p:cNvSpPr/>
          <p:nvPr/>
        </p:nvSpPr>
        <p:spPr>
          <a:xfrm>
            <a:off x="9144000" y="3163824"/>
            <a:ext cx="2606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40" b="1" dirty="0">
                <a:solidFill>
                  <a:srgbClr val="005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Recommended focus</a:t>
            </a:r>
            <a:endParaRPr lang="en-US" sz="1140" dirty="0"/>
          </a:p>
        </p:txBody>
      </p:sp>
      <p:sp>
        <p:nvSpPr>
          <p:cNvPr id="65" name="Text 61"/>
          <p:cNvSpPr/>
          <p:nvPr/>
        </p:nvSpPr>
        <p:spPr>
          <a:xfrm>
            <a:off x="9144000" y="3474720"/>
            <a:ext cx="2606040" cy="18105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r>
              <a:rPr lang="en-US" sz="94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Validate ward representation (92 missing).
Protect observed peak intake periods.
Use the addendum for detailed evidence.</a:t>
            </a:r>
            <a:endParaRPr lang="en-US" sz="940" dirty="0"/>
          </a:p>
        </p:txBody>
      </p:sp>
      <p:graphicFrame>
        <p:nvGraphicFramePr>
          <p:cNvPr id="66" name="Chart 65"/>
          <p:cNvGraphicFramePr>
            <a:graphicFrameLocks noGrp="1"/>
          </p:cNvGraphicFramePr>
          <p:nvPr/>
        </p:nvGraphicFramePr>
        <p:xfrm>
          <a:off x="685800" y="3547872"/>
          <a:ext cx="3429000" cy="1417320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gauteng_logo_le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592" y="73152"/>
            <a:ext cx="2788920" cy="786384"/>
          </a:xfrm>
          <a:prstGeom prst="rect">
            <a:avLst/>
          </a:prstGeom>
        </p:spPr>
      </p:pic>
      <p:pic>
        <p:nvPicPr>
          <p:cNvPr id="3" name="Image 1" descr="/mnt/data/ggt2030_logo_r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09728"/>
            <a:ext cx="2057400" cy="566928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164592" y="941832"/>
            <a:ext cx="11859768" cy="393192"/>
          </a:xfrm>
          <a:prstGeom prst="rect">
            <a:avLst/>
          </a:prstGeom>
          <a:solidFill>
            <a:srgbClr val="0058A8"/>
          </a:solidFill>
          <a:ln w="12700">
            <a:solidFill>
              <a:srgbClr val="0058A8"/>
            </a:solidFill>
            <a:prstDash val="solid"/>
          </a:ln>
        </p:spPr>
        <p:txBody>
          <a:bodyPr/>
          <a:p/>
        </p:txBody>
      </p:sp>
      <p:sp>
        <p:nvSpPr>
          <p:cNvPr id="5" name="Text 1"/>
          <p:cNvSpPr/>
          <p:nvPr/>
        </p:nvSpPr>
        <p:spPr>
          <a:xfrm>
            <a:off x="320040" y="1005840"/>
            <a:ext cx="9098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WARD COVERAGE BY MUNICIPALITY / REGION</a:t>
            </a:r>
            <a:endParaRPr lang="en-US" sz="1300" dirty="0"/>
          </a:p>
        </p:txBody>
      </p:sp>
      <p:sp>
        <p:nvSpPr>
          <p:cNvPr id="6" name="Shape 2"/>
          <p:cNvSpPr/>
          <p:nvPr/>
        </p:nvSpPr>
        <p:spPr>
          <a:xfrm>
            <a:off x="10378440" y="987552"/>
            <a:ext cx="1417320" cy="265176"/>
          </a:xfrm>
          <a:prstGeom prst="rect">
            <a:avLst/>
          </a:prstGeom>
          <a:solidFill>
            <a:srgbClr val="FFC000"/>
          </a:solidFill>
          <a:ln w="12700">
            <a:solidFill>
              <a:srgbClr val="FFC000"/>
            </a:solidFill>
            <a:prstDash val="solid"/>
          </a:ln>
        </p:spPr>
        <p:txBody>
          <a:bodyPr/>
          <a:p/>
        </p:txBody>
      </p:sp>
      <p:sp>
        <p:nvSpPr>
          <p:cNvPr id="7" name="Text 3"/>
          <p:cNvSpPr/>
          <p:nvPr/>
        </p:nvSpPr>
        <p:spPr>
          <a:xfrm>
            <a:off x="10378440" y="1028700"/>
            <a:ext cx="1417320" cy="164592"/>
          </a:xfrm>
          <a:prstGeom prst="rect">
            <a:avLst/>
          </a:prstGeom>
          <a:solidFill>
            <a:srgbClr val="FFC00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AMBER</a:t>
            </a:r>
            <a:endParaRPr lang="en-US" sz="850" dirty="0"/>
          </a:p>
        </p:txBody>
      </p:sp>
      <p:sp>
        <p:nvSpPr>
          <p:cNvPr id="8" name="Shape 4"/>
          <p:cNvSpPr/>
          <p:nvPr/>
        </p:nvSpPr>
        <p:spPr>
          <a:xfrm>
            <a:off x="164592" y="6446520"/>
            <a:ext cx="11841480" cy="0"/>
          </a:xfrm>
          <a:prstGeom prst="line">
            <a:avLst/>
          </a:prstGeom>
          <a:noFill/>
          <a:ln w="12700">
            <a:solidFill>
              <a:srgbClr val="0058A8"/>
            </a:solidFill>
            <a:prstDash val="solid"/>
          </a:ln>
        </p:spPr>
        <p:txBody>
          <a:bodyPr/>
          <a:p/>
        </p:txBody>
      </p:sp>
      <p:sp>
        <p:nvSpPr>
          <p:cNvPr id="9" name="Text 5"/>
          <p:cNvSpPr/>
          <p:nvPr/>
        </p:nvSpPr>
        <p:spPr>
          <a:xfrm>
            <a:off x="182880" y="6519672"/>
            <a:ext cx="7955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70" dirty="0">
                <a:solidFill>
                  <a:srgbClr val="005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Ekurhuleni | INTERNAL SDI OPERATIONS REPORTING | 24 August 2026 | 15:00</a:t>
            </a:r>
            <a:endParaRPr lang="en-US" sz="570" dirty="0"/>
          </a:p>
        </p:txBody>
      </p:sp>
      <p:sp>
        <p:nvSpPr>
          <p:cNvPr id="10" name="Text 6"/>
          <p:cNvSpPr/>
          <p:nvPr/>
        </p:nvSpPr>
        <p:spPr>
          <a:xfrm>
            <a:off x="8412480" y="6519672"/>
            <a:ext cx="35661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570" i="1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570" dirty="0"/>
          </a:p>
        </p:txBody>
      </p:sp>
      <p:sp>
        <p:nvSpPr>
          <p:cNvPr id="11" name="Shape 7"/>
          <p:cNvSpPr/>
          <p:nvPr/>
        </p:nvSpPr>
        <p:spPr>
          <a:xfrm>
            <a:off x="502920" y="1645920"/>
            <a:ext cx="5120640" cy="196596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  <a:prstDash val="solid"/>
          </a:ln>
        </p:spPr>
        <p:txBody>
          <a:bodyPr/>
          <a:p/>
        </p:txBody>
      </p:sp>
      <p:sp>
        <p:nvSpPr>
          <p:cNvPr id="12" name="Shape 8"/>
          <p:cNvSpPr/>
          <p:nvPr/>
        </p:nvSpPr>
        <p:spPr>
          <a:xfrm>
            <a:off x="502920" y="1645920"/>
            <a:ext cx="5120640" cy="393192"/>
          </a:xfrm>
          <a:prstGeom prst="rect">
            <a:avLst/>
          </a:prstGeom>
          <a:solidFill>
            <a:srgbClr val="0058A8"/>
          </a:solidFill>
          <a:ln w="6350">
            <a:solidFill>
              <a:srgbClr val="0058A8"/>
            </a:solidFill>
            <a:prstDash val="solid"/>
          </a:ln>
        </p:spPr>
        <p:txBody>
          <a:bodyPr/>
          <a:p/>
        </p:txBody>
      </p:sp>
      <p:sp>
        <p:nvSpPr>
          <p:cNvPr id="13" name="Shape 9"/>
          <p:cNvSpPr/>
          <p:nvPr/>
        </p:nvSpPr>
        <p:spPr>
          <a:xfrm>
            <a:off x="502920" y="2039112"/>
            <a:ext cx="512064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  <p:txBody>
          <a:bodyPr/>
          <a:p/>
        </p:txBody>
      </p:sp>
      <p:sp>
        <p:nvSpPr>
          <p:cNvPr id="14" name="Shape 10"/>
          <p:cNvSpPr/>
          <p:nvPr/>
        </p:nvSpPr>
        <p:spPr>
          <a:xfrm>
            <a:off x="502920" y="2432304"/>
            <a:ext cx="512064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  <p:txBody>
          <a:bodyPr/>
          <a:p/>
        </p:txBody>
      </p:sp>
      <p:sp>
        <p:nvSpPr>
          <p:cNvPr id="15" name="Shape 11"/>
          <p:cNvSpPr/>
          <p:nvPr/>
        </p:nvSpPr>
        <p:spPr>
          <a:xfrm>
            <a:off x="502920" y="2825496"/>
            <a:ext cx="512064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  <p:txBody>
          <a:bodyPr/>
          <a:p/>
        </p:txBody>
      </p:sp>
      <p:sp>
        <p:nvSpPr>
          <p:cNvPr id="16" name="Shape 12"/>
          <p:cNvSpPr/>
          <p:nvPr/>
        </p:nvSpPr>
        <p:spPr>
          <a:xfrm>
            <a:off x="502920" y="3218688"/>
            <a:ext cx="512064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  <p:txBody>
          <a:bodyPr/>
          <a:p/>
        </p:txBody>
      </p:sp>
      <p:sp>
        <p:nvSpPr>
          <p:cNvPr id="17" name="Shape 13"/>
          <p:cNvSpPr/>
          <p:nvPr/>
        </p:nvSpPr>
        <p:spPr>
          <a:xfrm>
            <a:off x="2468880" y="1645920"/>
            <a:ext cx="0" cy="1965960"/>
          </a:xfrm>
          <a:prstGeom prst="line">
            <a:avLst/>
          </a:prstGeom>
          <a:noFill/>
          <a:ln w="6350">
            <a:solidFill>
              <a:srgbClr val="E1E1E1"/>
            </a:solidFill>
            <a:prstDash val="solid"/>
          </a:ln>
        </p:spPr>
        <p:txBody>
          <a:bodyPr/>
          <a:p/>
        </p:txBody>
      </p:sp>
      <p:sp>
        <p:nvSpPr>
          <p:cNvPr id="18" name="Shape 14"/>
          <p:cNvSpPr/>
          <p:nvPr/>
        </p:nvSpPr>
        <p:spPr>
          <a:xfrm>
            <a:off x="3218688" y="1645920"/>
            <a:ext cx="0" cy="1965960"/>
          </a:xfrm>
          <a:prstGeom prst="line">
            <a:avLst/>
          </a:prstGeom>
          <a:noFill/>
          <a:ln w="6350">
            <a:solidFill>
              <a:srgbClr val="E1E1E1"/>
            </a:solidFill>
            <a:prstDash val="solid"/>
          </a:ln>
        </p:spPr>
        <p:txBody>
          <a:bodyPr/>
          <a:p/>
        </p:txBody>
      </p:sp>
      <p:sp>
        <p:nvSpPr>
          <p:cNvPr id="19" name="Shape 15"/>
          <p:cNvSpPr/>
          <p:nvPr/>
        </p:nvSpPr>
        <p:spPr>
          <a:xfrm>
            <a:off x="4005072" y="1645920"/>
            <a:ext cx="0" cy="1965960"/>
          </a:xfrm>
          <a:prstGeom prst="line">
            <a:avLst/>
          </a:prstGeom>
          <a:noFill/>
          <a:ln w="6350">
            <a:solidFill>
              <a:srgbClr val="E1E1E1"/>
            </a:solidFill>
            <a:prstDash val="solid"/>
          </a:ln>
        </p:spPr>
        <p:txBody>
          <a:bodyPr/>
          <a:p/>
        </p:txBody>
      </p:sp>
      <p:sp>
        <p:nvSpPr>
          <p:cNvPr id="20" name="Shape 16"/>
          <p:cNvSpPr/>
          <p:nvPr/>
        </p:nvSpPr>
        <p:spPr>
          <a:xfrm>
            <a:off x="4791456" y="1645920"/>
            <a:ext cx="0" cy="1965960"/>
          </a:xfrm>
          <a:prstGeom prst="line">
            <a:avLst/>
          </a:prstGeom>
          <a:noFill/>
          <a:ln w="6350">
            <a:solidFill>
              <a:srgbClr val="E1E1E1"/>
            </a:solidFill>
            <a:prstDash val="solid"/>
          </a:ln>
        </p:spPr>
        <p:txBody>
          <a:bodyPr/>
          <a:p/>
        </p:txBody>
      </p:sp>
      <p:sp>
        <p:nvSpPr>
          <p:cNvPr id="21" name="Text 17"/>
          <p:cNvSpPr/>
          <p:nvPr/>
        </p:nvSpPr>
        <p:spPr>
          <a:xfrm>
            <a:off x="539496" y="1687068"/>
            <a:ext cx="1892808" cy="3383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Area</a:t>
            </a:r>
            <a:endParaRPr lang="en-US" sz="800" dirty="0"/>
          </a:p>
        </p:txBody>
      </p:sp>
      <p:sp>
        <p:nvSpPr>
          <p:cNvPr id="22" name="Text 18"/>
          <p:cNvSpPr/>
          <p:nvPr/>
        </p:nvSpPr>
        <p:spPr>
          <a:xfrm>
            <a:off x="2505456" y="1687068"/>
            <a:ext cx="676656" cy="3383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</a:t>
            </a:r>
            <a:endParaRPr lang="en-US" sz="800" dirty="0"/>
          </a:p>
        </p:txBody>
      </p:sp>
      <p:sp>
        <p:nvSpPr>
          <p:cNvPr id="23" name="Text 19"/>
          <p:cNvSpPr/>
          <p:nvPr/>
        </p:nvSpPr>
        <p:spPr>
          <a:xfrm>
            <a:off x="3255264" y="1687068"/>
            <a:ext cx="713232" cy="3383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Covered</a:t>
            </a:r>
            <a:endParaRPr lang="en-US" sz="800" dirty="0"/>
          </a:p>
        </p:txBody>
      </p:sp>
      <p:sp>
        <p:nvSpPr>
          <p:cNvPr id="24" name="Text 20"/>
          <p:cNvSpPr/>
          <p:nvPr/>
        </p:nvSpPr>
        <p:spPr>
          <a:xfrm>
            <a:off x="4041648" y="1687068"/>
            <a:ext cx="713232" cy="3383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Missing</a:t>
            </a:r>
            <a:endParaRPr lang="en-US" sz="800" dirty="0"/>
          </a:p>
        </p:txBody>
      </p:sp>
      <p:sp>
        <p:nvSpPr>
          <p:cNvPr id="25" name="Text 21"/>
          <p:cNvSpPr/>
          <p:nvPr/>
        </p:nvSpPr>
        <p:spPr>
          <a:xfrm>
            <a:off x="4828032" y="1687068"/>
            <a:ext cx="758952" cy="3383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</a:t>
            </a:r>
            <a:endParaRPr lang="en-US" sz="800" dirty="0"/>
          </a:p>
        </p:txBody>
      </p:sp>
      <p:sp>
        <p:nvSpPr>
          <p:cNvPr id="26" name="Text 22"/>
          <p:cNvSpPr/>
          <p:nvPr/>
        </p:nvSpPr>
        <p:spPr>
          <a:xfrm>
            <a:off x="539496" y="2080260"/>
            <a:ext cx="1892808" cy="3383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EAST CORRIDOR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2505456" y="2080260"/>
            <a:ext cx="676656" cy="3383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62</a:t>
            </a:r>
            <a:endParaRPr lang="en-US" sz="800" dirty="0"/>
          </a:p>
        </p:txBody>
      </p:sp>
      <p:sp>
        <p:nvSpPr>
          <p:cNvPr id="28" name="Text 24"/>
          <p:cNvSpPr/>
          <p:nvPr/>
        </p:nvSpPr>
        <p:spPr>
          <a:xfrm>
            <a:off x="3255264" y="2080260"/>
            <a:ext cx="713232" cy="3383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800" dirty="0"/>
          </a:p>
        </p:txBody>
      </p:sp>
      <p:sp>
        <p:nvSpPr>
          <p:cNvPr id="29" name="Text 25"/>
          <p:cNvSpPr/>
          <p:nvPr/>
        </p:nvSpPr>
        <p:spPr>
          <a:xfrm>
            <a:off x="4041648" y="2080260"/>
            <a:ext cx="713232" cy="3383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</a:t>
            </a:r>
            <a:endParaRPr lang="en-US" sz="800" dirty="0"/>
          </a:p>
        </p:txBody>
      </p:sp>
      <p:sp>
        <p:nvSpPr>
          <p:cNvPr id="30" name="Text 26"/>
          <p:cNvSpPr/>
          <p:nvPr/>
        </p:nvSpPr>
        <p:spPr>
          <a:xfrm>
            <a:off x="4828032" y="2080260"/>
            <a:ext cx="758952" cy="3383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17.7%</a:t>
            </a:r>
            <a:endParaRPr lang="en-US" sz="800" dirty="0"/>
          </a:p>
        </p:txBody>
      </p:sp>
      <p:sp>
        <p:nvSpPr>
          <p:cNvPr id="31" name="Text 27"/>
          <p:cNvSpPr/>
          <p:nvPr/>
        </p:nvSpPr>
        <p:spPr>
          <a:xfrm>
            <a:off x="539496" y="2473452"/>
            <a:ext cx="1892808" cy="3383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SOUTH EAST CORRIDOR</a:t>
            </a:r>
            <a:endParaRPr lang="en-US" sz="800" dirty="0"/>
          </a:p>
        </p:txBody>
      </p:sp>
      <p:sp>
        <p:nvSpPr>
          <p:cNvPr id="32" name="Text 28"/>
          <p:cNvSpPr/>
          <p:nvPr/>
        </p:nvSpPr>
        <p:spPr>
          <a:xfrm>
            <a:off x="2505456" y="2473452"/>
            <a:ext cx="676656" cy="3383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800" dirty="0"/>
          </a:p>
        </p:txBody>
      </p:sp>
      <p:sp>
        <p:nvSpPr>
          <p:cNvPr id="33" name="Text 29"/>
          <p:cNvSpPr/>
          <p:nvPr/>
        </p:nvSpPr>
        <p:spPr>
          <a:xfrm>
            <a:off x="3255264" y="2473452"/>
            <a:ext cx="713232" cy="3383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  <p:sp>
        <p:nvSpPr>
          <p:cNvPr id="34" name="Text 30"/>
          <p:cNvSpPr/>
          <p:nvPr/>
        </p:nvSpPr>
        <p:spPr>
          <a:xfrm>
            <a:off x="4041648" y="2473452"/>
            <a:ext cx="713232" cy="3383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</a:t>
            </a:r>
            <a:endParaRPr lang="en-US" sz="800" dirty="0"/>
          </a:p>
        </p:txBody>
      </p:sp>
      <p:sp>
        <p:nvSpPr>
          <p:cNvPr id="35" name="Text 31"/>
          <p:cNvSpPr/>
          <p:nvPr/>
        </p:nvSpPr>
        <p:spPr>
          <a:xfrm>
            <a:off x="4828032" y="2473452"/>
            <a:ext cx="758952" cy="3383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18.0%</a:t>
            </a:r>
            <a:endParaRPr lang="en-US" sz="800" dirty="0"/>
          </a:p>
        </p:txBody>
      </p:sp>
      <p:sp>
        <p:nvSpPr>
          <p:cNvPr id="36" name="Text 32"/>
          <p:cNvSpPr/>
          <p:nvPr/>
        </p:nvSpPr>
        <p:spPr>
          <a:xfrm>
            <a:off x="539496" y="2866644"/>
            <a:ext cx="1892808" cy="3383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</a:t>
            </a:r>
            <a:endParaRPr lang="en-US" sz="800" dirty="0"/>
          </a:p>
        </p:txBody>
      </p:sp>
      <p:sp>
        <p:nvSpPr>
          <p:cNvPr id="37" name="Text 33"/>
          <p:cNvSpPr/>
          <p:nvPr/>
        </p:nvSpPr>
        <p:spPr>
          <a:xfrm>
            <a:off x="2505456" y="2866644"/>
            <a:ext cx="676656" cy="3383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112</a:t>
            </a:r>
            <a:endParaRPr lang="en-US" sz="800" dirty="0"/>
          </a:p>
        </p:txBody>
      </p:sp>
      <p:sp>
        <p:nvSpPr>
          <p:cNvPr id="38" name="Text 34"/>
          <p:cNvSpPr/>
          <p:nvPr/>
        </p:nvSpPr>
        <p:spPr>
          <a:xfrm>
            <a:off x="3255264" y="2866644"/>
            <a:ext cx="713232" cy="3383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800" dirty="0"/>
          </a:p>
        </p:txBody>
      </p:sp>
      <p:sp>
        <p:nvSpPr>
          <p:cNvPr id="39" name="Text 35"/>
          <p:cNvSpPr/>
          <p:nvPr/>
        </p:nvSpPr>
        <p:spPr>
          <a:xfrm>
            <a:off x="4041648" y="2866644"/>
            <a:ext cx="713232" cy="3383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92</a:t>
            </a:r>
            <a:endParaRPr lang="en-US" sz="800" dirty="0"/>
          </a:p>
        </p:txBody>
      </p:sp>
      <p:sp>
        <p:nvSpPr>
          <p:cNvPr id="40" name="Text 36"/>
          <p:cNvSpPr/>
          <p:nvPr/>
        </p:nvSpPr>
        <p:spPr>
          <a:xfrm>
            <a:off x="4828032" y="2866644"/>
            <a:ext cx="758952" cy="3383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17.9%</a:t>
            </a:r>
            <a:endParaRPr lang="en-US" sz="800" dirty="0"/>
          </a:p>
        </p:txBody>
      </p:sp>
      <p:sp>
        <p:nvSpPr>
          <p:cNvPr id="41" name="Text 37"/>
          <p:cNvSpPr/>
          <p:nvPr/>
        </p:nvSpPr>
        <p:spPr>
          <a:xfrm>
            <a:off x="539496" y="3259836"/>
            <a:ext cx="1892808" cy="3383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Validation</a:t>
            </a:r>
            <a:endParaRPr lang="en-US" sz="800" dirty="0"/>
          </a:p>
        </p:txBody>
      </p:sp>
      <p:sp>
        <p:nvSpPr>
          <p:cNvPr id="42" name="Text 38"/>
          <p:cNvSpPr/>
          <p:nvPr/>
        </p:nvSpPr>
        <p:spPr>
          <a:xfrm>
            <a:off x="2505456" y="3259836"/>
            <a:ext cx="676656" cy="3383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112</a:t>
            </a:r>
            <a:endParaRPr lang="en-US" sz="800" dirty="0"/>
          </a:p>
        </p:txBody>
      </p:sp>
      <p:sp>
        <p:nvSpPr>
          <p:cNvPr id="43" name="Text 39"/>
          <p:cNvSpPr/>
          <p:nvPr/>
        </p:nvSpPr>
        <p:spPr>
          <a:xfrm>
            <a:off x="3255264" y="3259836"/>
            <a:ext cx="713232" cy="3383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111</a:t>
            </a:r>
            <a:endParaRPr lang="en-US" sz="800" dirty="0"/>
          </a:p>
        </p:txBody>
      </p:sp>
      <p:sp>
        <p:nvSpPr>
          <p:cNvPr id="44" name="Text 40"/>
          <p:cNvSpPr/>
          <p:nvPr/>
        </p:nvSpPr>
        <p:spPr>
          <a:xfrm>
            <a:off x="4041648" y="3259836"/>
            <a:ext cx="713232" cy="3383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  <p:sp>
        <p:nvSpPr>
          <p:cNvPr id="45" name="Text 41"/>
          <p:cNvSpPr/>
          <p:nvPr/>
        </p:nvSpPr>
        <p:spPr>
          <a:xfrm>
            <a:off x="4828032" y="3259836"/>
            <a:ext cx="758952" cy="3383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111 unique / 112 listed</a:t>
            </a:r>
            <a:endParaRPr lang="en-US" sz="800" dirty="0"/>
          </a:p>
        </p:txBody>
      </p:sp>
      <p:sp>
        <p:nvSpPr>
          <p:cNvPr id="46" name="Shape 42"/>
          <p:cNvSpPr/>
          <p:nvPr/>
        </p:nvSpPr>
        <p:spPr>
          <a:xfrm>
            <a:off x="5989320" y="1645920"/>
            <a:ext cx="5440680" cy="1965960"/>
          </a:xfrm>
          <a:prstGeom prst="rect">
            <a:avLst/>
          </a:prstGeom>
          <a:solidFill>
            <a:srgbClr val="F8FAFC"/>
          </a:solidFill>
          <a:ln w="11430">
            <a:solidFill>
              <a:srgbClr val="D9E2F3"/>
            </a:solidFill>
            <a:prstDash val="solid"/>
          </a:ln>
        </p:spPr>
        <p:txBody>
          <a:bodyPr/>
          <a:p/>
        </p:txBody>
      </p:sp>
      <p:sp>
        <p:nvSpPr>
          <p:cNvPr id="47" name="Text 43"/>
          <p:cNvSpPr/>
          <p:nvPr/>
        </p:nvSpPr>
        <p:spPr>
          <a:xfrm>
            <a:off x="6153912" y="1755648"/>
            <a:ext cx="51114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80" b="1" dirty="0">
                <a:solidFill>
                  <a:srgbClr val="005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Covered vs missing wards by area</a:t>
            </a:r>
            <a:endParaRPr lang="en-US" sz="1080" dirty="0"/>
          </a:p>
        </p:txBody>
      </p:sp>
      <p:sp>
        <p:nvSpPr>
          <p:cNvPr id="53" name="Shape 49"/>
          <p:cNvSpPr/>
          <p:nvPr/>
        </p:nvSpPr>
        <p:spPr>
          <a:xfrm>
            <a:off x="6217920" y="3108960"/>
            <a:ext cx="5029200" cy="0"/>
          </a:xfrm>
          <a:prstGeom prst="line">
            <a:avLst/>
          </a:prstGeom>
          <a:noFill/>
          <a:ln w="6350">
            <a:solidFill>
              <a:srgbClr val="A6A6A6"/>
            </a:solidFill>
            <a:prstDash val="solid"/>
          </a:ln>
        </p:spPr>
        <p:txBody>
          <a:bodyPr/>
          <a:p/>
        </p:txBody>
      </p:sp>
      <p:sp>
        <p:nvSpPr>
          <p:cNvPr id="54" name="Text 50"/>
          <p:cNvSpPr/>
          <p:nvPr/>
        </p:nvSpPr>
        <p:spPr>
          <a:xfrm>
            <a:off x="6153912" y="3337560"/>
            <a:ext cx="51114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i="1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660" dirty="0"/>
          </a:p>
        </p:txBody>
      </p:sp>
      <p:sp>
        <p:nvSpPr>
          <p:cNvPr id="55" name="Shape 51"/>
          <p:cNvSpPr/>
          <p:nvPr/>
        </p:nvSpPr>
        <p:spPr>
          <a:xfrm>
            <a:off x="502920" y="3886200"/>
            <a:ext cx="5120640" cy="1600200"/>
          </a:xfrm>
          <a:prstGeom prst="rect">
            <a:avLst/>
          </a:prstGeom>
          <a:solidFill>
            <a:srgbClr val="EAF3FB"/>
          </a:solidFill>
          <a:ln w="10160">
            <a:solidFill>
              <a:srgbClr val="D9E2F3"/>
            </a:solidFill>
            <a:prstDash val="solid"/>
          </a:ln>
        </p:spPr>
        <p:txBody>
          <a:bodyPr/>
          <a:p/>
        </p:txBody>
      </p:sp>
      <p:sp>
        <p:nvSpPr>
          <p:cNvPr id="56" name="Text 52"/>
          <p:cNvSpPr/>
          <p:nvPr/>
        </p:nvSpPr>
        <p:spPr>
          <a:xfrm>
            <a:off x="630936" y="3977640"/>
            <a:ext cx="4864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40" b="1" dirty="0">
                <a:solidFill>
                  <a:srgbClr val="005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Interpretation</a:t>
            </a:r>
            <a:endParaRPr lang="en-US" sz="1140" dirty="0"/>
          </a:p>
        </p:txBody>
      </p:sp>
      <p:sp>
        <p:nvSpPr>
          <p:cNvPr id="57" name="Text 53"/>
          <p:cNvSpPr/>
          <p:nvPr/>
        </p:nvSpPr>
        <p:spPr>
          <a:xfrm>
            <a:off x="630936" y="4270248"/>
            <a:ext cx="4864608" cy="11430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Selected-day coverage: 20 of 112 listed ward allocations were covered across North East and South East. Cumulative progress remains 20/112; master validation: 111 unique ward numbers and 1 observed ward numbers outside the master.</a:t>
            </a:r>
            <a:endParaRPr lang="en-US" sz="960" dirty="0"/>
          </a:p>
        </p:txBody>
      </p:sp>
      <p:sp>
        <p:nvSpPr>
          <p:cNvPr id="58" name="Shape 54"/>
          <p:cNvSpPr/>
          <p:nvPr/>
        </p:nvSpPr>
        <p:spPr>
          <a:xfrm>
            <a:off x="5989320" y="3886200"/>
            <a:ext cx="5440680" cy="1600200"/>
          </a:xfrm>
          <a:prstGeom prst="rect">
            <a:avLst/>
          </a:prstGeom>
          <a:solidFill>
            <a:srgbClr val="EAF3FB"/>
          </a:solidFill>
          <a:ln w="10160">
            <a:solidFill>
              <a:srgbClr val="D9E2F3"/>
            </a:solidFill>
            <a:prstDash val="solid"/>
          </a:ln>
        </p:spPr>
        <p:txBody>
          <a:bodyPr/>
          <a:p/>
        </p:txBody>
      </p:sp>
      <p:sp>
        <p:nvSpPr>
          <p:cNvPr id="59" name="Text 55"/>
          <p:cNvSpPr/>
          <p:nvPr/>
        </p:nvSpPr>
        <p:spPr>
          <a:xfrm>
            <a:off x="6117336" y="3977640"/>
            <a:ext cx="51846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40" b="1" dirty="0">
                <a:solidFill>
                  <a:srgbClr val="005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Call-list link</a:t>
            </a:r>
            <a:endParaRPr lang="en-US" sz="1140" dirty="0"/>
          </a:p>
        </p:txBody>
      </p:sp>
      <p:sp>
        <p:nvSpPr>
          <p:cNvPr id="60" name="Text 56"/>
          <p:cNvSpPr/>
          <p:nvPr/>
        </p:nvSpPr>
        <p:spPr>
          <a:xfrm>
            <a:off x="6117336" y="4270248"/>
            <a:ext cx="5184648" cy="11430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addendum contains the ward evidence and validation trail.</a:t>
            </a:r>
            <a:endParaRPr lang="en-US" sz="960" dirty="0"/>
          </a:p>
        </p:txBody>
      </p:sp>
      <p:graphicFrame>
        <p:nvGraphicFramePr>
          <p:cNvPr id="61" name="Chart 60"/>
          <p:cNvGraphicFramePr>
            <a:graphicFrameLocks noGrp="1"/>
          </p:cNvGraphicFramePr>
          <p:nvPr/>
        </p:nvGraphicFramePr>
        <p:xfrm>
          <a:off x="6144768" y="2240280"/>
          <a:ext cx="5166360" cy="1783080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gauteng_logo_le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592" y="73152"/>
            <a:ext cx="2788920" cy="786384"/>
          </a:xfrm>
          <a:prstGeom prst="rect">
            <a:avLst/>
          </a:prstGeom>
        </p:spPr>
      </p:pic>
      <p:pic>
        <p:nvPicPr>
          <p:cNvPr id="3" name="Image 1" descr="/mnt/data/ggt2030_logo_r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09728"/>
            <a:ext cx="2057400" cy="566928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164592" y="941832"/>
            <a:ext cx="11859768" cy="393192"/>
          </a:xfrm>
          <a:prstGeom prst="rect">
            <a:avLst/>
          </a:prstGeom>
          <a:solidFill>
            <a:srgbClr val="0058A8"/>
          </a:solidFill>
          <a:ln w="12700">
            <a:solidFill>
              <a:srgbClr val="0058A8"/>
            </a:solidFill>
            <a:prstDash val="solid"/>
          </a:ln>
        </p:spPr>
        <p:txBody>
          <a:bodyPr/>
          <a:p/>
        </p:txBody>
      </p:sp>
      <p:sp>
        <p:nvSpPr>
          <p:cNvPr id="5" name="Text 1"/>
          <p:cNvSpPr/>
          <p:nvPr/>
        </p:nvSpPr>
        <p:spPr>
          <a:xfrm>
            <a:off x="320040" y="1005840"/>
            <a:ext cx="9098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CHANNEL AND TIME COVERAGE</a:t>
            </a:r>
            <a:endParaRPr lang="en-US" sz="1300" dirty="0"/>
          </a:p>
        </p:txBody>
      </p:sp>
      <p:sp>
        <p:nvSpPr>
          <p:cNvPr id="6" name="Shape 2"/>
          <p:cNvSpPr/>
          <p:nvPr/>
        </p:nvSpPr>
        <p:spPr>
          <a:xfrm>
            <a:off x="10378440" y="987552"/>
            <a:ext cx="1417320" cy="265176"/>
          </a:xfrm>
          <a:prstGeom prst="rect">
            <a:avLst/>
          </a:prstGeom>
          <a:solidFill>
            <a:srgbClr val="FFC000"/>
          </a:solidFill>
          <a:ln w="12700">
            <a:solidFill>
              <a:srgbClr val="FFC000"/>
            </a:solidFill>
            <a:prstDash val="solid"/>
          </a:ln>
        </p:spPr>
        <p:txBody>
          <a:bodyPr/>
          <a:p/>
        </p:txBody>
      </p:sp>
      <p:sp>
        <p:nvSpPr>
          <p:cNvPr id="7" name="Text 3"/>
          <p:cNvSpPr/>
          <p:nvPr/>
        </p:nvSpPr>
        <p:spPr>
          <a:xfrm>
            <a:off x="10378440" y="1028700"/>
            <a:ext cx="1417320" cy="164592"/>
          </a:xfrm>
          <a:prstGeom prst="rect">
            <a:avLst/>
          </a:prstGeom>
          <a:solidFill>
            <a:srgbClr val="FFC00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AMBER</a:t>
            </a:r>
            <a:endParaRPr lang="en-US" sz="850" dirty="0"/>
          </a:p>
        </p:txBody>
      </p:sp>
      <p:sp>
        <p:nvSpPr>
          <p:cNvPr id="8" name="Shape 4"/>
          <p:cNvSpPr/>
          <p:nvPr/>
        </p:nvSpPr>
        <p:spPr>
          <a:xfrm>
            <a:off x="164592" y="6446520"/>
            <a:ext cx="11841480" cy="0"/>
          </a:xfrm>
          <a:prstGeom prst="line">
            <a:avLst/>
          </a:prstGeom>
          <a:noFill/>
          <a:ln w="12700">
            <a:solidFill>
              <a:srgbClr val="0058A8"/>
            </a:solidFill>
            <a:prstDash val="solid"/>
          </a:ln>
        </p:spPr>
        <p:txBody>
          <a:bodyPr/>
          <a:p/>
        </p:txBody>
      </p:sp>
      <p:sp>
        <p:nvSpPr>
          <p:cNvPr id="9" name="Text 5"/>
          <p:cNvSpPr/>
          <p:nvPr/>
        </p:nvSpPr>
        <p:spPr>
          <a:xfrm>
            <a:off x="182880" y="6519672"/>
            <a:ext cx="7955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70" dirty="0">
                <a:solidFill>
                  <a:srgbClr val="005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Ekurhuleni | INTERNAL SDI OPERATIONS REPORTING | 24 August 2026 | 15:00</a:t>
            </a:r>
            <a:endParaRPr lang="en-US" sz="570" dirty="0"/>
          </a:p>
        </p:txBody>
      </p:sp>
      <p:sp>
        <p:nvSpPr>
          <p:cNvPr id="10" name="Text 6"/>
          <p:cNvSpPr/>
          <p:nvPr/>
        </p:nvSpPr>
        <p:spPr>
          <a:xfrm>
            <a:off x="8412480" y="6519672"/>
            <a:ext cx="35661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570" i="1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570" dirty="0"/>
          </a:p>
        </p:txBody>
      </p:sp>
      <p:sp>
        <p:nvSpPr>
          <p:cNvPr id="11" name="Shape 7"/>
          <p:cNvSpPr/>
          <p:nvPr/>
        </p:nvSpPr>
        <p:spPr>
          <a:xfrm>
            <a:off x="502920" y="1645920"/>
            <a:ext cx="5532120" cy="196596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  <a:prstDash val="solid"/>
          </a:ln>
        </p:spPr>
        <p:txBody>
          <a:bodyPr/>
          <a:p/>
        </p:txBody>
      </p:sp>
      <p:sp>
        <p:nvSpPr>
          <p:cNvPr id="12" name="Shape 8"/>
          <p:cNvSpPr/>
          <p:nvPr/>
        </p:nvSpPr>
        <p:spPr>
          <a:xfrm>
            <a:off x="502920" y="1645920"/>
            <a:ext cx="5532120" cy="393192"/>
          </a:xfrm>
          <a:prstGeom prst="rect">
            <a:avLst/>
          </a:prstGeom>
          <a:solidFill>
            <a:srgbClr val="0058A8"/>
          </a:solidFill>
          <a:ln w="6350">
            <a:solidFill>
              <a:srgbClr val="0058A8"/>
            </a:solidFill>
            <a:prstDash val="solid"/>
          </a:ln>
        </p:spPr>
        <p:txBody>
          <a:bodyPr/>
          <a:p/>
        </p:txBody>
      </p:sp>
      <p:sp>
        <p:nvSpPr>
          <p:cNvPr id="13" name="Shape 9"/>
          <p:cNvSpPr/>
          <p:nvPr/>
        </p:nvSpPr>
        <p:spPr>
          <a:xfrm>
            <a:off x="502920" y="2039112"/>
            <a:ext cx="553212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  <p:txBody>
          <a:bodyPr/>
          <a:p/>
        </p:txBody>
      </p:sp>
      <p:sp>
        <p:nvSpPr>
          <p:cNvPr id="14" name="Shape 10"/>
          <p:cNvSpPr/>
          <p:nvPr/>
        </p:nvSpPr>
        <p:spPr>
          <a:xfrm>
            <a:off x="502920" y="2432304"/>
            <a:ext cx="553212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  <p:txBody>
          <a:bodyPr/>
          <a:p/>
        </p:txBody>
      </p:sp>
      <p:sp>
        <p:nvSpPr>
          <p:cNvPr id="15" name="Shape 11"/>
          <p:cNvSpPr/>
          <p:nvPr/>
        </p:nvSpPr>
        <p:spPr>
          <a:xfrm>
            <a:off x="502920" y="2825496"/>
            <a:ext cx="553212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  <p:txBody>
          <a:bodyPr/>
          <a:p/>
        </p:txBody>
      </p:sp>
      <p:sp>
        <p:nvSpPr>
          <p:cNvPr id="16" name="Shape 12"/>
          <p:cNvSpPr/>
          <p:nvPr/>
        </p:nvSpPr>
        <p:spPr>
          <a:xfrm>
            <a:off x="502920" y="3218688"/>
            <a:ext cx="553212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  <p:txBody>
          <a:bodyPr/>
          <a:p/>
        </p:txBody>
      </p:sp>
      <p:sp>
        <p:nvSpPr>
          <p:cNvPr id="17" name="Shape 13"/>
          <p:cNvSpPr/>
          <p:nvPr/>
        </p:nvSpPr>
        <p:spPr>
          <a:xfrm>
            <a:off x="1645920" y="1645920"/>
            <a:ext cx="0" cy="1965960"/>
          </a:xfrm>
          <a:prstGeom prst="line">
            <a:avLst/>
          </a:prstGeom>
          <a:noFill/>
          <a:ln w="6350">
            <a:solidFill>
              <a:srgbClr val="E1E1E1"/>
            </a:solidFill>
            <a:prstDash val="solid"/>
          </a:ln>
        </p:spPr>
        <p:txBody>
          <a:bodyPr/>
          <a:p/>
        </p:txBody>
      </p:sp>
      <p:sp>
        <p:nvSpPr>
          <p:cNvPr id="18" name="Shape 14"/>
          <p:cNvSpPr/>
          <p:nvPr/>
        </p:nvSpPr>
        <p:spPr>
          <a:xfrm>
            <a:off x="2377440" y="1645920"/>
            <a:ext cx="0" cy="1965960"/>
          </a:xfrm>
          <a:prstGeom prst="line">
            <a:avLst/>
          </a:prstGeom>
          <a:noFill/>
          <a:ln w="6350">
            <a:solidFill>
              <a:srgbClr val="E1E1E1"/>
            </a:solidFill>
            <a:prstDash val="solid"/>
          </a:ln>
        </p:spPr>
        <p:txBody>
          <a:bodyPr/>
          <a:p/>
        </p:txBody>
      </p:sp>
      <p:sp>
        <p:nvSpPr>
          <p:cNvPr id="19" name="Shape 15"/>
          <p:cNvSpPr/>
          <p:nvPr/>
        </p:nvSpPr>
        <p:spPr>
          <a:xfrm>
            <a:off x="2971800" y="1645920"/>
            <a:ext cx="0" cy="1965960"/>
          </a:xfrm>
          <a:prstGeom prst="line">
            <a:avLst/>
          </a:prstGeom>
          <a:noFill/>
          <a:ln w="6350">
            <a:solidFill>
              <a:srgbClr val="E1E1E1"/>
            </a:solidFill>
            <a:prstDash val="solid"/>
          </a:ln>
        </p:spPr>
        <p:txBody>
          <a:bodyPr/>
          <a:p/>
        </p:txBody>
      </p:sp>
      <p:sp>
        <p:nvSpPr>
          <p:cNvPr id="20" name="Shape 16"/>
          <p:cNvSpPr/>
          <p:nvPr/>
        </p:nvSpPr>
        <p:spPr>
          <a:xfrm>
            <a:off x="3794760" y="1645920"/>
            <a:ext cx="0" cy="1965960"/>
          </a:xfrm>
          <a:prstGeom prst="line">
            <a:avLst/>
          </a:prstGeom>
          <a:noFill/>
          <a:ln w="6350">
            <a:solidFill>
              <a:srgbClr val="E1E1E1"/>
            </a:solidFill>
            <a:prstDash val="solid"/>
          </a:ln>
        </p:spPr>
        <p:txBody>
          <a:bodyPr/>
          <a:p/>
        </p:txBody>
      </p:sp>
      <p:sp>
        <p:nvSpPr>
          <p:cNvPr id="21" name="Text 17"/>
          <p:cNvSpPr/>
          <p:nvPr/>
        </p:nvSpPr>
        <p:spPr>
          <a:xfrm>
            <a:off x="539496" y="1687068"/>
            <a:ext cx="1069848" cy="3383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Channel</a:t>
            </a:r>
            <a:endParaRPr lang="en-US" sz="750" dirty="0"/>
          </a:p>
        </p:txBody>
      </p:sp>
      <p:sp>
        <p:nvSpPr>
          <p:cNvPr id="22" name="Text 18"/>
          <p:cNvSpPr/>
          <p:nvPr/>
        </p:nvSpPr>
        <p:spPr>
          <a:xfrm>
            <a:off x="1682496" y="1687068"/>
            <a:ext cx="658368" cy="3383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Cases</a:t>
            </a:r>
            <a:endParaRPr lang="en-US" sz="750" dirty="0"/>
          </a:p>
        </p:txBody>
      </p:sp>
      <p:sp>
        <p:nvSpPr>
          <p:cNvPr id="23" name="Text 19"/>
          <p:cNvSpPr/>
          <p:nvPr/>
        </p:nvSpPr>
        <p:spPr>
          <a:xfrm>
            <a:off x="2414016" y="1687068"/>
            <a:ext cx="521208" cy="3383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</a:t>
            </a:r>
            <a:endParaRPr lang="en-US" sz="750" dirty="0"/>
          </a:p>
        </p:txBody>
      </p:sp>
      <p:sp>
        <p:nvSpPr>
          <p:cNvPr id="24" name="Text 20"/>
          <p:cNvSpPr/>
          <p:nvPr/>
        </p:nvSpPr>
        <p:spPr>
          <a:xfrm>
            <a:off x="3008376" y="1687068"/>
            <a:ext cx="749808" cy="3383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wards</a:t>
            </a:r>
            <a:endParaRPr lang="en-US" sz="750" dirty="0"/>
          </a:p>
        </p:txBody>
      </p:sp>
      <p:sp>
        <p:nvSpPr>
          <p:cNvPr id="25" name="Text 21"/>
          <p:cNvSpPr/>
          <p:nvPr/>
        </p:nvSpPr>
        <p:spPr>
          <a:xfrm>
            <a:off x="3831336" y="1687068"/>
            <a:ext cx="2167128" cy="3383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Quality note</a:t>
            </a:r>
            <a:endParaRPr lang="en-US" sz="750" dirty="0"/>
          </a:p>
        </p:txBody>
      </p:sp>
      <p:sp>
        <p:nvSpPr>
          <p:cNvPr id="26" name="Text 22"/>
          <p:cNvSpPr/>
          <p:nvPr/>
        </p:nvSpPr>
        <p:spPr>
          <a:xfrm>
            <a:off x="539496" y="2080260"/>
            <a:ext cx="1069848" cy="3383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Outbound Call</a:t>
            </a:r>
            <a:endParaRPr lang="en-US" sz="750" dirty="0"/>
          </a:p>
        </p:txBody>
      </p:sp>
      <p:sp>
        <p:nvSpPr>
          <p:cNvPr id="27" name="Text 23"/>
          <p:cNvSpPr/>
          <p:nvPr/>
        </p:nvSpPr>
        <p:spPr>
          <a:xfrm>
            <a:off x="1682496" y="2080260"/>
            <a:ext cx="658368" cy="3383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</a:t>
            </a:r>
            <a:endParaRPr lang="en-US" sz="750" dirty="0"/>
          </a:p>
        </p:txBody>
      </p:sp>
      <p:sp>
        <p:nvSpPr>
          <p:cNvPr id="28" name="Text 24"/>
          <p:cNvSpPr/>
          <p:nvPr/>
        </p:nvSpPr>
        <p:spPr>
          <a:xfrm>
            <a:off x="2414016" y="2080260"/>
            <a:ext cx="521208" cy="3383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100.0%</a:t>
            </a:r>
            <a:endParaRPr lang="en-US" sz="750" dirty="0"/>
          </a:p>
        </p:txBody>
      </p:sp>
      <p:sp>
        <p:nvSpPr>
          <p:cNvPr id="29" name="Text 25"/>
          <p:cNvSpPr/>
          <p:nvPr/>
        </p:nvSpPr>
        <p:spPr>
          <a:xfrm>
            <a:off x="3008376" y="2080260"/>
            <a:ext cx="749808" cy="3383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750" dirty="0"/>
          </a:p>
        </p:txBody>
      </p:sp>
      <p:sp>
        <p:nvSpPr>
          <p:cNvPr id="30" name="Text 26"/>
          <p:cNvSpPr/>
          <p:nvPr/>
        </p:nvSpPr>
        <p:spPr>
          <a:xfrm>
            <a:off x="3831336" y="2080260"/>
            <a:ext cx="2167128" cy="3383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Demand concentration</a:t>
            </a:r>
            <a:endParaRPr lang="en-US" sz="750" dirty="0"/>
          </a:p>
        </p:txBody>
      </p:sp>
      <p:sp>
        <p:nvSpPr>
          <p:cNvPr id="31" name="Text 27"/>
          <p:cNvSpPr/>
          <p:nvPr/>
        </p:nvSpPr>
        <p:spPr>
          <a:xfrm>
            <a:off x="539496" y="2473452"/>
            <a:ext cx="1069848" cy="3383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750" dirty="0"/>
          </a:p>
        </p:txBody>
      </p:sp>
      <p:sp>
        <p:nvSpPr>
          <p:cNvPr id="32" name="Text 28"/>
          <p:cNvSpPr/>
          <p:nvPr/>
        </p:nvSpPr>
        <p:spPr>
          <a:xfrm>
            <a:off x="1682496" y="2473452"/>
            <a:ext cx="658368" cy="3383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750" dirty="0"/>
          </a:p>
        </p:txBody>
      </p:sp>
      <p:sp>
        <p:nvSpPr>
          <p:cNvPr id="33" name="Text 29"/>
          <p:cNvSpPr/>
          <p:nvPr/>
        </p:nvSpPr>
        <p:spPr>
          <a:xfrm>
            <a:off x="2414016" y="2473452"/>
            <a:ext cx="521208" cy="3383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0%</a:t>
            </a:r>
            <a:endParaRPr lang="en-US" sz="750" dirty="0"/>
          </a:p>
        </p:txBody>
      </p:sp>
      <p:sp>
        <p:nvSpPr>
          <p:cNvPr id="34" name="Text 30"/>
          <p:cNvSpPr/>
          <p:nvPr/>
        </p:nvSpPr>
        <p:spPr>
          <a:xfrm>
            <a:off x="3008376" y="2473452"/>
            <a:ext cx="749808" cy="3383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750" dirty="0"/>
          </a:p>
        </p:txBody>
      </p:sp>
      <p:sp>
        <p:nvSpPr>
          <p:cNvPr id="35" name="Text 31"/>
          <p:cNvSpPr/>
          <p:nvPr/>
        </p:nvSpPr>
        <p:spPr>
          <a:xfrm>
            <a:off x="3831336" y="2473452"/>
            <a:ext cx="2167128" cy="3383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750" dirty="0"/>
          </a:p>
        </p:txBody>
      </p:sp>
      <p:sp>
        <p:nvSpPr>
          <p:cNvPr id="36" name="Text 32"/>
          <p:cNvSpPr/>
          <p:nvPr/>
        </p:nvSpPr>
        <p:spPr>
          <a:xfrm>
            <a:off x="539496" y="2866644"/>
            <a:ext cx="1069848" cy="3383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750" dirty="0"/>
          </a:p>
        </p:txBody>
      </p:sp>
      <p:sp>
        <p:nvSpPr>
          <p:cNvPr id="37" name="Text 33"/>
          <p:cNvSpPr/>
          <p:nvPr/>
        </p:nvSpPr>
        <p:spPr>
          <a:xfrm>
            <a:off x="1682496" y="2866644"/>
            <a:ext cx="658368" cy="3383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750" dirty="0"/>
          </a:p>
        </p:txBody>
      </p:sp>
      <p:sp>
        <p:nvSpPr>
          <p:cNvPr id="38" name="Text 34"/>
          <p:cNvSpPr/>
          <p:nvPr/>
        </p:nvSpPr>
        <p:spPr>
          <a:xfrm>
            <a:off x="2414016" y="2866644"/>
            <a:ext cx="521208" cy="3383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0%</a:t>
            </a:r>
            <a:endParaRPr lang="en-US" sz="750" dirty="0"/>
          </a:p>
        </p:txBody>
      </p:sp>
      <p:sp>
        <p:nvSpPr>
          <p:cNvPr id="39" name="Text 35"/>
          <p:cNvSpPr/>
          <p:nvPr/>
        </p:nvSpPr>
        <p:spPr>
          <a:xfrm>
            <a:off x="3008376" y="2866644"/>
            <a:ext cx="749808" cy="3383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750" dirty="0"/>
          </a:p>
        </p:txBody>
      </p:sp>
      <p:sp>
        <p:nvSpPr>
          <p:cNvPr id="40" name="Text 36"/>
          <p:cNvSpPr/>
          <p:nvPr/>
        </p:nvSpPr>
        <p:spPr>
          <a:xfrm>
            <a:off x="3831336" y="2866644"/>
            <a:ext cx="2167128" cy="3383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750" dirty="0"/>
          </a:p>
        </p:txBody>
      </p:sp>
      <p:sp>
        <p:nvSpPr>
          <p:cNvPr id="41" name="Text 37"/>
          <p:cNvSpPr/>
          <p:nvPr/>
        </p:nvSpPr>
        <p:spPr>
          <a:xfrm>
            <a:off x="539496" y="3259836"/>
            <a:ext cx="1069848" cy="3383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750" dirty="0"/>
          </a:p>
        </p:txBody>
      </p:sp>
      <p:sp>
        <p:nvSpPr>
          <p:cNvPr id="42" name="Text 38"/>
          <p:cNvSpPr/>
          <p:nvPr/>
        </p:nvSpPr>
        <p:spPr>
          <a:xfrm>
            <a:off x="1682496" y="3259836"/>
            <a:ext cx="658368" cy="3383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750" dirty="0"/>
          </a:p>
        </p:txBody>
      </p:sp>
      <p:sp>
        <p:nvSpPr>
          <p:cNvPr id="43" name="Text 39"/>
          <p:cNvSpPr/>
          <p:nvPr/>
        </p:nvSpPr>
        <p:spPr>
          <a:xfrm>
            <a:off x="2414016" y="3259836"/>
            <a:ext cx="521208" cy="3383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0%</a:t>
            </a:r>
            <a:endParaRPr lang="en-US" sz="750" dirty="0"/>
          </a:p>
        </p:txBody>
      </p:sp>
      <p:sp>
        <p:nvSpPr>
          <p:cNvPr id="44" name="Text 40"/>
          <p:cNvSpPr/>
          <p:nvPr/>
        </p:nvSpPr>
        <p:spPr>
          <a:xfrm>
            <a:off x="3008376" y="3259836"/>
            <a:ext cx="749808" cy="3383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750" dirty="0"/>
          </a:p>
        </p:txBody>
      </p:sp>
      <p:sp>
        <p:nvSpPr>
          <p:cNvPr id="45" name="Text 41"/>
          <p:cNvSpPr/>
          <p:nvPr/>
        </p:nvSpPr>
        <p:spPr>
          <a:xfrm>
            <a:off x="3831336" y="3259836"/>
            <a:ext cx="2167128" cy="3383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750" dirty="0"/>
          </a:p>
        </p:txBody>
      </p:sp>
      <p:sp>
        <p:nvSpPr>
          <p:cNvPr id="46" name="Shape 42"/>
          <p:cNvSpPr/>
          <p:nvPr/>
        </p:nvSpPr>
        <p:spPr>
          <a:xfrm>
            <a:off x="6355080" y="1645920"/>
            <a:ext cx="5074920" cy="1965960"/>
          </a:xfrm>
          <a:prstGeom prst="rect">
            <a:avLst/>
          </a:prstGeom>
          <a:solidFill>
            <a:srgbClr val="F8FAFC"/>
          </a:solidFill>
          <a:ln w="11430">
            <a:solidFill>
              <a:srgbClr val="D9E2F3"/>
            </a:solidFill>
            <a:prstDash val="solid"/>
          </a:ln>
        </p:spPr>
        <p:txBody>
          <a:bodyPr/>
          <a:p/>
        </p:txBody>
      </p:sp>
      <p:sp>
        <p:nvSpPr>
          <p:cNvPr id="47" name="Text 43"/>
          <p:cNvSpPr/>
          <p:nvPr/>
        </p:nvSpPr>
        <p:spPr>
          <a:xfrm>
            <a:off x="6519672" y="1755648"/>
            <a:ext cx="47457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80" b="1" dirty="0">
                <a:solidFill>
                  <a:srgbClr val="005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Channel mix</a:t>
            </a:r>
            <a:endParaRPr lang="en-US" sz="1080" dirty="0"/>
          </a:p>
        </p:txBody>
      </p:sp>
      <p:sp>
        <p:nvSpPr>
          <p:cNvPr id="53" name="Shape 49"/>
          <p:cNvSpPr/>
          <p:nvPr/>
        </p:nvSpPr>
        <p:spPr>
          <a:xfrm>
            <a:off x="6583680" y="3108960"/>
            <a:ext cx="4663440" cy="0"/>
          </a:xfrm>
          <a:prstGeom prst="line">
            <a:avLst/>
          </a:prstGeom>
          <a:noFill/>
          <a:ln w="6350">
            <a:solidFill>
              <a:srgbClr val="A6A6A6"/>
            </a:solidFill>
            <a:prstDash val="solid"/>
          </a:ln>
        </p:spPr>
        <p:txBody>
          <a:bodyPr/>
          <a:p/>
        </p:txBody>
      </p:sp>
      <p:sp>
        <p:nvSpPr>
          <p:cNvPr id="54" name="Text 50"/>
          <p:cNvSpPr/>
          <p:nvPr/>
        </p:nvSpPr>
        <p:spPr>
          <a:xfrm>
            <a:off x="6519672" y="3337560"/>
            <a:ext cx="47457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i="1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660" dirty="0"/>
          </a:p>
        </p:txBody>
      </p:sp>
      <p:sp>
        <p:nvSpPr>
          <p:cNvPr id="55" name="Shape 51"/>
          <p:cNvSpPr/>
          <p:nvPr/>
        </p:nvSpPr>
        <p:spPr>
          <a:xfrm>
            <a:off x="502920" y="3886200"/>
            <a:ext cx="5440680" cy="1627632"/>
          </a:xfrm>
          <a:prstGeom prst="rect">
            <a:avLst/>
          </a:prstGeom>
          <a:solidFill>
            <a:srgbClr val="F8FAFC"/>
          </a:solidFill>
          <a:ln w="11430">
            <a:solidFill>
              <a:srgbClr val="D9E2F3"/>
            </a:solidFill>
            <a:prstDash val="solid"/>
          </a:ln>
        </p:spPr>
        <p:txBody>
          <a:bodyPr/>
          <a:p/>
        </p:txBody>
      </p:sp>
      <p:sp>
        <p:nvSpPr>
          <p:cNvPr id="56" name="Text 52"/>
          <p:cNvSpPr/>
          <p:nvPr/>
        </p:nvSpPr>
        <p:spPr>
          <a:xfrm>
            <a:off x="667512" y="3995928"/>
            <a:ext cx="51114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80" b="1" dirty="0">
                <a:solidFill>
                  <a:srgbClr val="005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 coverage / hourly activity</a:t>
            </a:r>
            <a:endParaRPr lang="en-US" sz="1080" dirty="0"/>
          </a:p>
        </p:txBody>
      </p:sp>
      <p:sp>
        <p:nvSpPr>
          <p:cNvPr id="62" name="Shape 58"/>
          <p:cNvSpPr/>
          <p:nvPr/>
        </p:nvSpPr>
        <p:spPr>
          <a:xfrm>
            <a:off x="731520" y="5010912"/>
            <a:ext cx="5029200" cy="0"/>
          </a:xfrm>
          <a:prstGeom prst="line">
            <a:avLst/>
          </a:prstGeom>
          <a:noFill/>
          <a:ln w="6350">
            <a:solidFill>
              <a:srgbClr val="A6A6A6"/>
            </a:solidFill>
            <a:prstDash val="solid"/>
          </a:ln>
        </p:spPr>
        <p:txBody>
          <a:bodyPr/>
          <a:p/>
        </p:txBody>
      </p:sp>
      <p:sp>
        <p:nvSpPr>
          <p:cNvPr id="63" name="Text 59"/>
          <p:cNvSpPr/>
          <p:nvPr/>
        </p:nvSpPr>
        <p:spPr>
          <a:xfrm>
            <a:off x="667512" y="5239512"/>
            <a:ext cx="51114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i="1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660" dirty="0"/>
          </a:p>
        </p:txBody>
      </p:sp>
      <p:sp>
        <p:nvSpPr>
          <p:cNvPr id="64" name="Shape 60"/>
          <p:cNvSpPr/>
          <p:nvPr/>
        </p:nvSpPr>
        <p:spPr>
          <a:xfrm>
            <a:off x="6355080" y="3886200"/>
            <a:ext cx="5074920" cy="1627632"/>
          </a:xfrm>
          <a:prstGeom prst="rect">
            <a:avLst/>
          </a:prstGeom>
          <a:solidFill>
            <a:srgbClr val="EAF3FB"/>
          </a:solidFill>
          <a:ln w="10160">
            <a:solidFill>
              <a:srgbClr val="D9E2F3"/>
            </a:solidFill>
            <a:prstDash val="solid"/>
          </a:ln>
        </p:spPr>
        <p:txBody>
          <a:bodyPr/>
          <a:p/>
        </p:txBody>
      </p:sp>
      <p:sp>
        <p:nvSpPr>
          <p:cNvPr id="65" name="Text 61"/>
          <p:cNvSpPr/>
          <p:nvPr/>
        </p:nvSpPr>
        <p:spPr>
          <a:xfrm>
            <a:off x="6483096" y="3977640"/>
            <a:ext cx="4818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40" b="1" dirty="0">
                <a:solidFill>
                  <a:srgbClr val="005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management should see</a:t>
            </a:r>
            <a:endParaRPr lang="en-US" sz="1140" dirty="0"/>
          </a:p>
        </p:txBody>
      </p:sp>
      <p:sp>
        <p:nvSpPr>
          <p:cNvPr id="66" name="Text 62"/>
          <p:cNvSpPr/>
          <p:nvPr/>
        </p:nvSpPr>
        <p:spPr>
          <a:xfrm>
            <a:off x="6483096" y="4270248"/>
            <a:ext cx="4818888" cy="11704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Observed window: 08:27–14:29. Peak: 14:00 (16 cases).</a:t>
            </a:r>
            <a:endParaRPr lang="en-US" sz="960" dirty="0"/>
          </a:p>
        </p:txBody>
      </p:sp>
      <p:graphicFrame>
        <p:nvGraphicFramePr>
          <p:cNvPr id="67" name="Chart 66"/>
          <p:cNvGraphicFramePr>
            <a:graphicFrameLocks noGrp="1"/>
          </p:cNvGraphicFramePr>
          <p:nvPr/>
        </p:nvGraphicFramePr>
        <p:xfrm>
          <a:off x="6446520" y="2194560"/>
          <a:ext cx="4983480" cy="1234440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  <p:graphicFrame>
        <p:nvGraphicFramePr>
          <p:cNvPr id="68" name="Chart 67"/>
          <p:cNvGraphicFramePr>
            <a:graphicFrameLocks noGrp="1"/>
          </p:cNvGraphicFramePr>
          <p:nvPr/>
        </p:nvGraphicFramePr>
        <p:xfrm>
          <a:off x="640080" y="4224528"/>
          <a:ext cx="5257800" cy="1078992"/>
        </p:xfrm>
        <a:graphic>
          <a:graphicData uri="http://schemas.openxmlformats.org/drawingml/2006/chart">
            <c:chart xmlns:c="http://schemas.openxmlformats.org/drawingml/2006/chart" r:id="rId6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gauteng_logo_le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592" y="73152"/>
            <a:ext cx="2788920" cy="786384"/>
          </a:xfrm>
          <a:prstGeom prst="rect">
            <a:avLst/>
          </a:prstGeom>
        </p:spPr>
      </p:pic>
      <p:pic>
        <p:nvPicPr>
          <p:cNvPr id="3" name="Image 1" descr="/mnt/data/ggt2030_logo_r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09728"/>
            <a:ext cx="2057400" cy="566928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164592" y="941832"/>
            <a:ext cx="11859768" cy="393192"/>
          </a:xfrm>
          <a:prstGeom prst="rect">
            <a:avLst/>
          </a:prstGeom>
          <a:solidFill>
            <a:srgbClr val="0058A8"/>
          </a:solidFill>
          <a:ln w="12700">
            <a:solidFill>
              <a:srgbClr val="0058A8"/>
            </a:solidFill>
            <a:prstDash val="solid"/>
          </a:ln>
        </p:spPr>
        <p:txBody>
          <a:bodyPr/>
          <a:p/>
        </p:txBody>
      </p:sp>
      <p:sp>
        <p:nvSpPr>
          <p:cNvPr id="5" name="Text 1"/>
          <p:cNvSpPr/>
          <p:nvPr/>
        </p:nvSpPr>
        <p:spPr>
          <a:xfrm>
            <a:off x="320040" y="1005840"/>
            <a:ext cx="9098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SERVICES AND DEMAND MIX</a:t>
            </a:r>
            <a:endParaRPr lang="en-US" sz="1300" dirty="0"/>
          </a:p>
        </p:txBody>
      </p:sp>
      <p:sp>
        <p:nvSpPr>
          <p:cNvPr id="6" name="Shape 2"/>
          <p:cNvSpPr/>
          <p:nvPr/>
        </p:nvSpPr>
        <p:spPr>
          <a:xfrm>
            <a:off x="10378440" y="987552"/>
            <a:ext cx="1417320" cy="265176"/>
          </a:xfrm>
          <a:prstGeom prst="rect">
            <a:avLst/>
          </a:prstGeom>
          <a:solidFill>
            <a:srgbClr val="FFC000"/>
          </a:solidFill>
          <a:ln w="12700">
            <a:solidFill>
              <a:srgbClr val="FFC000"/>
            </a:solidFill>
            <a:prstDash val="solid"/>
          </a:ln>
        </p:spPr>
        <p:txBody>
          <a:bodyPr/>
          <a:p/>
        </p:txBody>
      </p:sp>
      <p:sp>
        <p:nvSpPr>
          <p:cNvPr id="7" name="Text 3"/>
          <p:cNvSpPr/>
          <p:nvPr/>
        </p:nvSpPr>
        <p:spPr>
          <a:xfrm>
            <a:off x="10378440" y="1028700"/>
            <a:ext cx="1417320" cy="164592"/>
          </a:xfrm>
          <a:prstGeom prst="rect">
            <a:avLst/>
          </a:prstGeom>
          <a:solidFill>
            <a:srgbClr val="FFC00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AMBER</a:t>
            </a:r>
            <a:endParaRPr lang="en-US" sz="850" dirty="0"/>
          </a:p>
        </p:txBody>
      </p:sp>
      <p:sp>
        <p:nvSpPr>
          <p:cNvPr id="8" name="Shape 4"/>
          <p:cNvSpPr/>
          <p:nvPr/>
        </p:nvSpPr>
        <p:spPr>
          <a:xfrm>
            <a:off x="164592" y="6446520"/>
            <a:ext cx="11841480" cy="0"/>
          </a:xfrm>
          <a:prstGeom prst="line">
            <a:avLst/>
          </a:prstGeom>
          <a:noFill/>
          <a:ln w="12700">
            <a:solidFill>
              <a:srgbClr val="0058A8"/>
            </a:solidFill>
            <a:prstDash val="solid"/>
          </a:ln>
        </p:spPr>
        <p:txBody>
          <a:bodyPr/>
          <a:p/>
        </p:txBody>
      </p:sp>
      <p:sp>
        <p:nvSpPr>
          <p:cNvPr id="9" name="Text 5"/>
          <p:cNvSpPr/>
          <p:nvPr/>
        </p:nvSpPr>
        <p:spPr>
          <a:xfrm>
            <a:off x="182880" y="6519672"/>
            <a:ext cx="7955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70" dirty="0">
                <a:solidFill>
                  <a:srgbClr val="005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Ekurhuleni | INTERNAL SDI OPERATIONS REPORTING | 24 August 2026 | 15:00</a:t>
            </a:r>
            <a:endParaRPr lang="en-US" sz="570" dirty="0"/>
          </a:p>
        </p:txBody>
      </p:sp>
      <p:sp>
        <p:nvSpPr>
          <p:cNvPr id="10" name="Text 6"/>
          <p:cNvSpPr/>
          <p:nvPr/>
        </p:nvSpPr>
        <p:spPr>
          <a:xfrm>
            <a:off x="8412480" y="6519672"/>
            <a:ext cx="35661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570" i="1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570" dirty="0"/>
          </a:p>
        </p:txBody>
      </p:sp>
      <p:sp>
        <p:nvSpPr>
          <p:cNvPr id="11" name="Shape 7"/>
          <p:cNvSpPr/>
          <p:nvPr/>
        </p:nvSpPr>
        <p:spPr>
          <a:xfrm>
            <a:off x="502920" y="1645920"/>
            <a:ext cx="4800600" cy="2103120"/>
          </a:xfrm>
          <a:prstGeom prst="rect">
            <a:avLst/>
          </a:prstGeom>
          <a:solidFill>
            <a:srgbClr val="F8FAFC"/>
          </a:solidFill>
          <a:ln w="11430">
            <a:solidFill>
              <a:srgbClr val="D9E2F3"/>
            </a:solidFill>
            <a:prstDash val="solid"/>
          </a:ln>
        </p:spPr>
        <p:txBody>
          <a:bodyPr/>
          <a:p/>
        </p:txBody>
      </p:sp>
      <p:sp>
        <p:nvSpPr>
          <p:cNvPr id="12" name="Text 8"/>
          <p:cNvSpPr/>
          <p:nvPr/>
        </p:nvSpPr>
        <p:spPr>
          <a:xfrm>
            <a:off x="667512" y="1755648"/>
            <a:ext cx="4471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80" b="1" dirty="0">
                <a:solidFill>
                  <a:srgbClr val="005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services logged</a:t>
            </a:r>
            <a:endParaRPr lang="en-US" sz="1080" dirty="0"/>
          </a:p>
        </p:txBody>
      </p:sp>
      <p:sp>
        <p:nvSpPr>
          <p:cNvPr id="18" name="Shape 14"/>
          <p:cNvSpPr/>
          <p:nvPr/>
        </p:nvSpPr>
        <p:spPr>
          <a:xfrm>
            <a:off x="731520" y="3246120"/>
            <a:ext cx="4389120" cy="0"/>
          </a:xfrm>
          <a:prstGeom prst="line">
            <a:avLst/>
          </a:prstGeom>
          <a:noFill/>
          <a:ln w="6350">
            <a:solidFill>
              <a:srgbClr val="A6A6A6"/>
            </a:solidFill>
            <a:prstDash val="solid"/>
          </a:ln>
        </p:spPr>
        <p:txBody>
          <a:bodyPr/>
          <a:p/>
        </p:txBody>
      </p:sp>
      <p:sp>
        <p:nvSpPr>
          <p:cNvPr id="19" name="Text 15"/>
          <p:cNvSpPr/>
          <p:nvPr/>
        </p:nvSpPr>
        <p:spPr>
          <a:xfrm>
            <a:off x="667512" y="3474720"/>
            <a:ext cx="44714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i="1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660" dirty="0"/>
          </a:p>
        </p:txBody>
      </p:sp>
      <p:sp>
        <p:nvSpPr>
          <p:cNvPr id="20" name="Shape 16"/>
          <p:cNvSpPr/>
          <p:nvPr/>
        </p:nvSpPr>
        <p:spPr>
          <a:xfrm>
            <a:off x="5623560" y="1645920"/>
            <a:ext cx="5715000" cy="210312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  <a:prstDash val="solid"/>
          </a:ln>
        </p:spPr>
        <p:txBody>
          <a:bodyPr/>
          <a:p/>
        </p:txBody>
      </p:sp>
      <p:sp>
        <p:nvSpPr>
          <p:cNvPr id="21" name="Shape 17"/>
          <p:cNvSpPr/>
          <p:nvPr/>
        </p:nvSpPr>
        <p:spPr>
          <a:xfrm>
            <a:off x="5623560" y="1645920"/>
            <a:ext cx="5715000" cy="420624"/>
          </a:xfrm>
          <a:prstGeom prst="rect">
            <a:avLst/>
          </a:prstGeom>
          <a:solidFill>
            <a:srgbClr val="0058A8"/>
          </a:solidFill>
          <a:ln w="6350">
            <a:solidFill>
              <a:srgbClr val="0058A8"/>
            </a:solidFill>
            <a:prstDash val="solid"/>
          </a:ln>
        </p:spPr>
        <p:txBody>
          <a:bodyPr/>
          <a:p/>
        </p:txBody>
      </p:sp>
      <p:sp>
        <p:nvSpPr>
          <p:cNvPr id="22" name="Shape 18"/>
          <p:cNvSpPr/>
          <p:nvPr/>
        </p:nvSpPr>
        <p:spPr>
          <a:xfrm>
            <a:off x="5623560" y="2066544"/>
            <a:ext cx="571500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  <p:txBody>
          <a:bodyPr/>
          <a:p/>
        </p:txBody>
      </p:sp>
      <p:sp>
        <p:nvSpPr>
          <p:cNvPr id="23" name="Shape 19"/>
          <p:cNvSpPr/>
          <p:nvPr/>
        </p:nvSpPr>
        <p:spPr>
          <a:xfrm>
            <a:off x="5623560" y="2487168"/>
            <a:ext cx="571500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  <p:txBody>
          <a:bodyPr/>
          <a:p/>
        </p:txBody>
      </p:sp>
      <p:sp>
        <p:nvSpPr>
          <p:cNvPr id="24" name="Shape 20"/>
          <p:cNvSpPr/>
          <p:nvPr/>
        </p:nvSpPr>
        <p:spPr>
          <a:xfrm>
            <a:off x="5623560" y="2907792"/>
            <a:ext cx="571500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  <p:txBody>
          <a:bodyPr/>
          <a:p/>
        </p:txBody>
      </p:sp>
      <p:sp>
        <p:nvSpPr>
          <p:cNvPr id="25" name="Shape 21"/>
          <p:cNvSpPr/>
          <p:nvPr/>
        </p:nvSpPr>
        <p:spPr>
          <a:xfrm>
            <a:off x="5623560" y="3328416"/>
            <a:ext cx="571500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  <p:txBody>
          <a:bodyPr/>
          <a:p/>
        </p:txBody>
      </p:sp>
      <p:sp>
        <p:nvSpPr>
          <p:cNvPr id="26" name="Shape 22"/>
          <p:cNvSpPr/>
          <p:nvPr/>
        </p:nvSpPr>
        <p:spPr>
          <a:xfrm>
            <a:off x="7498080" y="1645920"/>
            <a:ext cx="0" cy="2103120"/>
          </a:xfrm>
          <a:prstGeom prst="line">
            <a:avLst/>
          </a:prstGeom>
          <a:noFill/>
          <a:ln w="6350">
            <a:solidFill>
              <a:srgbClr val="E1E1E1"/>
            </a:solidFill>
            <a:prstDash val="solid"/>
          </a:ln>
        </p:spPr>
        <p:txBody>
          <a:bodyPr/>
          <a:p/>
        </p:txBody>
      </p:sp>
      <p:sp>
        <p:nvSpPr>
          <p:cNvPr id="27" name="Shape 23"/>
          <p:cNvSpPr/>
          <p:nvPr/>
        </p:nvSpPr>
        <p:spPr>
          <a:xfrm>
            <a:off x="8138160" y="1645920"/>
            <a:ext cx="0" cy="2103120"/>
          </a:xfrm>
          <a:prstGeom prst="line">
            <a:avLst/>
          </a:prstGeom>
          <a:noFill/>
          <a:ln w="6350">
            <a:solidFill>
              <a:srgbClr val="E1E1E1"/>
            </a:solidFill>
            <a:prstDash val="solid"/>
          </a:ln>
        </p:spPr>
        <p:txBody>
          <a:bodyPr/>
          <a:p/>
        </p:txBody>
      </p:sp>
      <p:sp>
        <p:nvSpPr>
          <p:cNvPr id="28" name="Shape 24"/>
          <p:cNvSpPr/>
          <p:nvPr/>
        </p:nvSpPr>
        <p:spPr>
          <a:xfrm>
            <a:off x="8732520" y="1645920"/>
            <a:ext cx="0" cy="2103120"/>
          </a:xfrm>
          <a:prstGeom prst="line">
            <a:avLst/>
          </a:prstGeom>
          <a:noFill/>
          <a:ln w="6350">
            <a:solidFill>
              <a:srgbClr val="E1E1E1"/>
            </a:solidFill>
            <a:prstDash val="solid"/>
          </a:ln>
        </p:spPr>
        <p:txBody>
          <a:bodyPr/>
          <a:p/>
        </p:txBody>
      </p:sp>
      <p:sp>
        <p:nvSpPr>
          <p:cNvPr id="29" name="Text 25"/>
          <p:cNvSpPr/>
          <p:nvPr/>
        </p:nvSpPr>
        <p:spPr>
          <a:xfrm>
            <a:off x="5660136" y="1687068"/>
            <a:ext cx="1801368" cy="36576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/ cluster</a:t>
            </a:r>
            <a:endParaRPr lang="en-US" sz="790" dirty="0"/>
          </a:p>
        </p:txBody>
      </p:sp>
      <p:sp>
        <p:nvSpPr>
          <p:cNvPr id="30" name="Text 26"/>
          <p:cNvSpPr/>
          <p:nvPr/>
        </p:nvSpPr>
        <p:spPr>
          <a:xfrm>
            <a:off x="7534656" y="1687068"/>
            <a:ext cx="566928" cy="36576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Cases</a:t>
            </a:r>
            <a:endParaRPr lang="en-US" sz="790" dirty="0"/>
          </a:p>
        </p:txBody>
      </p:sp>
      <p:sp>
        <p:nvSpPr>
          <p:cNvPr id="31" name="Text 27"/>
          <p:cNvSpPr/>
          <p:nvPr/>
        </p:nvSpPr>
        <p:spPr>
          <a:xfrm>
            <a:off x="8174736" y="1687068"/>
            <a:ext cx="521208" cy="36576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</a:t>
            </a:r>
            <a:endParaRPr lang="en-US" sz="790" dirty="0"/>
          </a:p>
        </p:txBody>
      </p:sp>
      <p:sp>
        <p:nvSpPr>
          <p:cNvPr id="32" name="Text 28"/>
          <p:cNvSpPr/>
          <p:nvPr/>
        </p:nvSpPr>
        <p:spPr>
          <a:xfrm>
            <a:off x="8769096" y="1687068"/>
            <a:ext cx="2532888" cy="36576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Comment</a:t>
            </a:r>
            <a:endParaRPr lang="en-US" sz="790" dirty="0"/>
          </a:p>
        </p:txBody>
      </p:sp>
      <p:sp>
        <p:nvSpPr>
          <p:cNvPr id="33" name="Text 29"/>
          <p:cNvSpPr/>
          <p:nvPr/>
        </p:nvSpPr>
        <p:spPr>
          <a:xfrm>
            <a:off x="5660136" y="2107692"/>
            <a:ext cx="1801368" cy="36576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9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Roads Services</a:t>
            </a:r>
            <a:endParaRPr lang="en-US" sz="790" dirty="0"/>
          </a:p>
        </p:txBody>
      </p:sp>
      <p:sp>
        <p:nvSpPr>
          <p:cNvPr id="34" name="Text 30"/>
          <p:cNvSpPr/>
          <p:nvPr/>
        </p:nvSpPr>
        <p:spPr>
          <a:xfrm>
            <a:off x="7534656" y="2107692"/>
            <a:ext cx="566928" cy="36576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9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1,703</a:t>
            </a:r>
            <a:endParaRPr lang="en-US" sz="790" dirty="0"/>
          </a:p>
        </p:txBody>
      </p:sp>
      <p:sp>
        <p:nvSpPr>
          <p:cNvPr id="35" name="Text 31"/>
          <p:cNvSpPr/>
          <p:nvPr/>
        </p:nvSpPr>
        <p:spPr>
          <a:xfrm>
            <a:off x="8174736" y="2107692"/>
            <a:ext cx="521208" cy="36576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9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22.0%</a:t>
            </a:r>
            <a:endParaRPr lang="en-US" sz="790" dirty="0"/>
          </a:p>
        </p:txBody>
      </p:sp>
      <p:sp>
        <p:nvSpPr>
          <p:cNvPr id="36" name="Text 32"/>
          <p:cNvSpPr/>
          <p:nvPr/>
        </p:nvSpPr>
        <p:spPr>
          <a:xfrm>
            <a:off x="8769096" y="2107692"/>
            <a:ext cx="2532888" cy="36576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9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Leading demand category</a:t>
            </a:r>
            <a:endParaRPr lang="en-US" sz="790" dirty="0"/>
          </a:p>
        </p:txBody>
      </p:sp>
      <p:sp>
        <p:nvSpPr>
          <p:cNvPr id="37" name="Text 33"/>
          <p:cNvSpPr/>
          <p:nvPr/>
        </p:nvSpPr>
        <p:spPr>
          <a:xfrm>
            <a:off x="5660136" y="2528316"/>
            <a:ext cx="1801368" cy="36576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9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Electricity Services</a:t>
            </a:r>
            <a:endParaRPr lang="en-US" sz="790" dirty="0"/>
          </a:p>
        </p:txBody>
      </p:sp>
      <p:sp>
        <p:nvSpPr>
          <p:cNvPr id="38" name="Text 34"/>
          <p:cNvSpPr/>
          <p:nvPr/>
        </p:nvSpPr>
        <p:spPr>
          <a:xfrm>
            <a:off x="7534656" y="2528316"/>
            <a:ext cx="566928" cy="36576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9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1,090</a:t>
            </a:r>
            <a:endParaRPr lang="en-US" sz="790" dirty="0"/>
          </a:p>
        </p:txBody>
      </p:sp>
      <p:sp>
        <p:nvSpPr>
          <p:cNvPr id="39" name="Text 35"/>
          <p:cNvSpPr/>
          <p:nvPr/>
        </p:nvSpPr>
        <p:spPr>
          <a:xfrm>
            <a:off x="8174736" y="2528316"/>
            <a:ext cx="521208" cy="36576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9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14.1%</a:t>
            </a:r>
            <a:endParaRPr lang="en-US" sz="790" dirty="0"/>
          </a:p>
        </p:txBody>
      </p:sp>
      <p:sp>
        <p:nvSpPr>
          <p:cNvPr id="40" name="Text 36"/>
          <p:cNvSpPr/>
          <p:nvPr/>
        </p:nvSpPr>
        <p:spPr>
          <a:xfrm>
            <a:off x="8769096" y="2528316"/>
            <a:ext cx="2532888" cy="36576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9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Demand indicator</a:t>
            </a:r>
            <a:endParaRPr lang="en-US" sz="790" dirty="0"/>
          </a:p>
        </p:txBody>
      </p:sp>
      <p:sp>
        <p:nvSpPr>
          <p:cNvPr id="41" name="Text 37"/>
          <p:cNvSpPr/>
          <p:nvPr/>
        </p:nvSpPr>
        <p:spPr>
          <a:xfrm>
            <a:off x="5660136" y="2948940"/>
            <a:ext cx="1801368" cy="36576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9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Environment Services</a:t>
            </a:r>
            <a:endParaRPr lang="en-US" sz="790" dirty="0"/>
          </a:p>
        </p:txBody>
      </p:sp>
      <p:sp>
        <p:nvSpPr>
          <p:cNvPr id="42" name="Text 38"/>
          <p:cNvSpPr/>
          <p:nvPr/>
        </p:nvSpPr>
        <p:spPr>
          <a:xfrm>
            <a:off x="7534656" y="2948940"/>
            <a:ext cx="566928" cy="36576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9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1,079</a:t>
            </a:r>
            <a:endParaRPr lang="en-US" sz="790" dirty="0"/>
          </a:p>
        </p:txBody>
      </p:sp>
      <p:sp>
        <p:nvSpPr>
          <p:cNvPr id="43" name="Text 39"/>
          <p:cNvSpPr/>
          <p:nvPr/>
        </p:nvSpPr>
        <p:spPr>
          <a:xfrm>
            <a:off x="8174736" y="2948940"/>
            <a:ext cx="521208" cy="36576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9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13.9%</a:t>
            </a:r>
            <a:endParaRPr lang="en-US" sz="790" dirty="0"/>
          </a:p>
        </p:txBody>
      </p:sp>
      <p:sp>
        <p:nvSpPr>
          <p:cNvPr id="44" name="Text 40"/>
          <p:cNvSpPr/>
          <p:nvPr/>
        </p:nvSpPr>
        <p:spPr>
          <a:xfrm>
            <a:off x="8769096" y="2948940"/>
            <a:ext cx="2532888" cy="36576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9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Demand indicator</a:t>
            </a:r>
            <a:endParaRPr lang="en-US" sz="790" dirty="0"/>
          </a:p>
        </p:txBody>
      </p:sp>
      <p:sp>
        <p:nvSpPr>
          <p:cNvPr id="45" name="Text 41"/>
          <p:cNvSpPr/>
          <p:nvPr/>
        </p:nvSpPr>
        <p:spPr>
          <a:xfrm>
            <a:off x="5660136" y="3369564"/>
            <a:ext cx="1801368" cy="36576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9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Other</a:t>
            </a:r>
            <a:endParaRPr lang="en-US" sz="790" dirty="0"/>
          </a:p>
        </p:txBody>
      </p:sp>
      <p:sp>
        <p:nvSpPr>
          <p:cNvPr id="46" name="Text 42"/>
          <p:cNvSpPr/>
          <p:nvPr/>
        </p:nvSpPr>
        <p:spPr>
          <a:xfrm>
            <a:off x="7534656" y="3369564"/>
            <a:ext cx="566928" cy="36576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9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2,896</a:t>
            </a:r>
            <a:endParaRPr lang="en-US" sz="790" dirty="0"/>
          </a:p>
        </p:txBody>
      </p:sp>
      <p:sp>
        <p:nvSpPr>
          <p:cNvPr id="47" name="Text 43"/>
          <p:cNvSpPr/>
          <p:nvPr/>
        </p:nvSpPr>
        <p:spPr>
          <a:xfrm>
            <a:off x="8174736" y="3369564"/>
            <a:ext cx="521208" cy="36576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9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42.8%</a:t>
            </a:r>
            <a:endParaRPr lang="en-US" sz="790" dirty="0"/>
          </a:p>
        </p:txBody>
      </p:sp>
      <p:sp>
        <p:nvSpPr>
          <p:cNvPr id="48" name="Text 44"/>
          <p:cNvSpPr/>
          <p:nvPr/>
        </p:nvSpPr>
        <p:spPr>
          <a:xfrm>
            <a:off x="8769096" y="3369564"/>
            <a:ext cx="2532888" cy="36576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9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Remaining categories</a:t>
            </a:r>
            <a:endParaRPr lang="en-US" sz="790" dirty="0"/>
          </a:p>
        </p:txBody>
      </p:sp>
      <p:sp>
        <p:nvSpPr>
          <p:cNvPr id="49" name="Shape 45"/>
          <p:cNvSpPr/>
          <p:nvPr/>
        </p:nvSpPr>
        <p:spPr>
          <a:xfrm>
            <a:off x="502920" y="4005072"/>
            <a:ext cx="5257800" cy="1353312"/>
          </a:xfrm>
          <a:prstGeom prst="rect">
            <a:avLst/>
          </a:prstGeom>
          <a:solidFill>
            <a:srgbClr val="EAF3FB"/>
          </a:solidFill>
          <a:ln w="10160">
            <a:solidFill>
              <a:srgbClr val="D9E2F3"/>
            </a:solidFill>
            <a:prstDash val="solid"/>
          </a:ln>
        </p:spPr>
        <p:txBody>
          <a:bodyPr/>
          <a:p/>
        </p:txBody>
      </p:sp>
      <p:sp>
        <p:nvSpPr>
          <p:cNvPr id="50" name="Text 46"/>
          <p:cNvSpPr/>
          <p:nvPr/>
        </p:nvSpPr>
        <p:spPr>
          <a:xfrm>
            <a:off x="630936" y="4096512"/>
            <a:ext cx="5001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40" b="1" dirty="0">
                <a:solidFill>
                  <a:srgbClr val="005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Message rule</a:t>
            </a:r>
            <a:endParaRPr lang="en-US" sz="1140" dirty="0"/>
          </a:p>
        </p:txBody>
      </p:sp>
      <p:sp>
        <p:nvSpPr>
          <p:cNvPr id="51" name="Text 47"/>
          <p:cNvSpPr/>
          <p:nvPr/>
        </p:nvSpPr>
        <p:spPr>
          <a:xfrm>
            <a:off x="630936" y="4389120"/>
            <a:ext cx="5001768" cy="8961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demand concentration to target follow-up; do not interpret case volume as departmental performance.</a:t>
            </a:r>
            <a:endParaRPr lang="en-US" sz="960" dirty="0"/>
          </a:p>
        </p:txBody>
      </p:sp>
      <p:sp>
        <p:nvSpPr>
          <p:cNvPr id="52" name="Shape 48"/>
          <p:cNvSpPr/>
          <p:nvPr/>
        </p:nvSpPr>
        <p:spPr>
          <a:xfrm>
            <a:off x="6080760" y="4005072"/>
            <a:ext cx="5257800" cy="1353312"/>
          </a:xfrm>
          <a:prstGeom prst="rect">
            <a:avLst/>
          </a:prstGeom>
          <a:solidFill>
            <a:srgbClr val="EAF3FB"/>
          </a:solidFill>
          <a:ln w="10160">
            <a:solidFill>
              <a:srgbClr val="D9E2F3"/>
            </a:solidFill>
            <a:prstDash val="solid"/>
          </a:ln>
        </p:spPr>
        <p:txBody>
          <a:bodyPr/>
          <a:p/>
        </p:txBody>
      </p:sp>
      <p:sp>
        <p:nvSpPr>
          <p:cNvPr id="53" name="Text 49"/>
          <p:cNvSpPr/>
          <p:nvPr/>
        </p:nvSpPr>
        <p:spPr>
          <a:xfrm>
            <a:off x="6208776" y="4096512"/>
            <a:ext cx="5001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40" b="1" dirty="0">
                <a:solidFill>
                  <a:srgbClr val="005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Follow-up prompts</a:t>
            </a:r>
            <a:endParaRPr lang="en-US" sz="1140" dirty="0"/>
          </a:p>
        </p:txBody>
      </p:sp>
      <p:sp>
        <p:nvSpPr>
          <p:cNvPr id="54" name="Text 50"/>
          <p:cNvSpPr/>
          <p:nvPr/>
        </p:nvSpPr>
        <p:spPr>
          <a:xfrm>
            <a:off x="6208776" y="4389120"/>
            <a:ext cx="5001768" cy="8961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the addendum for low-volume services and ward-level detail.</a:t>
            </a:r>
            <a:endParaRPr lang="en-US" sz="960" dirty="0"/>
          </a:p>
        </p:txBody>
      </p:sp>
      <p:graphicFrame>
        <p:nvGraphicFramePr>
          <p:cNvPr id="55" name="Chart 54"/>
          <p:cNvGraphicFramePr>
            <a:graphicFrameLocks noGrp="1"/>
          </p:cNvGraphicFramePr>
          <p:nvPr/>
        </p:nvGraphicFramePr>
        <p:xfrm>
          <a:off x="640080" y="2267712"/>
          <a:ext cx="4572000" cy="1554480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gauteng_logo_le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592" y="73152"/>
            <a:ext cx="2788920" cy="786384"/>
          </a:xfrm>
          <a:prstGeom prst="rect">
            <a:avLst/>
          </a:prstGeom>
        </p:spPr>
      </p:pic>
      <p:pic>
        <p:nvPicPr>
          <p:cNvPr id="3" name="Image 1" descr="/mnt/data/ggt2030_logo_r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09728"/>
            <a:ext cx="2057400" cy="566928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164592" y="941832"/>
            <a:ext cx="11859768" cy="393192"/>
          </a:xfrm>
          <a:prstGeom prst="rect">
            <a:avLst/>
          </a:prstGeom>
          <a:solidFill>
            <a:srgbClr val="0058A8"/>
          </a:solidFill>
          <a:ln w="12700">
            <a:solidFill>
              <a:srgbClr val="0058A8"/>
            </a:solidFill>
            <a:prstDash val="solid"/>
          </a:ln>
        </p:spPr>
        <p:txBody>
          <a:bodyPr/>
          <a:p/>
        </p:txBody>
      </p:sp>
      <p:sp>
        <p:nvSpPr>
          <p:cNvPr id="5" name="Text 1"/>
          <p:cNvSpPr/>
          <p:nvPr/>
        </p:nvSpPr>
        <p:spPr>
          <a:xfrm>
            <a:off x="320040" y="1005840"/>
            <a:ext cx="9098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VOICE OF THE CITIZEN AND RESOLUTION POSITION</a:t>
            </a:r>
            <a:endParaRPr lang="en-US" sz="1300" dirty="0"/>
          </a:p>
        </p:txBody>
      </p:sp>
      <p:sp>
        <p:nvSpPr>
          <p:cNvPr id="6" name="Shape 2"/>
          <p:cNvSpPr/>
          <p:nvPr/>
        </p:nvSpPr>
        <p:spPr>
          <a:xfrm>
            <a:off x="10378440" y="987552"/>
            <a:ext cx="1417320" cy="265176"/>
          </a:xfrm>
          <a:prstGeom prst="rect">
            <a:avLst/>
          </a:prstGeom>
          <a:solidFill>
            <a:srgbClr val="FFC000"/>
          </a:solidFill>
          <a:ln w="12700">
            <a:solidFill>
              <a:srgbClr val="FFC000"/>
            </a:solidFill>
            <a:prstDash val="solid"/>
          </a:ln>
        </p:spPr>
        <p:txBody>
          <a:bodyPr/>
          <a:p/>
        </p:txBody>
      </p:sp>
      <p:sp>
        <p:nvSpPr>
          <p:cNvPr id="7" name="Text 3"/>
          <p:cNvSpPr/>
          <p:nvPr/>
        </p:nvSpPr>
        <p:spPr>
          <a:xfrm>
            <a:off x="10378440" y="1028700"/>
            <a:ext cx="1417320" cy="164592"/>
          </a:xfrm>
          <a:prstGeom prst="rect">
            <a:avLst/>
          </a:prstGeom>
          <a:solidFill>
            <a:srgbClr val="FFC00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AMBER</a:t>
            </a:r>
            <a:endParaRPr lang="en-US" sz="850" dirty="0"/>
          </a:p>
        </p:txBody>
      </p:sp>
      <p:sp>
        <p:nvSpPr>
          <p:cNvPr id="8" name="Shape 4"/>
          <p:cNvSpPr/>
          <p:nvPr/>
        </p:nvSpPr>
        <p:spPr>
          <a:xfrm>
            <a:off x="164592" y="6446520"/>
            <a:ext cx="11841480" cy="0"/>
          </a:xfrm>
          <a:prstGeom prst="line">
            <a:avLst/>
          </a:prstGeom>
          <a:noFill/>
          <a:ln w="12700">
            <a:solidFill>
              <a:srgbClr val="0058A8"/>
            </a:solidFill>
            <a:prstDash val="solid"/>
          </a:ln>
        </p:spPr>
        <p:txBody>
          <a:bodyPr/>
          <a:p/>
        </p:txBody>
      </p:sp>
      <p:sp>
        <p:nvSpPr>
          <p:cNvPr id="9" name="Text 5"/>
          <p:cNvSpPr/>
          <p:nvPr/>
        </p:nvSpPr>
        <p:spPr>
          <a:xfrm>
            <a:off x="182880" y="6519672"/>
            <a:ext cx="7955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70" dirty="0">
                <a:solidFill>
                  <a:srgbClr val="005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Ekurhuleni | INTERNAL SDI OPERATIONS REPORTING | 24 August 2026 | 15:00</a:t>
            </a:r>
            <a:endParaRPr lang="en-US" sz="570" dirty="0"/>
          </a:p>
        </p:txBody>
      </p:sp>
      <p:sp>
        <p:nvSpPr>
          <p:cNvPr id="10" name="Text 6"/>
          <p:cNvSpPr/>
          <p:nvPr/>
        </p:nvSpPr>
        <p:spPr>
          <a:xfrm>
            <a:off x="8412480" y="6519672"/>
            <a:ext cx="35661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570" i="1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570" dirty="0"/>
          </a:p>
        </p:txBody>
      </p:sp>
      <p:sp>
        <p:nvSpPr>
          <p:cNvPr id="11" name="Shape 7"/>
          <p:cNvSpPr/>
          <p:nvPr/>
        </p:nvSpPr>
        <p:spPr>
          <a:xfrm>
            <a:off x="594360" y="1673352"/>
            <a:ext cx="1828800" cy="786384"/>
          </a:xfrm>
          <a:prstGeom prst="roundRect">
            <a:avLst>
              <a:gd name="adj" fmla="val 8140"/>
            </a:avLst>
          </a:prstGeom>
          <a:solidFill>
            <a:srgbClr val="FFC000"/>
          </a:solidFill>
          <a:ln w="12700">
            <a:solidFill>
              <a:srgbClr val="FFC000"/>
            </a:solidFill>
            <a:prstDash val="solid"/>
          </a:ln>
          <a:effectLst>
            <a:outerShdw blurRad="12700" dist="12700" dir="27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2" name="Text 8"/>
          <p:cNvSpPr/>
          <p:nvPr/>
        </p:nvSpPr>
        <p:spPr>
          <a:xfrm>
            <a:off x="649224" y="1783080"/>
            <a:ext cx="17190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50" dirty="0"/>
          </a:p>
        </p:txBody>
      </p:sp>
      <p:sp>
        <p:nvSpPr>
          <p:cNvPr id="13" name="Text 9"/>
          <p:cNvSpPr/>
          <p:nvPr/>
        </p:nvSpPr>
        <p:spPr>
          <a:xfrm>
            <a:off x="649224" y="2103120"/>
            <a:ext cx="171907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7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 responses</a:t>
            </a:r>
            <a:endParaRPr lang="en-US" sz="770" dirty="0"/>
          </a:p>
        </p:txBody>
      </p:sp>
      <p:sp>
        <p:nvSpPr>
          <p:cNvPr id="14" name="Shape 10"/>
          <p:cNvSpPr/>
          <p:nvPr/>
        </p:nvSpPr>
        <p:spPr>
          <a:xfrm>
            <a:off x="2697480" y="1673352"/>
            <a:ext cx="1828800" cy="786384"/>
          </a:xfrm>
          <a:prstGeom prst="roundRect">
            <a:avLst>
              <a:gd name="adj" fmla="val 8140"/>
            </a:avLst>
          </a:prstGeom>
          <a:solidFill>
            <a:srgbClr val="00B050"/>
          </a:solidFill>
          <a:ln w="12700">
            <a:solidFill>
              <a:srgbClr val="00B050"/>
            </a:solidFill>
            <a:prstDash val="solid"/>
          </a:ln>
          <a:effectLst>
            <a:outerShdw blurRad="12700" dist="12700" dir="27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5" name="Text 11"/>
          <p:cNvSpPr/>
          <p:nvPr/>
        </p:nvSpPr>
        <p:spPr>
          <a:xfrm>
            <a:off x="2752344" y="1783080"/>
            <a:ext cx="17190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66.7%</a:t>
            </a:r>
            <a:endParaRPr lang="en-US" sz="1350" dirty="0"/>
          </a:p>
        </p:txBody>
      </p:sp>
      <p:sp>
        <p:nvSpPr>
          <p:cNvPr id="16" name="Text 12"/>
          <p:cNvSpPr/>
          <p:nvPr/>
        </p:nvSpPr>
        <p:spPr>
          <a:xfrm>
            <a:off x="2752344" y="2103120"/>
            <a:ext cx="171907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7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Happiness</a:t>
            </a:r>
            <a:endParaRPr lang="en-US" sz="770" dirty="0"/>
          </a:p>
        </p:txBody>
      </p:sp>
      <p:sp>
        <p:nvSpPr>
          <p:cNvPr id="17" name="Shape 13"/>
          <p:cNvSpPr/>
          <p:nvPr/>
        </p:nvSpPr>
        <p:spPr>
          <a:xfrm>
            <a:off x="4800600" y="1673352"/>
            <a:ext cx="1828800" cy="786384"/>
          </a:xfrm>
          <a:prstGeom prst="roundRect">
            <a:avLst>
              <a:gd name="adj" fmla="val 8140"/>
            </a:avLst>
          </a:prstGeom>
          <a:solidFill>
            <a:srgbClr val="F2B200"/>
          </a:solidFill>
          <a:ln w="12700">
            <a:solidFill>
              <a:srgbClr val="F2B200"/>
            </a:solidFill>
            <a:prstDash val="solid"/>
          </a:ln>
          <a:effectLst>
            <a:outerShdw blurRad="12700" dist="12700" dir="27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8" name="Text 14"/>
          <p:cNvSpPr/>
          <p:nvPr/>
        </p:nvSpPr>
        <p:spPr>
          <a:xfrm>
            <a:off x="4855464" y="1783080"/>
            <a:ext cx="17190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350" dirty="0"/>
          </a:p>
        </p:txBody>
      </p:sp>
      <p:sp>
        <p:nvSpPr>
          <p:cNvPr id="19" name="Text 15"/>
          <p:cNvSpPr/>
          <p:nvPr/>
        </p:nvSpPr>
        <p:spPr>
          <a:xfrm>
            <a:off x="4855464" y="2103120"/>
            <a:ext cx="171907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7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Resolved cases</a:t>
            </a:r>
            <a:endParaRPr lang="en-US" sz="770" dirty="0"/>
          </a:p>
        </p:txBody>
      </p:sp>
      <p:sp>
        <p:nvSpPr>
          <p:cNvPr id="20" name="Shape 16"/>
          <p:cNvSpPr/>
          <p:nvPr/>
        </p:nvSpPr>
        <p:spPr>
          <a:xfrm>
            <a:off x="6903720" y="1673352"/>
            <a:ext cx="1828800" cy="786384"/>
          </a:xfrm>
          <a:prstGeom prst="roundRect">
            <a:avLst>
              <a:gd name="adj" fmla="val 8140"/>
            </a:avLst>
          </a:prstGeom>
          <a:solidFill>
            <a:srgbClr val="FFC000"/>
          </a:solidFill>
          <a:ln w="12700">
            <a:solidFill>
              <a:srgbClr val="FFC000"/>
            </a:solidFill>
            <a:prstDash val="solid"/>
          </a:ln>
          <a:effectLst>
            <a:outerShdw blurRad="12700" dist="12700" dir="27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1" name="Text 17"/>
          <p:cNvSpPr/>
          <p:nvPr/>
        </p:nvSpPr>
        <p:spPr>
          <a:xfrm>
            <a:off x="6958584" y="1783080"/>
            <a:ext cx="17190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12/14</a:t>
            </a:r>
            <a:endParaRPr lang="en-US" sz="1350" dirty="0"/>
          </a:p>
        </p:txBody>
      </p:sp>
      <p:sp>
        <p:nvSpPr>
          <p:cNvPr id="22" name="Text 18"/>
          <p:cNvSpPr/>
          <p:nvPr/>
        </p:nvSpPr>
        <p:spPr>
          <a:xfrm>
            <a:off x="6958584" y="2103120"/>
            <a:ext cx="171907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7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Survey-ready</a:t>
            </a:r>
            <a:endParaRPr lang="en-US" sz="770" dirty="0"/>
          </a:p>
        </p:txBody>
      </p:sp>
      <p:sp>
        <p:nvSpPr>
          <p:cNvPr id="23" name="Shape 19"/>
          <p:cNvSpPr/>
          <p:nvPr/>
        </p:nvSpPr>
        <p:spPr>
          <a:xfrm>
            <a:off x="9006840" y="1673352"/>
            <a:ext cx="1828800" cy="786384"/>
          </a:xfrm>
          <a:prstGeom prst="roundRect">
            <a:avLst>
              <a:gd name="adj" fmla="val 8140"/>
            </a:avLst>
          </a:prstGeom>
          <a:solidFill>
            <a:srgbClr val="F2B200"/>
          </a:solidFill>
          <a:ln w="12700">
            <a:solidFill>
              <a:srgbClr val="F2B200"/>
            </a:solidFill>
            <a:prstDash val="solid"/>
          </a:ln>
          <a:effectLst>
            <a:outerShdw blurRad="12700" dist="12700" dir="27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4" name="Text 20"/>
          <p:cNvSpPr/>
          <p:nvPr/>
        </p:nvSpPr>
        <p:spPr>
          <a:xfrm>
            <a:off x="9061704" y="1783080"/>
            <a:ext cx="17190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Available</a:t>
            </a:r>
            <a:endParaRPr lang="en-US" sz="1350" dirty="0"/>
          </a:p>
        </p:txBody>
      </p:sp>
      <p:sp>
        <p:nvSpPr>
          <p:cNvPr id="25" name="Text 21"/>
          <p:cNvSpPr/>
          <p:nvPr/>
        </p:nvSpPr>
        <p:spPr>
          <a:xfrm>
            <a:off x="9061704" y="2103120"/>
            <a:ext cx="171907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7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availability</a:t>
            </a:r>
            <a:endParaRPr lang="en-US" sz="770" dirty="0"/>
          </a:p>
        </p:txBody>
      </p:sp>
      <p:sp>
        <p:nvSpPr>
          <p:cNvPr id="26" name="Shape 22"/>
          <p:cNvSpPr/>
          <p:nvPr/>
        </p:nvSpPr>
        <p:spPr>
          <a:xfrm>
            <a:off x="685800" y="2834640"/>
            <a:ext cx="5166360" cy="224028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  <a:prstDash val="solid"/>
          </a:ln>
        </p:spPr>
        <p:txBody>
          <a:bodyPr/>
          <a:p/>
        </p:txBody>
      </p:sp>
      <p:sp>
        <p:nvSpPr>
          <p:cNvPr id="27" name="Shape 23"/>
          <p:cNvSpPr/>
          <p:nvPr/>
        </p:nvSpPr>
        <p:spPr>
          <a:xfrm>
            <a:off x="685800" y="2834640"/>
            <a:ext cx="5166360" cy="560070"/>
          </a:xfrm>
          <a:prstGeom prst="rect">
            <a:avLst/>
          </a:prstGeom>
          <a:solidFill>
            <a:srgbClr val="0058A8"/>
          </a:solidFill>
          <a:ln w="6350">
            <a:solidFill>
              <a:srgbClr val="0058A8"/>
            </a:solidFill>
            <a:prstDash val="solid"/>
          </a:ln>
        </p:spPr>
        <p:txBody>
          <a:bodyPr/>
          <a:p/>
        </p:txBody>
      </p:sp>
      <p:sp>
        <p:nvSpPr>
          <p:cNvPr id="28" name="Shape 24"/>
          <p:cNvSpPr/>
          <p:nvPr/>
        </p:nvSpPr>
        <p:spPr>
          <a:xfrm>
            <a:off x="685800" y="3394710"/>
            <a:ext cx="516636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  <p:txBody>
          <a:bodyPr/>
          <a:p/>
        </p:txBody>
      </p:sp>
      <p:sp>
        <p:nvSpPr>
          <p:cNvPr id="29" name="Shape 25"/>
          <p:cNvSpPr/>
          <p:nvPr/>
        </p:nvSpPr>
        <p:spPr>
          <a:xfrm>
            <a:off x="685800" y="3954780"/>
            <a:ext cx="516636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  <p:txBody>
          <a:bodyPr/>
          <a:p/>
        </p:txBody>
      </p:sp>
      <p:sp>
        <p:nvSpPr>
          <p:cNvPr id="30" name="Shape 26"/>
          <p:cNvSpPr/>
          <p:nvPr/>
        </p:nvSpPr>
        <p:spPr>
          <a:xfrm>
            <a:off x="685800" y="4514850"/>
            <a:ext cx="516636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  <p:txBody>
          <a:bodyPr/>
          <a:p/>
        </p:txBody>
      </p:sp>
      <p:sp>
        <p:nvSpPr>
          <p:cNvPr id="31" name="Shape 27"/>
          <p:cNvSpPr/>
          <p:nvPr/>
        </p:nvSpPr>
        <p:spPr>
          <a:xfrm>
            <a:off x="2194560" y="2834640"/>
            <a:ext cx="0" cy="2240280"/>
          </a:xfrm>
          <a:prstGeom prst="line">
            <a:avLst/>
          </a:prstGeom>
          <a:noFill/>
          <a:ln w="6350">
            <a:solidFill>
              <a:srgbClr val="E1E1E1"/>
            </a:solidFill>
            <a:prstDash val="solid"/>
          </a:ln>
        </p:spPr>
        <p:txBody>
          <a:bodyPr/>
          <a:p/>
        </p:txBody>
      </p:sp>
      <p:sp>
        <p:nvSpPr>
          <p:cNvPr id="32" name="Shape 28"/>
          <p:cNvSpPr/>
          <p:nvPr/>
        </p:nvSpPr>
        <p:spPr>
          <a:xfrm>
            <a:off x="3108960" y="2834640"/>
            <a:ext cx="0" cy="2240280"/>
          </a:xfrm>
          <a:prstGeom prst="line">
            <a:avLst/>
          </a:prstGeom>
          <a:noFill/>
          <a:ln w="6350">
            <a:solidFill>
              <a:srgbClr val="E1E1E1"/>
            </a:solidFill>
            <a:prstDash val="solid"/>
          </a:ln>
        </p:spPr>
        <p:txBody>
          <a:bodyPr/>
          <a:p/>
        </p:txBody>
      </p:sp>
      <p:sp>
        <p:nvSpPr>
          <p:cNvPr id="33" name="Shape 29"/>
          <p:cNvSpPr/>
          <p:nvPr/>
        </p:nvSpPr>
        <p:spPr>
          <a:xfrm>
            <a:off x="4343400" y="2834640"/>
            <a:ext cx="0" cy="2240280"/>
          </a:xfrm>
          <a:prstGeom prst="line">
            <a:avLst/>
          </a:prstGeom>
          <a:noFill/>
          <a:ln w="6350">
            <a:solidFill>
              <a:srgbClr val="E1E1E1"/>
            </a:solidFill>
            <a:prstDash val="solid"/>
          </a:ln>
        </p:spPr>
        <p:txBody>
          <a:bodyPr/>
          <a:p/>
        </p:txBody>
      </p:sp>
      <p:sp>
        <p:nvSpPr>
          <p:cNvPr id="34" name="Text 30"/>
          <p:cNvSpPr/>
          <p:nvPr/>
        </p:nvSpPr>
        <p:spPr>
          <a:xfrm>
            <a:off x="722376" y="2875788"/>
            <a:ext cx="1435608" cy="50520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Case / queue</a:t>
            </a:r>
            <a:endParaRPr lang="en-US" sz="790" dirty="0"/>
          </a:p>
        </p:txBody>
      </p:sp>
      <p:sp>
        <p:nvSpPr>
          <p:cNvPr id="35" name="Text 31"/>
          <p:cNvSpPr/>
          <p:nvPr/>
        </p:nvSpPr>
        <p:spPr>
          <a:xfrm>
            <a:off x="2231136" y="2875788"/>
            <a:ext cx="841248" cy="50520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Ward</a:t>
            </a:r>
            <a:endParaRPr lang="en-US" sz="790" dirty="0"/>
          </a:p>
        </p:txBody>
      </p:sp>
      <p:sp>
        <p:nvSpPr>
          <p:cNvPr id="36" name="Text 32"/>
          <p:cNvSpPr/>
          <p:nvPr/>
        </p:nvSpPr>
        <p:spPr>
          <a:xfrm>
            <a:off x="3145536" y="2875788"/>
            <a:ext cx="1161288" cy="50520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</a:t>
            </a:r>
            <a:endParaRPr lang="en-US" sz="790" dirty="0"/>
          </a:p>
        </p:txBody>
      </p:sp>
      <p:sp>
        <p:nvSpPr>
          <p:cNvPr id="37" name="Text 33"/>
          <p:cNvSpPr/>
          <p:nvPr/>
        </p:nvSpPr>
        <p:spPr>
          <a:xfrm>
            <a:off x="4379976" y="2875788"/>
            <a:ext cx="1435608" cy="50520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</a:t>
            </a:r>
            <a:endParaRPr lang="en-US" sz="790" dirty="0"/>
          </a:p>
        </p:txBody>
      </p:sp>
      <p:sp>
        <p:nvSpPr>
          <p:cNvPr id="38" name="Text 34"/>
          <p:cNvSpPr/>
          <p:nvPr/>
        </p:nvSpPr>
        <p:spPr>
          <a:xfrm>
            <a:off x="722376" y="3435858"/>
            <a:ext cx="1435608" cy="50520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9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790" dirty="0"/>
          </a:p>
        </p:txBody>
      </p:sp>
      <p:sp>
        <p:nvSpPr>
          <p:cNvPr id="39" name="Text 35"/>
          <p:cNvSpPr/>
          <p:nvPr/>
        </p:nvSpPr>
        <p:spPr>
          <a:xfrm>
            <a:off x="2231136" y="3435858"/>
            <a:ext cx="841248" cy="50520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9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790" dirty="0"/>
          </a:p>
        </p:txBody>
      </p:sp>
      <p:sp>
        <p:nvSpPr>
          <p:cNvPr id="40" name="Text 36"/>
          <p:cNvSpPr/>
          <p:nvPr/>
        </p:nvSpPr>
        <p:spPr>
          <a:xfrm>
            <a:off x="3145536" y="3435858"/>
            <a:ext cx="1161288" cy="50520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9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available</a:t>
            </a:r>
            <a:endParaRPr lang="en-US" sz="790" dirty="0"/>
          </a:p>
        </p:txBody>
      </p:sp>
      <p:sp>
        <p:nvSpPr>
          <p:cNvPr id="41" name="Text 37"/>
          <p:cNvSpPr/>
          <p:nvPr/>
        </p:nvSpPr>
        <p:spPr>
          <a:xfrm>
            <a:off x="4379976" y="3435858"/>
            <a:ext cx="1435608" cy="50520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9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 / verify / close</a:t>
            </a:r>
            <a:endParaRPr lang="en-US" sz="790" dirty="0"/>
          </a:p>
        </p:txBody>
      </p:sp>
      <p:sp>
        <p:nvSpPr>
          <p:cNvPr id="42" name="Text 38"/>
          <p:cNvSpPr/>
          <p:nvPr/>
        </p:nvSpPr>
        <p:spPr>
          <a:xfrm>
            <a:off x="722376" y="3995928"/>
            <a:ext cx="1435608" cy="50520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9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790" dirty="0"/>
          </a:p>
        </p:txBody>
      </p:sp>
      <p:sp>
        <p:nvSpPr>
          <p:cNvPr id="43" name="Text 39"/>
          <p:cNvSpPr/>
          <p:nvPr/>
        </p:nvSpPr>
        <p:spPr>
          <a:xfrm>
            <a:off x="2231136" y="3995928"/>
            <a:ext cx="841248" cy="50520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9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790" dirty="0"/>
          </a:p>
        </p:txBody>
      </p:sp>
      <p:sp>
        <p:nvSpPr>
          <p:cNvPr id="44" name="Text 40"/>
          <p:cNvSpPr/>
          <p:nvPr/>
        </p:nvSpPr>
        <p:spPr>
          <a:xfrm>
            <a:off x="3145536" y="3995928"/>
            <a:ext cx="1161288" cy="50520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9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available</a:t>
            </a:r>
            <a:endParaRPr lang="en-US" sz="790" dirty="0"/>
          </a:p>
        </p:txBody>
      </p:sp>
      <p:sp>
        <p:nvSpPr>
          <p:cNvPr id="45" name="Text 41"/>
          <p:cNvSpPr/>
          <p:nvPr/>
        </p:nvSpPr>
        <p:spPr>
          <a:xfrm>
            <a:off x="4379976" y="3995928"/>
            <a:ext cx="1435608" cy="50520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9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 / verify / close</a:t>
            </a:r>
            <a:endParaRPr lang="en-US" sz="790" dirty="0"/>
          </a:p>
        </p:txBody>
      </p:sp>
      <p:sp>
        <p:nvSpPr>
          <p:cNvPr id="46" name="Text 42"/>
          <p:cNvSpPr/>
          <p:nvPr/>
        </p:nvSpPr>
        <p:spPr>
          <a:xfrm>
            <a:off x="722376" y="4555998"/>
            <a:ext cx="1435608" cy="50520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9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790" dirty="0"/>
          </a:p>
        </p:txBody>
      </p:sp>
      <p:sp>
        <p:nvSpPr>
          <p:cNvPr id="47" name="Text 43"/>
          <p:cNvSpPr/>
          <p:nvPr/>
        </p:nvSpPr>
        <p:spPr>
          <a:xfrm>
            <a:off x="2231136" y="4555998"/>
            <a:ext cx="841248" cy="50520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9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790" dirty="0"/>
          </a:p>
        </p:txBody>
      </p:sp>
      <p:sp>
        <p:nvSpPr>
          <p:cNvPr id="48" name="Text 44"/>
          <p:cNvSpPr/>
          <p:nvPr/>
        </p:nvSpPr>
        <p:spPr>
          <a:xfrm>
            <a:off x="3145536" y="4555998"/>
            <a:ext cx="1161288" cy="50520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9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available</a:t>
            </a:r>
            <a:endParaRPr lang="en-US" sz="790" dirty="0"/>
          </a:p>
        </p:txBody>
      </p:sp>
      <p:sp>
        <p:nvSpPr>
          <p:cNvPr id="49" name="Text 45"/>
          <p:cNvSpPr/>
          <p:nvPr/>
        </p:nvSpPr>
        <p:spPr>
          <a:xfrm>
            <a:off x="4379976" y="4555998"/>
            <a:ext cx="1435608" cy="50520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9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 / verify / close</a:t>
            </a:r>
            <a:endParaRPr lang="en-US" sz="790" dirty="0"/>
          </a:p>
        </p:txBody>
      </p:sp>
      <p:sp>
        <p:nvSpPr>
          <p:cNvPr id="50" name="Shape 46"/>
          <p:cNvSpPr/>
          <p:nvPr/>
        </p:nvSpPr>
        <p:spPr>
          <a:xfrm>
            <a:off x="6217920" y="2834640"/>
            <a:ext cx="4983480" cy="2240280"/>
          </a:xfrm>
          <a:prstGeom prst="rect">
            <a:avLst/>
          </a:prstGeom>
          <a:solidFill>
            <a:srgbClr val="EAF3FB"/>
          </a:solidFill>
          <a:ln w="10160">
            <a:solidFill>
              <a:srgbClr val="D9E2F3"/>
            </a:solidFill>
            <a:prstDash val="solid"/>
          </a:ln>
        </p:spPr>
        <p:txBody>
          <a:bodyPr/>
          <a:p/>
        </p:txBody>
      </p:sp>
      <p:sp>
        <p:nvSpPr>
          <p:cNvPr id="51" name="Text 47"/>
          <p:cNvSpPr/>
          <p:nvPr/>
        </p:nvSpPr>
        <p:spPr>
          <a:xfrm>
            <a:off x="6345936" y="2926080"/>
            <a:ext cx="4727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40" b="1" dirty="0">
                <a:solidFill>
                  <a:srgbClr val="005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 reporting rule</a:t>
            </a:r>
            <a:endParaRPr lang="en-US" sz="1140" dirty="0"/>
          </a:p>
        </p:txBody>
      </p:sp>
      <p:sp>
        <p:nvSpPr>
          <p:cNvPr id="52" name="Text 48"/>
          <p:cNvSpPr/>
          <p:nvPr/>
        </p:nvSpPr>
        <p:spPr>
          <a:xfrm>
            <a:off x="6345936" y="3218688"/>
            <a:ext cx="4727448" cy="1783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 source supplied. Metrics are calculated only from supported response fields; detailed responses remain in the addendum.</a:t>
            </a:r>
            <a:endParaRPr lang="en-US" sz="96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gauteng_logo_le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592" y="73152"/>
            <a:ext cx="2788920" cy="786384"/>
          </a:xfrm>
          <a:prstGeom prst="rect">
            <a:avLst/>
          </a:prstGeom>
        </p:spPr>
      </p:pic>
      <p:pic>
        <p:nvPicPr>
          <p:cNvPr id="3" name="Image 1" descr="/mnt/data/ggt2030_logo_r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09728"/>
            <a:ext cx="2057400" cy="566928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164592" y="941832"/>
            <a:ext cx="11859768" cy="393192"/>
          </a:xfrm>
          <a:prstGeom prst="rect">
            <a:avLst/>
          </a:prstGeom>
          <a:solidFill>
            <a:srgbClr val="0058A8"/>
          </a:solidFill>
          <a:ln w="12700">
            <a:solidFill>
              <a:srgbClr val="0058A8"/>
            </a:solidFill>
            <a:prstDash val="solid"/>
          </a:ln>
        </p:spPr>
        <p:txBody>
          <a:bodyPr/>
          <a:p/>
        </p:txBody>
      </p:sp>
      <p:sp>
        <p:nvSpPr>
          <p:cNvPr id="5" name="Text 1"/>
          <p:cNvSpPr/>
          <p:nvPr/>
        </p:nvSpPr>
        <p:spPr>
          <a:xfrm>
            <a:off x="320040" y="1005840"/>
            <a:ext cx="9098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ACTIONS, DATA QUALITY AND MANAGEMENT DECISIONS</a:t>
            </a:r>
            <a:endParaRPr lang="en-US" sz="1300" dirty="0"/>
          </a:p>
        </p:txBody>
      </p:sp>
      <p:sp>
        <p:nvSpPr>
          <p:cNvPr id="6" name="Shape 2"/>
          <p:cNvSpPr/>
          <p:nvPr/>
        </p:nvSpPr>
        <p:spPr>
          <a:xfrm>
            <a:off x="10378440" y="987552"/>
            <a:ext cx="1417320" cy="265176"/>
          </a:xfrm>
          <a:prstGeom prst="rect">
            <a:avLst/>
          </a:prstGeom>
          <a:solidFill>
            <a:srgbClr val="FFC000"/>
          </a:solidFill>
          <a:ln w="12700">
            <a:solidFill>
              <a:srgbClr val="FFC000"/>
            </a:solidFill>
            <a:prstDash val="solid"/>
          </a:ln>
        </p:spPr>
        <p:txBody>
          <a:bodyPr/>
          <a:p/>
        </p:txBody>
      </p:sp>
      <p:sp>
        <p:nvSpPr>
          <p:cNvPr id="7" name="Text 3"/>
          <p:cNvSpPr/>
          <p:nvPr/>
        </p:nvSpPr>
        <p:spPr>
          <a:xfrm>
            <a:off x="10378440" y="1028700"/>
            <a:ext cx="1417320" cy="164592"/>
          </a:xfrm>
          <a:prstGeom prst="rect">
            <a:avLst/>
          </a:prstGeom>
          <a:solidFill>
            <a:srgbClr val="FFC00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AMBER</a:t>
            </a:r>
            <a:endParaRPr lang="en-US" sz="850" dirty="0"/>
          </a:p>
        </p:txBody>
      </p:sp>
      <p:sp>
        <p:nvSpPr>
          <p:cNvPr id="8" name="Shape 4"/>
          <p:cNvSpPr/>
          <p:nvPr/>
        </p:nvSpPr>
        <p:spPr>
          <a:xfrm>
            <a:off x="164592" y="6446520"/>
            <a:ext cx="11841480" cy="0"/>
          </a:xfrm>
          <a:prstGeom prst="line">
            <a:avLst/>
          </a:prstGeom>
          <a:noFill/>
          <a:ln w="12700">
            <a:solidFill>
              <a:srgbClr val="0058A8"/>
            </a:solidFill>
            <a:prstDash val="solid"/>
          </a:ln>
        </p:spPr>
        <p:txBody>
          <a:bodyPr/>
          <a:p/>
        </p:txBody>
      </p:sp>
      <p:sp>
        <p:nvSpPr>
          <p:cNvPr id="9" name="Text 5"/>
          <p:cNvSpPr/>
          <p:nvPr/>
        </p:nvSpPr>
        <p:spPr>
          <a:xfrm>
            <a:off x="182880" y="6519672"/>
            <a:ext cx="7955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70" dirty="0">
                <a:solidFill>
                  <a:srgbClr val="005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Ekurhuleni | INTERNAL SDI OPERATIONS REPORTING | 24 August 2026 | 15:00</a:t>
            </a:r>
            <a:endParaRPr lang="en-US" sz="570" dirty="0"/>
          </a:p>
        </p:txBody>
      </p:sp>
      <p:sp>
        <p:nvSpPr>
          <p:cNvPr id="10" name="Text 6"/>
          <p:cNvSpPr/>
          <p:nvPr/>
        </p:nvSpPr>
        <p:spPr>
          <a:xfrm>
            <a:off x="8412480" y="6519672"/>
            <a:ext cx="35661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570" i="1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570" dirty="0"/>
          </a:p>
        </p:txBody>
      </p:sp>
      <p:sp>
        <p:nvSpPr>
          <p:cNvPr id="11" name="Shape 7"/>
          <p:cNvSpPr/>
          <p:nvPr/>
        </p:nvSpPr>
        <p:spPr>
          <a:xfrm>
            <a:off x="502920" y="1691640"/>
            <a:ext cx="5806440" cy="237744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  <a:prstDash val="solid"/>
          </a:ln>
        </p:spPr>
        <p:txBody>
          <a:bodyPr/>
          <a:p/>
        </p:txBody>
      </p:sp>
      <p:sp>
        <p:nvSpPr>
          <p:cNvPr id="12" name="Shape 8"/>
          <p:cNvSpPr/>
          <p:nvPr/>
        </p:nvSpPr>
        <p:spPr>
          <a:xfrm>
            <a:off x="502920" y="1691640"/>
            <a:ext cx="5806440" cy="475488"/>
          </a:xfrm>
          <a:prstGeom prst="rect">
            <a:avLst/>
          </a:prstGeom>
          <a:solidFill>
            <a:srgbClr val="0058A8"/>
          </a:solidFill>
          <a:ln w="6350">
            <a:solidFill>
              <a:srgbClr val="0058A8"/>
            </a:solidFill>
            <a:prstDash val="solid"/>
          </a:ln>
        </p:spPr>
        <p:txBody>
          <a:bodyPr/>
          <a:p/>
        </p:txBody>
      </p:sp>
      <p:sp>
        <p:nvSpPr>
          <p:cNvPr id="13" name="Shape 9"/>
          <p:cNvSpPr/>
          <p:nvPr/>
        </p:nvSpPr>
        <p:spPr>
          <a:xfrm>
            <a:off x="502920" y="2167128"/>
            <a:ext cx="580644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  <p:txBody>
          <a:bodyPr/>
          <a:p/>
        </p:txBody>
      </p:sp>
      <p:sp>
        <p:nvSpPr>
          <p:cNvPr id="14" name="Shape 10"/>
          <p:cNvSpPr/>
          <p:nvPr/>
        </p:nvSpPr>
        <p:spPr>
          <a:xfrm>
            <a:off x="502920" y="2642616"/>
            <a:ext cx="580644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  <p:txBody>
          <a:bodyPr/>
          <a:p/>
        </p:txBody>
      </p:sp>
      <p:sp>
        <p:nvSpPr>
          <p:cNvPr id="15" name="Shape 11"/>
          <p:cNvSpPr/>
          <p:nvPr/>
        </p:nvSpPr>
        <p:spPr>
          <a:xfrm>
            <a:off x="502920" y="3118104"/>
            <a:ext cx="580644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  <p:txBody>
          <a:bodyPr/>
          <a:p/>
        </p:txBody>
      </p:sp>
      <p:sp>
        <p:nvSpPr>
          <p:cNvPr id="16" name="Shape 12"/>
          <p:cNvSpPr/>
          <p:nvPr/>
        </p:nvSpPr>
        <p:spPr>
          <a:xfrm>
            <a:off x="502920" y="3593592"/>
            <a:ext cx="580644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  <p:txBody>
          <a:bodyPr/>
          <a:p/>
        </p:txBody>
      </p:sp>
      <p:sp>
        <p:nvSpPr>
          <p:cNvPr id="17" name="Shape 13"/>
          <p:cNvSpPr/>
          <p:nvPr/>
        </p:nvSpPr>
        <p:spPr>
          <a:xfrm>
            <a:off x="2011680" y="1691640"/>
            <a:ext cx="0" cy="2377440"/>
          </a:xfrm>
          <a:prstGeom prst="line">
            <a:avLst/>
          </a:prstGeom>
          <a:noFill/>
          <a:ln w="6350">
            <a:solidFill>
              <a:srgbClr val="E1E1E1"/>
            </a:solidFill>
            <a:prstDash val="solid"/>
          </a:ln>
        </p:spPr>
        <p:txBody>
          <a:bodyPr/>
          <a:p/>
        </p:txBody>
      </p:sp>
      <p:sp>
        <p:nvSpPr>
          <p:cNvPr id="18" name="Shape 14"/>
          <p:cNvSpPr/>
          <p:nvPr/>
        </p:nvSpPr>
        <p:spPr>
          <a:xfrm>
            <a:off x="3246120" y="1691640"/>
            <a:ext cx="0" cy="2377440"/>
          </a:xfrm>
          <a:prstGeom prst="line">
            <a:avLst/>
          </a:prstGeom>
          <a:noFill/>
          <a:ln w="6350">
            <a:solidFill>
              <a:srgbClr val="E1E1E1"/>
            </a:solidFill>
            <a:prstDash val="solid"/>
          </a:ln>
        </p:spPr>
        <p:txBody>
          <a:bodyPr/>
          <a:p/>
        </p:txBody>
      </p:sp>
      <p:sp>
        <p:nvSpPr>
          <p:cNvPr id="19" name="Shape 15"/>
          <p:cNvSpPr/>
          <p:nvPr/>
        </p:nvSpPr>
        <p:spPr>
          <a:xfrm>
            <a:off x="4389120" y="1691640"/>
            <a:ext cx="0" cy="2377440"/>
          </a:xfrm>
          <a:prstGeom prst="line">
            <a:avLst/>
          </a:prstGeom>
          <a:noFill/>
          <a:ln w="6350">
            <a:solidFill>
              <a:srgbClr val="E1E1E1"/>
            </a:solidFill>
            <a:prstDash val="solid"/>
          </a:ln>
        </p:spPr>
        <p:txBody>
          <a:bodyPr/>
          <a:p/>
        </p:txBody>
      </p:sp>
      <p:sp>
        <p:nvSpPr>
          <p:cNvPr id="20" name="Text 16"/>
          <p:cNvSpPr/>
          <p:nvPr/>
        </p:nvSpPr>
        <p:spPr>
          <a:xfrm>
            <a:off x="539496" y="1732788"/>
            <a:ext cx="1435608" cy="42062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Priority</a:t>
            </a:r>
            <a:endParaRPr lang="en-US" sz="800" dirty="0"/>
          </a:p>
        </p:txBody>
      </p:sp>
      <p:sp>
        <p:nvSpPr>
          <p:cNvPr id="21" name="Text 17"/>
          <p:cNvSpPr/>
          <p:nvPr/>
        </p:nvSpPr>
        <p:spPr>
          <a:xfrm>
            <a:off x="2048256" y="1732788"/>
            <a:ext cx="1161288" cy="42062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</a:t>
            </a:r>
            <a:endParaRPr lang="en-US" sz="800" dirty="0"/>
          </a:p>
        </p:txBody>
      </p:sp>
      <p:sp>
        <p:nvSpPr>
          <p:cNvPr id="22" name="Text 18"/>
          <p:cNvSpPr/>
          <p:nvPr/>
        </p:nvSpPr>
        <p:spPr>
          <a:xfrm>
            <a:off x="3282696" y="1732788"/>
            <a:ext cx="1069848" cy="42062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Timing</a:t>
            </a:r>
            <a:endParaRPr lang="en-US" sz="800" dirty="0"/>
          </a:p>
        </p:txBody>
      </p:sp>
      <p:sp>
        <p:nvSpPr>
          <p:cNvPr id="23" name="Text 19"/>
          <p:cNvSpPr/>
          <p:nvPr/>
        </p:nvSpPr>
        <p:spPr>
          <a:xfrm>
            <a:off x="4425696" y="1732788"/>
            <a:ext cx="1847088" cy="42062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Success check</a:t>
            </a:r>
            <a:endParaRPr lang="en-US" sz="800" dirty="0"/>
          </a:p>
        </p:txBody>
      </p:sp>
      <p:sp>
        <p:nvSpPr>
          <p:cNvPr id="24" name="Text 20"/>
          <p:cNvSpPr/>
          <p:nvPr/>
        </p:nvSpPr>
        <p:spPr>
          <a:xfrm>
            <a:off x="539496" y="2208276"/>
            <a:ext cx="1435608" cy="42062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Missing wards</a:t>
            </a:r>
            <a:endParaRPr lang="en-US" sz="800" dirty="0"/>
          </a:p>
        </p:txBody>
      </p:sp>
      <p:sp>
        <p:nvSpPr>
          <p:cNvPr id="25" name="Text 21"/>
          <p:cNvSpPr/>
          <p:nvPr/>
        </p:nvSpPr>
        <p:spPr>
          <a:xfrm>
            <a:off x="2048256" y="2208276"/>
            <a:ext cx="1161288" cy="42062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Ops lead</a:t>
            </a:r>
            <a:endParaRPr lang="en-US" sz="800" dirty="0"/>
          </a:p>
        </p:txBody>
      </p:sp>
      <p:sp>
        <p:nvSpPr>
          <p:cNvPr id="26" name="Text 22"/>
          <p:cNvSpPr/>
          <p:nvPr/>
        </p:nvSpPr>
        <p:spPr>
          <a:xfrm>
            <a:off x="3282696" y="2208276"/>
            <a:ext cx="1069848" cy="42062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close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4425696" y="2208276"/>
            <a:ext cx="1847088" cy="42062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92 wards validated/assigned</a:t>
            </a:r>
            <a:endParaRPr lang="en-US" sz="800" dirty="0"/>
          </a:p>
        </p:txBody>
      </p:sp>
      <p:sp>
        <p:nvSpPr>
          <p:cNvPr id="28" name="Text 24"/>
          <p:cNvSpPr/>
          <p:nvPr/>
        </p:nvSpPr>
        <p:spPr>
          <a:xfrm>
            <a:off x="539496" y="2683764"/>
            <a:ext cx="1435608" cy="42062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Channel/time gap</a:t>
            </a:r>
            <a:endParaRPr lang="en-US" sz="800" dirty="0"/>
          </a:p>
        </p:txBody>
      </p:sp>
      <p:sp>
        <p:nvSpPr>
          <p:cNvPr id="29" name="Text 25"/>
          <p:cNvSpPr/>
          <p:nvPr/>
        </p:nvSpPr>
        <p:spPr>
          <a:xfrm>
            <a:off x="2048256" y="2683764"/>
            <a:ext cx="1161288" cy="42062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Supervisor</a:t>
            </a:r>
            <a:endParaRPr lang="en-US" sz="800" dirty="0"/>
          </a:p>
        </p:txBody>
      </p:sp>
      <p:sp>
        <p:nvSpPr>
          <p:cNvPr id="30" name="Text 26"/>
          <p:cNvSpPr/>
          <p:nvPr/>
        </p:nvSpPr>
        <p:spPr>
          <a:xfrm>
            <a:off x="3282696" y="2683764"/>
            <a:ext cx="1069848" cy="42062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operating window</a:t>
            </a:r>
            <a:endParaRPr lang="en-US" sz="800" dirty="0"/>
          </a:p>
        </p:txBody>
      </p:sp>
      <p:sp>
        <p:nvSpPr>
          <p:cNvPr id="31" name="Text 27"/>
          <p:cNvSpPr/>
          <p:nvPr/>
        </p:nvSpPr>
        <p:spPr>
          <a:xfrm>
            <a:off x="4425696" y="2683764"/>
            <a:ext cx="1847088" cy="42062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Peak hours protected</a:t>
            </a:r>
            <a:endParaRPr lang="en-US" sz="800" dirty="0"/>
          </a:p>
        </p:txBody>
      </p:sp>
      <p:sp>
        <p:nvSpPr>
          <p:cNvPr id="32" name="Text 28"/>
          <p:cNvSpPr/>
          <p:nvPr/>
        </p:nvSpPr>
        <p:spPr>
          <a:xfrm>
            <a:off x="539496" y="3159252"/>
            <a:ext cx="1435608" cy="42062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 queue</a:t>
            </a:r>
            <a:endParaRPr lang="en-US" sz="800" dirty="0"/>
          </a:p>
        </p:txBody>
      </p:sp>
      <p:sp>
        <p:nvSpPr>
          <p:cNvPr id="33" name="Text 29"/>
          <p:cNvSpPr/>
          <p:nvPr/>
        </p:nvSpPr>
        <p:spPr>
          <a:xfrm>
            <a:off x="2048256" y="3159252"/>
            <a:ext cx="1161288" cy="42062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 lead</a:t>
            </a:r>
            <a:endParaRPr lang="en-US" sz="800" dirty="0"/>
          </a:p>
        </p:txBody>
      </p:sp>
      <p:sp>
        <p:nvSpPr>
          <p:cNvPr id="34" name="Text 30"/>
          <p:cNvSpPr/>
          <p:nvPr/>
        </p:nvSpPr>
        <p:spPr>
          <a:xfrm>
            <a:off x="3282696" y="3159252"/>
            <a:ext cx="1069848" cy="42062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period</a:t>
            </a:r>
            <a:endParaRPr lang="en-US" sz="800" dirty="0"/>
          </a:p>
        </p:txBody>
      </p:sp>
      <p:sp>
        <p:nvSpPr>
          <p:cNvPr id="35" name="Text 31"/>
          <p:cNvSpPr/>
          <p:nvPr/>
        </p:nvSpPr>
        <p:spPr>
          <a:xfrm>
            <a:off x="4425696" y="3159252"/>
            <a:ext cx="1847088" cy="42062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VOC responses reviewed</a:t>
            </a:r>
            <a:endParaRPr lang="en-US" sz="800" dirty="0"/>
          </a:p>
        </p:txBody>
      </p:sp>
      <p:sp>
        <p:nvSpPr>
          <p:cNvPr id="36" name="Text 32"/>
          <p:cNvSpPr/>
          <p:nvPr/>
        </p:nvSpPr>
        <p:spPr>
          <a:xfrm>
            <a:off x="539496" y="3634740"/>
            <a:ext cx="1435608" cy="42062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quality</a:t>
            </a:r>
            <a:endParaRPr lang="en-US" sz="800" dirty="0"/>
          </a:p>
        </p:txBody>
      </p:sp>
      <p:sp>
        <p:nvSpPr>
          <p:cNvPr id="37" name="Text 33"/>
          <p:cNvSpPr/>
          <p:nvPr/>
        </p:nvSpPr>
        <p:spPr>
          <a:xfrm>
            <a:off x="2048256" y="3634740"/>
            <a:ext cx="1161288" cy="42062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lead</a:t>
            </a:r>
            <a:endParaRPr lang="en-US" sz="800" dirty="0"/>
          </a:p>
        </p:txBody>
      </p:sp>
      <p:sp>
        <p:nvSpPr>
          <p:cNvPr id="38" name="Text 34"/>
          <p:cNvSpPr/>
          <p:nvPr/>
        </p:nvSpPr>
        <p:spPr>
          <a:xfrm>
            <a:off x="3282696" y="3634740"/>
            <a:ext cx="1069848" cy="42062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circulation</a:t>
            </a:r>
            <a:endParaRPr lang="en-US" sz="800" dirty="0"/>
          </a:p>
        </p:txBody>
      </p:sp>
      <p:sp>
        <p:nvSpPr>
          <p:cNvPr id="39" name="Text 35"/>
          <p:cNvSpPr/>
          <p:nvPr/>
        </p:nvSpPr>
        <p:spPr>
          <a:xfrm>
            <a:off x="4425696" y="3634740"/>
            <a:ext cx="1847088" cy="42062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quality findings reviewed</a:t>
            </a:r>
            <a:endParaRPr lang="en-US" sz="800" dirty="0"/>
          </a:p>
        </p:txBody>
      </p:sp>
      <p:sp>
        <p:nvSpPr>
          <p:cNvPr id="40" name="Shape 36"/>
          <p:cNvSpPr/>
          <p:nvPr/>
        </p:nvSpPr>
        <p:spPr>
          <a:xfrm>
            <a:off x="6629400" y="1691640"/>
            <a:ext cx="4709160" cy="2377440"/>
          </a:xfrm>
          <a:prstGeom prst="rect">
            <a:avLst/>
          </a:prstGeom>
          <a:solidFill>
            <a:srgbClr val="F8FAFC"/>
          </a:solidFill>
          <a:ln w="11430">
            <a:solidFill>
              <a:srgbClr val="D9E2F3"/>
            </a:solidFill>
            <a:prstDash val="solid"/>
          </a:ln>
        </p:spPr>
        <p:txBody>
          <a:bodyPr/>
          <a:p/>
        </p:txBody>
      </p:sp>
      <p:sp>
        <p:nvSpPr>
          <p:cNvPr id="41" name="Text 37"/>
          <p:cNvSpPr/>
          <p:nvPr/>
        </p:nvSpPr>
        <p:spPr>
          <a:xfrm>
            <a:off x="6793992" y="1801368"/>
            <a:ext cx="43799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80" b="1" dirty="0">
                <a:solidFill>
                  <a:srgbClr val="005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Priority control load</a:t>
            </a:r>
            <a:endParaRPr lang="en-US" sz="1080" dirty="0"/>
          </a:p>
        </p:txBody>
      </p:sp>
      <p:sp>
        <p:nvSpPr>
          <p:cNvPr id="47" name="Shape 43"/>
          <p:cNvSpPr/>
          <p:nvPr/>
        </p:nvSpPr>
        <p:spPr>
          <a:xfrm>
            <a:off x="6858000" y="3566160"/>
            <a:ext cx="4297680" cy="0"/>
          </a:xfrm>
          <a:prstGeom prst="line">
            <a:avLst/>
          </a:prstGeom>
          <a:noFill/>
          <a:ln w="6350">
            <a:solidFill>
              <a:srgbClr val="A6A6A6"/>
            </a:solidFill>
            <a:prstDash val="solid"/>
          </a:ln>
        </p:spPr>
        <p:txBody>
          <a:bodyPr/>
          <a:p/>
        </p:txBody>
      </p:sp>
      <p:sp>
        <p:nvSpPr>
          <p:cNvPr id="48" name="Text 44"/>
          <p:cNvSpPr/>
          <p:nvPr/>
        </p:nvSpPr>
        <p:spPr>
          <a:xfrm>
            <a:off x="6793992" y="3794760"/>
            <a:ext cx="43799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i="1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660" dirty="0"/>
          </a:p>
        </p:txBody>
      </p:sp>
      <p:sp>
        <p:nvSpPr>
          <p:cNvPr id="49" name="Shape 45"/>
          <p:cNvSpPr/>
          <p:nvPr/>
        </p:nvSpPr>
        <p:spPr>
          <a:xfrm>
            <a:off x="502920" y="4343400"/>
            <a:ext cx="3429000" cy="1143000"/>
          </a:xfrm>
          <a:prstGeom prst="rect">
            <a:avLst/>
          </a:prstGeom>
          <a:solidFill>
            <a:srgbClr val="EAF3FB"/>
          </a:solidFill>
          <a:ln w="10160">
            <a:solidFill>
              <a:srgbClr val="D9E2F3"/>
            </a:solidFill>
            <a:prstDash val="solid"/>
          </a:ln>
        </p:spPr>
        <p:txBody>
          <a:bodyPr/>
          <a:p/>
        </p:txBody>
      </p:sp>
      <p:sp>
        <p:nvSpPr>
          <p:cNvPr id="50" name="Text 46"/>
          <p:cNvSpPr/>
          <p:nvPr/>
        </p:nvSpPr>
        <p:spPr>
          <a:xfrm>
            <a:off x="630936" y="4434840"/>
            <a:ext cx="31729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40" b="1" dirty="0">
                <a:solidFill>
                  <a:srgbClr val="005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needed</a:t>
            </a:r>
            <a:endParaRPr lang="en-US" sz="1140" dirty="0"/>
          </a:p>
        </p:txBody>
      </p:sp>
      <p:sp>
        <p:nvSpPr>
          <p:cNvPr id="51" name="Text 47"/>
          <p:cNvSpPr/>
          <p:nvPr/>
        </p:nvSpPr>
        <p:spPr>
          <a:xfrm>
            <a:off x="630936" y="4727448"/>
            <a:ext cx="3172968" cy="6858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 and assign the 92 unrepresented wards before the next operational close.</a:t>
            </a:r>
            <a:endParaRPr lang="en-US" sz="960" dirty="0"/>
          </a:p>
        </p:txBody>
      </p:sp>
      <p:sp>
        <p:nvSpPr>
          <p:cNvPr id="52" name="Shape 48"/>
          <p:cNvSpPr/>
          <p:nvPr/>
        </p:nvSpPr>
        <p:spPr>
          <a:xfrm>
            <a:off x="4251960" y="4343400"/>
            <a:ext cx="3429000" cy="1143000"/>
          </a:xfrm>
          <a:prstGeom prst="rect">
            <a:avLst/>
          </a:prstGeom>
          <a:solidFill>
            <a:srgbClr val="EAF3FB"/>
          </a:solidFill>
          <a:ln w="10160">
            <a:solidFill>
              <a:srgbClr val="D9E2F3"/>
            </a:solidFill>
            <a:prstDash val="solid"/>
          </a:ln>
        </p:spPr>
        <p:txBody>
          <a:bodyPr/>
          <a:p/>
        </p:txBody>
      </p:sp>
      <p:sp>
        <p:nvSpPr>
          <p:cNvPr id="53" name="Text 49"/>
          <p:cNvSpPr/>
          <p:nvPr/>
        </p:nvSpPr>
        <p:spPr>
          <a:xfrm>
            <a:off x="4379976" y="4434840"/>
            <a:ext cx="31729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40" b="1" dirty="0">
                <a:solidFill>
                  <a:srgbClr val="005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caveat</a:t>
            </a:r>
            <a:endParaRPr lang="en-US" sz="1140" dirty="0"/>
          </a:p>
        </p:txBody>
      </p:sp>
      <p:sp>
        <p:nvSpPr>
          <p:cNvPr id="54" name="Text 50"/>
          <p:cNvSpPr/>
          <p:nvPr/>
        </p:nvSpPr>
        <p:spPr>
          <a:xfrm>
            <a:off x="4379976" y="4727448"/>
            <a:ext cx="3172968" cy="6858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Area-level municipality breakdown requires a validated ward/master reference mapping.</a:t>
            </a:r>
            <a:endParaRPr lang="en-US" sz="960" dirty="0"/>
          </a:p>
        </p:txBody>
      </p:sp>
      <p:sp>
        <p:nvSpPr>
          <p:cNvPr id="55" name="Shape 51"/>
          <p:cNvSpPr/>
          <p:nvPr/>
        </p:nvSpPr>
        <p:spPr>
          <a:xfrm>
            <a:off x="8001000" y="4343400"/>
            <a:ext cx="3429000" cy="1143000"/>
          </a:xfrm>
          <a:prstGeom prst="rect">
            <a:avLst/>
          </a:prstGeom>
          <a:solidFill>
            <a:srgbClr val="EAF3FB"/>
          </a:solidFill>
          <a:ln w="10160">
            <a:solidFill>
              <a:srgbClr val="D9E2F3"/>
            </a:solidFill>
            <a:prstDash val="solid"/>
          </a:ln>
        </p:spPr>
        <p:txBody>
          <a:bodyPr/>
          <a:p/>
        </p:txBody>
      </p:sp>
      <p:sp>
        <p:nvSpPr>
          <p:cNvPr id="56" name="Text 52"/>
          <p:cNvSpPr/>
          <p:nvPr/>
        </p:nvSpPr>
        <p:spPr>
          <a:xfrm>
            <a:off x="8129016" y="4434840"/>
            <a:ext cx="31729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40" b="1" dirty="0">
                <a:solidFill>
                  <a:srgbClr val="005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Addendum pointer</a:t>
            </a:r>
            <a:endParaRPr lang="en-US" sz="1140" dirty="0"/>
          </a:p>
        </p:txBody>
      </p:sp>
      <p:sp>
        <p:nvSpPr>
          <p:cNvPr id="57" name="Text 53"/>
          <p:cNvSpPr/>
          <p:nvPr/>
        </p:nvSpPr>
        <p:spPr>
          <a:xfrm>
            <a:off x="8129016" y="4727448"/>
            <a:ext cx="3172968" cy="6858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Detailed graphs, accounted wards, missing wards, time logs and correction registers are attached separately.</a:t>
            </a:r>
            <a:endParaRPr lang="en-US" sz="960" dirty="0"/>
          </a:p>
        </p:txBody>
      </p:sp>
      <p:graphicFrame>
        <p:nvGraphicFramePr>
          <p:cNvPr id="58" name="Chart 57"/>
          <p:cNvGraphicFramePr>
            <a:graphicFrameLocks noGrp="1"/>
          </p:cNvGraphicFramePr>
          <p:nvPr/>
        </p:nvGraphicFramePr>
        <p:xfrm>
          <a:off x="6629400" y="2240280"/>
          <a:ext cx="4617720" cy="1965960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7</Slides>
  <Notes>7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8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Gauteng Provincial Government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Generic Corridor Operations Report Template</dc:title>
  <dc:subject>Generic Corridor Operations Reporting Template</dc:subject>
  <dc:creator>CIC</dc:creator>
  <cp:lastModifiedBy>CIC</cp:lastModifiedBy>
  <cp:revision>3</cp:revision>
  <dcterms:created xsi:type="dcterms:W3CDTF">2026-08-26T12:35:59Z</dcterms:created>
  <dcterms:modified xsi:type="dcterms:W3CDTF">2026-08-27T13:13:33Z</dcterms:modified>
</cp:coreProperties>
</file>