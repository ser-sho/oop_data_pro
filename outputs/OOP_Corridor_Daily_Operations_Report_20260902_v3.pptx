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marker>
            <c:symbol val="diamond"/>
            <c:size val="6"/>
          </c:marker>
          <c:cat>
            <c:strRef>
              <c:f>Sheet1!$A$2:$A$10</c:f>
              <c:strCache>
                <c:ptCount val="9"/>
                <c:pt idx="0">
                  <c:v>06:00</c:v>
                </c:pt>
                <c:pt idx="1">
                  <c:v>07:00</c:v>
                </c:pt>
                <c:pt idx="2">
                  <c:v>08:00</c:v>
                </c:pt>
                <c:pt idx="3">
                  <c:v>09:00</c:v>
                </c:pt>
                <c:pt idx="4">
                  <c:v>10:00</c:v>
                </c:pt>
                <c:pt idx="5">
                  <c:v>11:00</c:v>
                </c:pt>
                <c:pt idx="6">
                  <c:v>12:00</c:v>
                </c:pt>
                <c:pt idx="7">
                  <c:v>13:00</c:v>
                </c:pt>
                <c:pt idx="8">
                  <c:v>14:00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15.0</c:v>
                </c:pt>
                <c:pt idx="1">
                  <c:v>15.0</c:v>
                </c:pt>
                <c:pt idx="2">
                  <c:v>11.0</c:v>
                </c:pt>
                <c:pt idx="3">
                  <c:v>28.0</c:v>
                </c:pt>
                <c:pt idx="4">
                  <c:v>8.0</c:v>
                </c:pt>
                <c:pt idx="5">
                  <c:v>3.0</c:v>
                </c:pt>
                <c:pt idx="6">
                  <c:v>2.0</c:v>
                </c:pt>
                <c:pt idx="7">
                  <c:v>12.0</c:v>
                </c:pt>
                <c:pt idx="8">
                  <c:v>10.0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Hour of day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33.6"/>
          <c:min val="0.0"/>
        </c:scaling>
        <c:delete val="0"/>
        <c:axPos val="l"/>
        <c:majorGridlines>
          <c:spPr>
            <a:ln>
              <a:solidFill>
                <a:srgbClr val="D9E2F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Cases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2118791784"/>
        <c:crosses val="autoZero"/>
        <c:majorUnit val="7.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Covered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NORTH EAST CORRIDOR</c:v>
                </c:pt>
                <c:pt idx="1">
                  <c:v>SOUTH EAST CORRIDOR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15.0</c:v>
                </c:pt>
                <c:pt idx="1">
                  <c:v>9.0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Missing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rgbClr val="FFC000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NORTH EAST CORRIDOR</c:v>
                </c:pt>
                <c:pt idx="1">
                  <c:v>SOUTH EAST CORRIDOR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47.0</c:v>
                </c:pt>
                <c:pt idx="1">
                  <c:v>41.0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Area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9.44000000000001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Wards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068027336"/>
        <c:crosses val="autoZero"/>
        <c:majorUnit val="14.0"/>
      </c:valAx>
    </c:plotArea>
    <c:legend>
      <c:legendPos val="b"/>
      <c:overlay val="1"/>
      <c:txPr>
        <a:bodyPr/>
        <a:lstStyle/>
        <a:p>
          <a:pPr>
            <a:defRPr sz="7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Outbound Call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/>
        <c:delete val="0"/>
        <c:axPos val="b"/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Channel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9.6"/>
          <c:min val="0.0"/>
        </c:scaling>
        <c:delete val="0"/>
        <c:axPos val="l"/>
        <c:majorGridlines>
          <c:spPr>
            <a:ln>
              <a:solidFill>
                <a:srgbClr val="D9E2F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Cases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068027336"/>
        <c:crosses val="autoZero"/>
        <c:majorUnit val="24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06:00</c:v>
                </c:pt>
                <c:pt idx="1">
                  <c:v>07:00</c:v>
                </c:pt>
                <c:pt idx="2">
                  <c:v>08:00</c:v>
                </c:pt>
                <c:pt idx="3">
                  <c:v>09:00</c:v>
                </c:pt>
                <c:pt idx="4">
                  <c:v>10:00</c:v>
                </c:pt>
                <c:pt idx="5">
                  <c:v>11:00</c:v>
                </c:pt>
                <c:pt idx="6">
                  <c:v>12:00</c:v>
                </c:pt>
                <c:pt idx="7">
                  <c:v>13:00</c:v>
                </c:pt>
                <c:pt idx="8">
                  <c:v>14:00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15.0</c:v>
                </c:pt>
                <c:pt idx="1">
                  <c:v>15.0</c:v>
                </c:pt>
                <c:pt idx="2">
                  <c:v>11.0</c:v>
                </c:pt>
                <c:pt idx="3">
                  <c:v>28.0</c:v>
                </c:pt>
                <c:pt idx="4">
                  <c:v>8.0</c:v>
                </c:pt>
                <c:pt idx="5">
                  <c:v>3.0</c:v>
                </c:pt>
                <c:pt idx="6">
                  <c:v>2.0</c:v>
                </c:pt>
                <c:pt idx="7">
                  <c:v>12.0</c:v>
                </c:pt>
                <c:pt idx="8">
                  <c:v>10.0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/>
        <c:delete val="0"/>
        <c:axPos val="b"/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Hour of day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2.199999999999996"/>
          <c:min val="0.0"/>
        </c:scaling>
        <c:delete val="0"/>
        <c:axPos val="l"/>
        <c:majorGridlines>
          <c:spPr>
            <a:ln>
              <a:solidFill>
                <a:srgbClr val="D9E2F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Cases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068027336"/>
        <c:crosses val="autoZero"/>
        <c:majorUnit val="6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Electricity Services</c:v>
                </c:pt>
                <c:pt idx="1">
                  <c:v>Roads Services</c:v>
                </c:pt>
                <c:pt idx="2">
                  <c:v>Environment Services</c:v>
                </c:pt>
                <c:pt idx="3">
                  <c:v>Water Services</c:v>
                </c:pt>
                <c:pt idx="4">
                  <c:v>Sanitation Services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26.0</c:v>
                </c:pt>
                <c:pt idx="1">
                  <c:v>24.0</c:v>
                </c:pt>
                <c:pt idx="2">
                  <c:v>22.0</c:v>
                </c:pt>
                <c:pt idx="3">
                  <c:v>17.0</c:v>
                </c:pt>
                <c:pt idx="4">
                  <c:v>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Service category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9.9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Cases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068027336"/>
        <c:crosses val="autoZero"/>
        <c:majorUnit val="6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Missing wards</c:v>
                </c:pt>
                <c:pt idx="1">
                  <c:v>Channel/time</c:v>
                </c:pt>
                <c:pt idx="2">
                  <c:v>VOC queue</c:v>
                </c:pt>
                <c:pt idx="3">
                  <c:v>Data quality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88.0</c:v>
                </c:pt>
                <c:pt idx="1">
                  <c:v>1.0</c:v>
                </c:pt>
                <c:pt idx="2">
                  <c:v>3.0</c:v>
                </c:pt>
                <c:pt idx="3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Control area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1.19999999999999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F2EC4-C076-4A07-B438-C52ED8362070}" type="datetimeFigureOut"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77E846-7598-4070-9CDC-FD9526AE9B2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689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75488" y="1353312"/>
            <a:ext cx="11247120" cy="2212848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731520" y="1755648"/>
            <a:ext cx="107350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
OPERATIONS REPORT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822960" y="2679192"/>
            <a:ext cx="105613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
02 September 2026 | Wednesday 2 September 2026 | 15:00</a:t>
            </a:r>
            <a:endParaRPr lang="en-US" sz="1450" dirty="0"/>
          </a:p>
        </p:txBody>
      </p:sp>
      <p:sp>
        <p:nvSpPr>
          <p:cNvPr id="7" name="Shape 3"/>
          <p:cNvSpPr/>
          <p:nvPr/>
        </p:nvSpPr>
        <p:spPr>
          <a:xfrm>
            <a:off x="58521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640080" y="42062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4008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cases</a:t>
            </a:r>
            <a:endParaRPr lang="en-US" sz="770" dirty="0"/>
          </a:p>
        </p:txBody>
      </p:sp>
      <p:sp>
        <p:nvSpPr>
          <p:cNvPr id="10" name="Shape 6"/>
          <p:cNvSpPr/>
          <p:nvPr/>
        </p:nvSpPr>
        <p:spPr>
          <a:xfrm>
            <a:off x="255117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2606040" y="42062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24/112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260604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Wards covered</a:t>
            </a:r>
            <a:endParaRPr lang="en-US" sz="770" dirty="0"/>
          </a:p>
        </p:txBody>
      </p:sp>
      <p:sp>
        <p:nvSpPr>
          <p:cNvPr id="13" name="Shape 9"/>
          <p:cNvSpPr/>
          <p:nvPr/>
        </p:nvSpPr>
        <p:spPr>
          <a:xfrm>
            <a:off x="451713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4572000" y="42062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21.4%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7200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770" dirty="0"/>
          </a:p>
        </p:txBody>
      </p:sp>
      <p:sp>
        <p:nvSpPr>
          <p:cNvPr id="16" name="Shape 12"/>
          <p:cNvSpPr/>
          <p:nvPr/>
        </p:nvSpPr>
        <p:spPr>
          <a:xfrm>
            <a:off x="648309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6537960" y="42062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53796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Wards missing</a:t>
            </a:r>
            <a:endParaRPr lang="en-US" sz="770" dirty="0"/>
          </a:p>
        </p:txBody>
      </p:sp>
      <p:sp>
        <p:nvSpPr>
          <p:cNvPr id="19" name="Shape 15"/>
          <p:cNvSpPr/>
          <p:nvPr/>
        </p:nvSpPr>
        <p:spPr>
          <a:xfrm>
            <a:off x="844905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F2B200"/>
          </a:solidFill>
          <a:ln w="12700">
            <a:solidFill>
              <a:srgbClr val="F2B2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8503920" y="42062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850392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ready / done</a:t>
            </a:r>
            <a:endParaRPr lang="en-US" sz="770" dirty="0"/>
          </a:p>
        </p:txBody>
      </p:sp>
      <p:sp>
        <p:nvSpPr>
          <p:cNvPr id="22" name="Shape 18"/>
          <p:cNvSpPr/>
          <p:nvPr/>
        </p:nvSpPr>
        <p:spPr>
          <a:xfrm>
            <a:off x="1041501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10469880" y="4206240"/>
            <a:ext cx="1609344" cy="219456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1046988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status</a:t>
            </a:r>
            <a:endParaRPr lang="en-US" sz="770" dirty="0"/>
          </a:p>
        </p:txBody>
      </p:sp>
      <p:sp>
        <p:nvSpPr>
          <p:cNvPr id="25" name="Text 21"/>
          <p:cNvSpPr/>
          <p:nvPr/>
        </p:nvSpPr>
        <p:spPr>
          <a:xfrm>
            <a:off x="594360" y="516636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20" dirty="0"/>
          </a:p>
        </p:txBody>
      </p:sp>
      <p:sp>
        <p:nvSpPr>
          <p:cNvPr id="26" name="Shape 22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27" name="Text 23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02 September 2026 | 15:00</a:t>
            </a:r>
            <a:endParaRPr lang="en-US" sz="570" dirty="0"/>
          </a:p>
        </p:txBody>
      </p:sp>
      <p:sp>
        <p:nvSpPr>
          <p:cNvPr id="28" name="Text 24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EXECUTIVE COVERAGE SNAPSHOT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02 September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411480" y="1554480"/>
            <a:ext cx="3703320" cy="132588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539496" y="1645920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now</a:t>
            </a:r>
            <a:endParaRPr lang="en-US" sz="1140" dirty="0"/>
          </a:p>
        </p:txBody>
      </p:sp>
      <p:sp>
        <p:nvSpPr>
          <p:cNvPr id="13" name="Text 9"/>
          <p:cNvSpPr/>
          <p:nvPr/>
        </p:nvSpPr>
        <p:spPr>
          <a:xfrm>
            <a:off x="539496" y="1938528"/>
            <a:ext cx="344728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 valid cases on 02 September 2026; 24 new wards today; 24 wards reached cumulatively (21.4% of 112).</a:t>
            </a:r>
            <a:endParaRPr lang="en-US" sz="960" dirty="0"/>
          </a:p>
        </p:txBody>
      </p:sp>
      <p:sp>
        <p:nvSpPr>
          <p:cNvPr id="14" name="Shape 10"/>
          <p:cNvSpPr/>
          <p:nvPr/>
        </p:nvSpPr>
        <p:spPr>
          <a:xfrm>
            <a:off x="4251960" y="1554480"/>
            <a:ext cx="3703320" cy="132588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4379976" y="1645920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1140" dirty="0"/>
          </a:p>
        </p:txBody>
      </p:sp>
      <p:sp>
        <p:nvSpPr>
          <p:cNvPr id="16" name="Text 12"/>
          <p:cNvSpPr/>
          <p:nvPr/>
        </p:nvSpPr>
        <p:spPr>
          <a:xfrm>
            <a:off x="4379976" y="1938528"/>
            <a:ext cx="344728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104 cases and 24 new wards. New wards are unique to the selected reporting date after checking all prior valid dates; running wards are cumulative unique wards.</a:t>
            </a:r>
            <a:endParaRPr lang="en-US" sz="960" dirty="0"/>
          </a:p>
        </p:txBody>
      </p:sp>
      <p:sp>
        <p:nvSpPr>
          <p:cNvPr id="17" name="Shape 13"/>
          <p:cNvSpPr/>
          <p:nvPr/>
        </p:nvSpPr>
        <p:spPr>
          <a:xfrm>
            <a:off x="8092440" y="1554480"/>
            <a:ext cx="3703320" cy="132588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8220456" y="1645920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needs attention</a:t>
            </a:r>
            <a:endParaRPr lang="en-US" sz="1140" dirty="0"/>
          </a:p>
        </p:txBody>
      </p:sp>
      <p:sp>
        <p:nvSpPr>
          <p:cNvPr id="19" name="Text 15"/>
          <p:cNvSpPr/>
          <p:nvPr/>
        </p:nvSpPr>
        <p:spPr>
          <a:xfrm>
            <a:off x="8220456" y="1938528"/>
            <a:ext cx="344728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 ward allocations remain. To reach the 112-ward weekly target by Friday, aim for 44 new wards per remaining working day (2 days).</a:t>
            </a:r>
            <a:endParaRPr lang="en-US" sz="960" dirty="0"/>
          </a:p>
        </p:txBody>
      </p:sp>
      <p:sp>
        <p:nvSpPr>
          <p:cNvPr id="20" name="Shape 16"/>
          <p:cNvSpPr/>
          <p:nvPr/>
        </p:nvSpPr>
        <p:spPr>
          <a:xfrm>
            <a:off x="502920" y="3154680"/>
            <a:ext cx="3657600" cy="2148840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667512" y="3264408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 logged per hour</a:t>
            </a:r>
            <a:endParaRPr lang="en-US" sz="1080" dirty="0"/>
          </a:p>
        </p:txBody>
      </p:sp>
      <p:sp>
        <p:nvSpPr>
          <p:cNvPr id="27" name="Shape 23"/>
          <p:cNvSpPr/>
          <p:nvPr/>
        </p:nvSpPr>
        <p:spPr>
          <a:xfrm>
            <a:off x="731520" y="4800600"/>
            <a:ext cx="324612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28" name="Text 24"/>
          <p:cNvSpPr/>
          <p:nvPr/>
        </p:nvSpPr>
        <p:spPr>
          <a:xfrm>
            <a:off x="667512" y="5029200"/>
            <a:ext cx="3328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60" dirty="0"/>
          </a:p>
        </p:txBody>
      </p:sp>
      <p:sp>
        <p:nvSpPr>
          <p:cNvPr id="29" name="Shape 25"/>
          <p:cNvSpPr/>
          <p:nvPr/>
        </p:nvSpPr>
        <p:spPr>
          <a:xfrm>
            <a:off x="4480560" y="3154680"/>
            <a:ext cx="434340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30" name="Shape 26"/>
          <p:cNvSpPr/>
          <p:nvPr/>
        </p:nvSpPr>
        <p:spPr>
          <a:xfrm>
            <a:off x="4480560" y="3154680"/>
            <a:ext cx="4343400" cy="429768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31" name="Shape 27"/>
          <p:cNvSpPr/>
          <p:nvPr/>
        </p:nvSpPr>
        <p:spPr>
          <a:xfrm>
            <a:off x="4480560" y="3584448"/>
            <a:ext cx="43434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2" name="Shape 28"/>
          <p:cNvSpPr/>
          <p:nvPr/>
        </p:nvSpPr>
        <p:spPr>
          <a:xfrm>
            <a:off x="4480560" y="4014216"/>
            <a:ext cx="43434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3" name="Shape 29"/>
          <p:cNvSpPr/>
          <p:nvPr/>
        </p:nvSpPr>
        <p:spPr>
          <a:xfrm>
            <a:off x="4480560" y="4443984"/>
            <a:ext cx="43434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4" name="Shape 30"/>
          <p:cNvSpPr/>
          <p:nvPr/>
        </p:nvSpPr>
        <p:spPr>
          <a:xfrm>
            <a:off x="4480560" y="4873752"/>
            <a:ext cx="43434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5" name="Shape 31"/>
          <p:cNvSpPr/>
          <p:nvPr/>
        </p:nvSpPr>
        <p:spPr>
          <a:xfrm>
            <a:off x="5349240" y="3154680"/>
            <a:ext cx="0" cy="21488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6" name="Shape 32"/>
          <p:cNvSpPr/>
          <p:nvPr/>
        </p:nvSpPr>
        <p:spPr>
          <a:xfrm>
            <a:off x="6126480" y="3154680"/>
            <a:ext cx="0" cy="21488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7" name="Shape 33"/>
          <p:cNvSpPr/>
          <p:nvPr/>
        </p:nvSpPr>
        <p:spPr>
          <a:xfrm>
            <a:off x="7086600" y="3154680"/>
            <a:ext cx="0" cy="21488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8" name="Shape 34"/>
          <p:cNvSpPr/>
          <p:nvPr/>
        </p:nvSpPr>
        <p:spPr>
          <a:xfrm>
            <a:off x="8138160" y="3154680"/>
            <a:ext cx="0" cy="21488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9" name="Text 35"/>
          <p:cNvSpPr/>
          <p:nvPr/>
        </p:nvSpPr>
        <p:spPr>
          <a:xfrm>
            <a:off x="4517136" y="3195828"/>
            <a:ext cx="7955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</a:t>
            </a:r>
            <a:endParaRPr lang="en-US" sz="770" dirty="0"/>
          </a:p>
        </p:txBody>
      </p:sp>
      <p:sp>
        <p:nvSpPr>
          <p:cNvPr id="40" name="Text 36"/>
          <p:cNvSpPr/>
          <p:nvPr/>
        </p:nvSpPr>
        <p:spPr>
          <a:xfrm>
            <a:off x="5385816" y="3195828"/>
            <a:ext cx="70408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</a:t>
            </a:r>
            <a:endParaRPr lang="en-US" sz="770" dirty="0"/>
          </a:p>
        </p:txBody>
      </p:sp>
      <p:sp>
        <p:nvSpPr>
          <p:cNvPr id="41" name="Text 37"/>
          <p:cNvSpPr/>
          <p:nvPr/>
        </p:nvSpPr>
        <p:spPr>
          <a:xfrm>
            <a:off x="6163056" y="3195828"/>
            <a:ext cx="88696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wards</a:t>
            </a:r>
            <a:endParaRPr lang="en-US" sz="770" dirty="0"/>
          </a:p>
        </p:txBody>
      </p:sp>
      <p:sp>
        <p:nvSpPr>
          <p:cNvPr id="42" name="Text 38"/>
          <p:cNvSpPr/>
          <p:nvPr/>
        </p:nvSpPr>
        <p:spPr>
          <a:xfrm>
            <a:off x="7123176" y="3195828"/>
            <a:ext cx="97840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total</a:t>
            </a:r>
            <a:endParaRPr lang="en-US" sz="770" dirty="0"/>
          </a:p>
        </p:txBody>
      </p:sp>
      <p:sp>
        <p:nvSpPr>
          <p:cNvPr id="43" name="Text 39"/>
          <p:cNvSpPr/>
          <p:nvPr/>
        </p:nvSpPr>
        <p:spPr>
          <a:xfrm>
            <a:off x="8174736" y="3195828"/>
            <a:ext cx="61264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needed</a:t>
            </a:r>
            <a:endParaRPr lang="en-US" sz="770" dirty="0"/>
          </a:p>
        </p:txBody>
      </p:sp>
      <p:sp>
        <p:nvSpPr>
          <p:cNvPr id="44" name="Text 40"/>
          <p:cNvSpPr/>
          <p:nvPr/>
        </p:nvSpPr>
        <p:spPr>
          <a:xfrm>
            <a:off x="4517136" y="3625596"/>
            <a:ext cx="7955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2026-09-02</a:t>
            </a:r>
            <a:endParaRPr lang="en-US" sz="770" dirty="0"/>
          </a:p>
        </p:txBody>
      </p:sp>
      <p:sp>
        <p:nvSpPr>
          <p:cNvPr id="45" name="Text 41"/>
          <p:cNvSpPr/>
          <p:nvPr/>
        </p:nvSpPr>
        <p:spPr>
          <a:xfrm>
            <a:off x="5385816" y="3625596"/>
            <a:ext cx="70408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770" dirty="0"/>
          </a:p>
        </p:txBody>
      </p:sp>
      <p:sp>
        <p:nvSpPr>
          <p:cNvPr id="46" name="Text 42"/>
          <p:cNvSpPr/>
          <p:nvPr/>
        </p:nvSpPr>
        <p:spPr>
          <a:xfrm>
            <a:off x="6163056" y="3625596"/>
            <a:ext cx="88696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770" dirty="0"/>
          </a:p>
        </p:txBody>
      </p:sp>
      <p:sp>
        <p:nvSpPr>
          <p:cNvPr id="47" name="Text 43"/>
          <p:cNvSpPr/>
          <p:nvPr/>
        </p:nvSpPr>
        <p:spPr>
          <a:xfrm>
            <a:off x="7123176" y="3625596"/>
            <a:ext cx="97840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24/112</a:t>
            </a:r>
            <a:endParaRPr lang="en-US" sz="770" dirty="0"/>
          </a:p>
        </p:txBody>
      </p:sp>
      <p:sp>
        <p:nvSpPr>
          <p:cNvPr id="48" name="Text 44"/>
          <p:cNvSpPr/>
          <p:nvPr/>
        </p:nvSpPr>
        <p:spPr>
          <a:xfrm>
            <a:off x="8174736" y="3625596"/>
            <a:ext cx="61264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770" dirty="0"/>
          </a:p>
        </p:txBody>
      </p:sp>
      <p:sp>
        <p:nvSpPr>
          <p:cNvPr id="49" name="Text 45"/>
          <p:cNvSpPr/>
          <p:nvPr/>
        </p:nvSpPr>
        <p:spPr>
          <a:xfrm>
            <a:off x="4517136" y="4055364"/>
            <a:ext cx="7955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0" name="Text 46"/>
          <p:cNvSpPr/>
          <p:nvPr/>
        </p:nvSpPr>
        <p:spPr>
          <a:xfrm>
            <a:off x="5385816" y="4055364"/>
            <a:ext cx="70408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1" name="Text 47"/>
          <p:cNvSpPr/>
          <p:nvPr/>
        </p:nvSpPr>
        <p:spPr>
          <a:xfrm>
            <a:off x="6163056" y="4055364"/>
            <a:ext cx="88696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2" name="Text 48"/>
          <p:cNvSpPr/>
          <p:nvPr/>
        </p:nvSpPr>
        <p:spPr>
          <a:xfrm>
            <a:off x="7123176" y="4055364"/>
            <a:ext cx="97840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3" name="Text 49"/>
          <p:cNvSpPr/>
          <p:nvPr/>
        </p:nvSpPr>
        <p:spPr>
          <a:xfrm>
            <a:off x="8174736" y="4055364"/>
            <a:ext cx="61264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4" name="Text 50"/>
          <p:cNvSpPr/>
          <p:nvPr/>
        </p:nvSpPr>
        <p:spPr>
          <a:xfrm>
            <a:off x="4517136" y="4485132"/>
            <a:ext cx="7955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5" name="Text 51"/>
          <p:cNvSpPr/>
          <p:nvPr/>
        </p:nvSpPr>
        <p:spPr>
          <a:xfrm>
            <a:off x="5385816" y="4485132"/>
            <a:ext cx="70408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6" name="Text 52"/>
          <p:cNvSpPr/>
          <p:nvPr/>
        </p:nvSpPr>
        <p:spPr>
          <a:xfrm>
            <a:off x="6163056" y="4485132"/>
            <a:ext cx="88696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7" name="Text 53"/>
          <p:cNvSpPr/>
          <p:nvPr/>
        </p:nvSpPr>
        <p:spPr>
          <a:xfrm>
            <a:off x="7123176" y="4485132"/>
            <a:ext cx="97840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8" name="Text 54"/>
          <p:cNvSpPr/>
          <p:nvPr/>
        </p:nvSpPr>
        <p:spPr>
          <a:xfrm>
            <a:off x="8174736" y="4485132"/>
            <a:ext cx="61264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9" name="Text 55"/>
          <p:cNvSpPr/>
          <p:nvPr/>
        </p:nvSpPr>
        <p:spPr>
          <a:xfrm>
            <a:off x="4517136" y="4914900"/>
            <a:ext cx="7955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60" name="Text 56"/>
          <p:cNvSpPr/>
          <p:nvPr/>
        </p:nvSpPr>
        <p:spPr>
          <a:xfrm>
            <a:off x="5385816" y="4914900"/>
            <a:ext cx="70408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61" name="Text 57"/>
          <p:cNvSpPr/>
          <p:nvPr/>
        </p:nvSpPr>
        <p:spPr>
          <a:xfrm>
            <a:off x="6163056" y="4914900"/>
            <a:ext cx="88696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62" name="Text 58"/>
          <p:cNvSpPr/>
          <p:nvPr/>
        </p:nvSpPr>
        <p:spPr>
          <a:xfrm>
            <a:off x="7123176" y="4914900"/>
            <a:ext cx="97840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63" name="Text 59"/>
          <p:cNvSpPr/>
          <p:nvPr/>
        </p:nvSpPr>
        <p:spPr>
          <a:xfrm>
            <a:off x="8174736" y="4914900"/>
            <a:ext cx="61264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64" name="Text 60"/>
          <p:cNvSpPr/>
          <p:nvPr/>
        </p:nvSpPr>
        <p:spPr>
          <a:xfrm>
            <a:off x="9144000" y="316382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focus</a:t>
            </a:r>
            <a:endParaRPr lang="en-US" sz="1140" dirty="0"/>
          </a:p>
        </p:txBody>
      </p:sp>
      <p:sp>
        <p:nvSpPr>
          <p:cNvPr id="65" name="Text 61"/>
          <p:cNvSpPr/>
          <p:nvPr/>
        </p:nvSpPr>
        <p:spPr>
          <a:xfrm>
            <a:off x="9144000" y="3474720"/>
            <a:ext cx="2606040" cy="1810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9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ward representation (88 missing).
Protect observed peak intake periods.
Use the addendum for detailed evidence.</a:t>
            </a:r>
            <a:endParaRPr lang="en-US" sz="940" dirty="0"/>
          </a:p>
        </p:txBody>
      </p:sp>
      <p:graphicFrame>
        <p:nvGraphicFramePr>
          <p:cNvPr id="66" name="Chart 65"/>
          <p:cNvGraphicFramePr>
            <a:graphicFrameLocks noGrp="1"/>
          </p:cNvGraphicFramePr>
          <p:nvPr/>
        </p:nvGraphicFramePr>
        <p:xfrm>
          <a:off x="685800" y="3547872"/>
          <a:ext cx="3429000" cy="14173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WARD COVERAGE BY MUNICIPALITY / REGION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02 September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502920" y="1645920"/>
            <a:ext cx="512064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502920" y="1645920"/>
            <a:ext cx="5120640" cy="393192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502920" y="2039112"/>
            <a:ext cx="51206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502920" y="2432304"/>
            <a:ext cx="51206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502920" y="2825496"/>
            <a:ext cx="51206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502920" y="3218688"/>
            <a:ext cx="51206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2468880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3218688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4005072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4791456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539496" y="1687068"/>
            <a:ext cx="1892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2505456" y="1687068"/>
            <a:ext cx="676656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3255264" y="1687068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4041648" y="1687068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4828032" y="1687068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539496" y="2080260"/>
            <a:ext cx="1892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EAST CORRIDOR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2505456" y="2080260"/>
            <a:ext cx="676656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3255264" y="2080260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4041648" y="2080260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4828032" y="2080260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24.2%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539496" y="2473452"/>
            <a:ext cx="1892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EAST CORRIDOR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2505456" y="2473452"/>
            <a:ext cx="676656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3255264" y="2473452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4041648" y="2473452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4828032" y="2473452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18.0%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539496" y="2866644"/>
            <a:ext cx="1892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2505456" y="2866644"/>
            <a:ext cx="676656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3255264" y="2866644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4041648" y="2866644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4828032" y="2866644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21.4%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539496" y="3259836"/>
            <a:ext cx="1892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2505456" y="3259836"/>
            <a:ext cx="676656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3255264" y="3259836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4041648" y="3259836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4828032" y="3259836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 unique / 112 listed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989320" y="1645920"/>
            <a:ext cx="5440680" cy="1965960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47" name="Text 43"/>
          <p:cNvSpPr/>
          <p:nvPr/>
        </p:nvSpPr>
        <p:spPr>
          <a:xfrm>
            <a:off x="6153912" y="1755648"/>
            <a:ext cx="5111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 vs missing wards by area</a:t>
            </a:r>
            <a:endParaRPr lang="en-US" sz="1080" dirty="0"/>
          </a:p>
        </p:txBody>
      </p:sp>
      <p:sp>
        <p:nvSpPr>
          <p:cNvPr id="53" name="Shape 49"/>
          <p:cNvSpPr/>
          <p:nvPr/>
        </p:nvSpPr>
        <p:spPr>
          <a:xfrm>
            <a:off x="6217920" y="3108960"/>
            <a:ext cx="502920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54" name="Text 50"/>
          <p:cNvSpPr/>
          <p:nvPr/>
        </p:nvSpPr>
        <p:spPr>
          <a:xfrm>
            <a:off x="6153912" y="3337560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60" dirty="0"/>
          </a:p>
        </p:txBody>
      </p:sp>
      <p:sp>
        <p:nvSpPr>
          <p:cNvPr id="55" name="Shape 51"/>
          <p:cNvSpPr/>
          <p:nvPr/>
        </p:nvSpPr>
        <p:spPr>
          <a:xfrm>
            <a:off x="502920" y="3886200"/>
            <a:ext cx="5120640" cy="160020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6" name="Text 52"/>
          <p:cNvSpPr/>
          <p:nvPr/>
        </p:nvSpPr>
        <p:spPr>
          <a:xfrm>
            <a:off x="630936" y="3977640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140" dirty="0"/>
          </a:p>
        </p:txBody>
      </p:sp>
      <p:sp>
        <p:nvSpPr>
          <p:cNvPr id="57" name="Text 53"/>
          <p:cNvSpPr/>
          <p:nvPr/>
        </p:nvSpPr>
        <p:spPr>
          <a:xfrm>
            <a:off x="630936" y="4270248"/>
            <a:ext cx="4864608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Selected-day coverage: 24 of 112 listed ward allocations were covered across North East and South East. Cumulative progress remains 24/112; master validation: 111 unique ward numbers and 0 observed ward numbers outside the master.</a:t>
            </a:r>
            <a:endParaRPr lang="en-US" sz="960" dirty="0"/>
          </a:p>
        </p:txBody>
      </p:sp>
      <p:sp>
        <p:nvSpPr>
          <p:cNvPr id="58" name="Shape 54"/>
          <p:cNvSpPr/>
          <p:nvPr/>
        </p:nvSpPr>
        <p:spPr>
          <a:xfrm>
            <a:off x="5989320" y="3886200"/>
            <a:ext cx="5440680" cy="160020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9" name="Text 55"/>
          <p:cNvSpPr/>
          <p:nvPr/>
        </p:nvSpPr>
        <p:spPr>
          <a:xfrm>
            <a:off x="6117336" y="3977640"/>
            <a:ext cx="5184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Call-list link</a:t>
            </a:r>
            <a:endParaRPr lang="en-US" sz="1140" dirty="0"/>
          </a:p>
        </p:txBody>
      </p:sp>
      <p:sp>
        <p:nvSpPr>
          <p:cNvPr id="60" name="Text 56"/>
          <p:cNvSpPr/>
          <p:nvPr/>
        </p:nvSpPr>
        <p:spPr>
          <a:xfrm>
            <a:off x="6117336" y="4270248"/>
            <a:ext cx="5184648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addendum contains the ward evidence and validation trail.</a:t>
            </a:r>
            <a:endParaRPr lang="en-US" sz="960" dirty="0"/>
          </a:p>
        </p:txBody>
      </p:sp>
      <p:graphicFrame>
        <p:nvGraphicFramePr>
          <p:cNvPr id="61" name="Chart 60"/>
          <p:cNvGraphicFramePr>
            <a:graphicFrameLocks noGrp="1"/>
          </p:cNvGraphicFramePr>
          <p:nvPr/>
        </p:nvGraphicFramePr>
        <p:xfrm>
          <a:off x="6144768" y="2240280"/>
          <a:ext cx="5166360" cy="17830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CHANNEL AND TIME COVERAGE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02 September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502920" y="1645920"/>
            <a:ext cx="55321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502920" y="1645920"/>
            <a:ext cx="5532120" cy="393192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502920" y="2039112"/>
            <a:ext cx="553212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502920" y="2432304"/>
            <a:ext cx="553212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502920" y="2825496"/>
            <a:ext cx="553212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502920" y="3218688"/>
            <a:ext cx="553212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1645920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2377440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2971800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3794760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539496" y="1687068"/>
            <a:ext cx="106984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1682496" y="1687068"/>
            <a:ext cx="6583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2414016" y="1687068"/>
            <a:ext cx="5212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3008376" y="1687068"/>
            <a:ext cx="749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wards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3831336" y="1687068"/>
            <a:ext cx="216712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note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539496" y="2080260"/>
            <a:ext cx="106984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Call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1682496" y="2080260"/>
            <a:ext cx="6583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2414016" y="2080260"/>
            <a:ext cx="5212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100.0%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3008376" y="2080260"/>
            <a:ext cx="749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3831336" y="2080260"/>
            <a:ext cx="216712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concentration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539496" y="2473452"/>
            <a:ext cx="106984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1682496" y="2473452"/>
            <a:ext cx="6583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2414016" y="2473452"/>
            <a:ext cx="5212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3008376" y="2473452"/>
            <a:ext cx="749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3831336" y="2473452"/>
            <a:ext cx="216712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539496" y="2866644"/>
            <a:ext cx="106984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37" name="Text 33"/>
          <p:cNvSpPr/>
          <p:nvPr/>
        </p:nvSpPr>
        <p:spPr>
          <a:xfrm>
            <a:off x="1682496" y="2866644"/>
            <a:ext cx="6583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38" name="Text 34"/>
          <p:cNvSpPr/>
          <p:nvPr/>
        </p:nvSpPr>
        <p:spPr>
          <a:xfrm>
            <a:off x="2414016" y="2866644"/>
            <a:ext cx="5212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750" dirty="0"/>
          </a:p>
        </p:txBody>
      </p:sp>
      <p:sp>
        <p:nvSpPr>
          <p:cNvPr id="39" name="Text 35"/>
          <p:cNvSpPr/>
          <p:nvPr/>
        </p:nvSpPr>
        <p:spPr>
          <a:xfrm>
            <a:off x="3008376" y="2866644"/>
            <a:ext cx="749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40" name="Text 36"/>
          <p:cNvSpPr/>
          <p:nvPr/>
        </p:nvSpPr>
        <p:spPr>
          <a:xfrm>
            <a:off x="3831336" y="2866644"/>
            <a:ext cx="216712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41" name="Text 37"/>
          <p:cNvSpPr/>
          <p:nvPr/>
        </p:nvSpPr>
        <p:spPr>
          <a:xfrm>
            <a:off x="539496" y="3259836"/>
            <a:ext cx="106984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42" name="Text 38"/>
          <p:cNvSpPr/>
          <p:nvPr/>
        </p:nvSpPr>
        <p:spPr>
          <a:xfrm>
            <a:off x="1682496" y="3259836"/>
            <a:ext cx="6583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43" name="Text 39"/>
          <p:cNvSpPr/>
          <p:nvPr/>
        </p:nvSpPr>
        <p:spPr>
          <a:xfrm>
            <a:off x="2414016" y="3259836"/>
            <a:ext cx="5212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750" dirty="0"/>
          </a:p>
        </p:txBody>
      </p:sp>
      <p:sp>
        <p:nvSpPr>
          <p:cNvPr id="44" name="Text 40"/>
          <p:cNvSpPr/>
          <p:nvPr/>
        </p:nvSpPr>
        <p:spPr>
          <a:xfrm>
            <a:off x="3008376" y="3259836"/>
            <a:ext cx="749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45" name="Text 41"/>
          <p:cNvSpPr/>
          <p:nvPr/>
        </p:nvSpPr>
        <p:spPr>
          <a:xfrm>
            <a:off x="3831336" y="3259836"/>
            <a:ext cx="216712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46" name="Shape 42"/>
          <p:cNvSpPr/>
          <p:nvPr/>
        </p:nvSpPr>
        <p:spPr>
          <a:xfrm>
            <a:off x="6355080" y="1645920"/>
            <a:ext cx="5074920" cy="1965960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47" name="Text 43"/>
          <p:cNvSpPr/>
          <p:nvPr/>
        </p:nvSpPr>
        <p:spPr>
          <a:xfrm>
            <a:off x="6519672" y="1755648"/>
            <a:ext cx="4745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mix</a:t>
            </a:r>
            <a:endParaRPr lang="en-US" sz="1080" dirty="0"/>
          </a:p>
        </p:txBody>
      </p:sp>
      <p:sp>
        <p:nvSpPr>
          <p:cNvPr id="53" name="Shape 49"/>
          <p:cNvSpPr/>
          <p:nvPr/>
        </p:nvSpPr>
        <p:spPr>
          <a:xfrm>
            <a:off x="6583680" y="3108960"/>
            <a:ext cx="466344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54" name="Text 50"/>
          <p:cNvSpPr/>
          <p:nvPr/>
        </p:nvSpPr>
        <p:spPr>
          <a:xfrm>
            <a:off x="6519672" y="3337560"/>
            <a:ext cx="4745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60" dirty="0"/>
          </a:p>
        </p:txBody>
      </p:sp>
      <p:sp>
        <p:nvSpPr>
          <p:cNvPr id="55" name="Shape 51"/>
          <p:cNvSpPr/>
          <p:nvPr/>
        </p:nvSpPr>
        <p:spPr>
          <a:xfrm>
            <a:off x="502920" y="3886200"/>
            <a:ext cx="5440680" cy="1627632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6" name="Text 52"/>
          <p:cNvSpPr/>
          <p:nvPr/>
        </p:nvSpPr>
        <p:spPr>
          <a:xfrm>
            <a:off x="667512" y="3995928"/>
            <a:ext cx="5111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coverage / hourly activity</a:t>
            </a:r>
            <a:endParaRPr lang="en-US" sz="1080" dirty="0"/>
          </a:p>
        </p:txBody>
      </p:sp>
      <p:sp>
        <p:nvSpPr>
          <p:cNvPr id="62" name="Shape 58"/>
          <p:cNvSpPr/>
          <p:nvPr/>
        </p:nvSpPr>
        <p:spPr>
          <a:xfrm>
            <a:off x="731520" y="5010912"/>
            <a:ext cx="502920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63" name="Text 59"/>
          <p:cNvSpPr/>
          <p:nvPr/>
        </p:nvSpPr>
        <p:spPr>
          <a:xfrm>
            <a:off x="667512" y="5239512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60" dirty="0"/>
          </a:p>
        </p:txBody>
      </p:sp>
      <p:sp>
        <p:nvSpPr>
          <p:cNvPr id="64" name="Shape 60"/>
          <p:cNvSpPr/>
          <p:nvPr/>
        </p:nvSpPr>
        <p:spPr>
          <a:xfrm>
            <a:off x="6355080" y="3886200"/>
            <a:ext cx="5074920" cy="1627632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65" name="Text 61"/>
          <p:cNvSpPr/>
          <p:nvPr/>
        </p:nvSpPr>
        <p:spPr>
          <a:xfrm>
            <a:off x="6483096" y="3977640"/>
            <a:ext cx="4818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management should see</a:t>
            </a:r>
            <a:endParaRPr lang="en-US" sz="1140" dirty="0"/>
          </a:p>
        </p:txBody>
      </p:sp>
      <p:sp>
        <p:nvSpPr>
          <p:cNvPr id="66" name="Text 62"/>
          <p:cNvSpPr/>
          <p:nvPr/>
        </p:nvSpPr>
        <p:spPr>
          <a:xfrm>
            <a:off x="6483096" y="4270248"/>
            <a:ext cx="4818888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window: 06:26–14:29. Peak: 09:00 (28 cases).</a:t>
            </a:r>
            <a:endParaRPr lang="en-US" sz="960" dirty="0"/>
          </a:p>
        </p:txBody>
      </p:sp>
      <p:graphicFrame>
        <p:nvGraphicFramePr>
          <p:cNvPr id="67" name="Chart 66"/>
          <p:cNvGraphicFramePr>
            <a:graphicFrameLocks noGrp="1"/>
          </p:cNvGraphicFramePr>
          <p:nvPr/>
        </p:nvGraphicFramePr>
        <p:xfrm>
          <a:off x="6446520" y="2194560"/>
          <a:ext cx="4983480" cy="12344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68" name="Chart 67"/>
          <p:cNvGraphicFramePr>
            <a:graphicFrameLocks noGrp="1"/>
          </p:cNvGraphicFramePr>
          <p:nvPr/>
        </p:nvGraphicFramePr>
        <p:xfrm>
          <a:off x="640080" y="4224528"/>
          <a:ext cx="5257800" cy="1078992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SERVICES AND DEMAND MIX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02 September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502920" y="1645920"/>
            <a:ext cx="4800600" cy="2103120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667512" y="1755648"/>
            <a:ext cx="4471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services logged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731520" y="3246120"/>
            <a:ext cx="438912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667512" y="3474720"/>
            <a:ext cx="4471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60" dirty="0"/>
          </a:p>
        </p:txBody>
      </p:sp>
      <p:sp>
        <p:nvSpPr>
          <p:cNvPr id="20" name="Shape 16"/>
          <p:cNvSpPr/>
          <p:nvPr/>
        </p:nvSpPr>
        <p:spPr>
          <a:xfrm>
            <a:off x="5623560" y="1645920"/>
            <a:ext cx="57150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5623560" y="1645920"/>
            <a:ext cx="5715000" cy="420624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5623560" y="2066544"/>
            <a:ext cx="57150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23" name="Shape 19"/>
          <p:cNvSpPr/>
          <p:nvPr/>
        </p:nvSpPr>
        <p:spPr>
          <a:xfrm>
            <a:off x="5623560" y="2487168"/>
            <a:ext cx="57150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24" name="Shape 20"/>
          <p:cNvSpPr/>
          <p:nvPr/>
        </p:nvSpPr>
        <p:spPr>
          <a:xfrm>
            <a:off x="5623560" y="2907792"/>
            <a:ext cx="57150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25" name="Shape 21"/>
          <p:cNvSpPr/>
          <p:nvPr/>
        </p:nvSpPr>
        <p:spPr>
          <a:xfrm>
            <a:off x="5623560" y="3328416"/>
            <a:ext cx="57150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26" name="Shape 22"/>
          <p:cNvSpPr/>
          <p:nvPr/>
        </p:nvSpPr>
        <p:spPr>
          <a:xfrm>
            <a:off x="7498080" y="1645920"/>
            <a:ext cx="0" cy="210312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7" name="Shape 23"/>
          <p:cNvSpPr/>
          <p:nvPr/>
        </p:nvSpPr>
        <p:spPr>
          <a:xfrm>
            <a:off x="8138160" y="1645920"/>
            <a:ext cx="0" cy="210312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8" name="Shape 24"/>
          <p:cNvSpPr/>
          <p:nvPr/>
        </p:nvSpPr>
        <p:spPr>
          <a:xfrm>
            <a:off x="8732520" y="1645920"/>
            <a:ext cx="0" cy="210312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9" name="Text 25"/>
          <p:cNvSpPr/>
          <p:nvPr/>
        </p:nvSpPr>
        <p:spPr>
          <a:xfrm>
            <a:off x="5660136" y="1687068"/>
            <a:ext cx="18013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/ cluster</a:t>
            </a:r>
            <a:endParaRPr lang="en-US" sz="790" dirty="0"/>
          </a:p>
        </p:txBody>
      </p:sp>
      <p:sp>
        <p:nvSpPr>
          <p:cNvPr id="30" name="Text 26"/>
          <p:cNvSpPr/>
          <p:nvPr/>
        </p:nvSpPr>
        <p:spPr>
          <a:xfrm>
            <a:off x="7534656" y="1687068"/>
            <a:ext cx="56692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</a:t>
            </a:r>
            <a:endParaRPr lang="en-US" sz="790" dirty="0"/>
          </a:p>
        </p:txBody>
      </p:sp>
      <p:sp>
        <p:nvSpPr>
          <p:cNvPr id="31" name="Text 27"/>
          <p:cNvSpPr/>
          <p:nvPr/>
        </p:nvSpPr>
        <p:spPr>
          <a:xfrm>
            <a:off x="8174736" y="1687068"/>
            <a:ext cx="521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790" dirty="0"/>
          </a:p>
        </p:txBody>
      </p:sp>
      <p:sp>
        <p:nvSpPr>
          <p:cNvPr id="32" name="Text 28"/>
          <p:cNvSpPr/>
          <p:nvPr/>
        </p:nvSpPr>
        <p:spPr>
          <a:xfrm>
            <a:off x="8769096" y="1687068"/>
            <a:ext cx="253288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</a:t>
            </a:r>
            <a:endParaRPr lang="en-US" sz="790" dirty="0"/>
          </a:p>
        </p:txBody>
      </p:sp>
      <p:sp>
        <p:nvSpPr>
          <p:cNvPr id="33" name="Text 29"/>
          <p:cNvSpPr/>
          <p:nvPr/>
        </p:nvSpPr>
        <p:spPr>
          <a:xfrm>
            <a:off x="5660136" y="2107692"/>
            <a:ext cx="18013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 Services</a:t>
            </a:r>
            <a:endParaRPr lang="en-US" sz="790" dirty="0"/>
          </a:p>
        </p:txBody>
      </p:sp>
      <p:sp>
        <p:nvSpPr>
          <p:cNvPr id="34" name="Text 30"/>
          <p:cNvSpPr/>
          <p:nvPr/>
        </p:nvSpPr>
        <p:spPr>
          <a:xfrm>
            <a:off x="7534656" y="2107692"/>
            <a:ext cx="56692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90" dirty="0"/>
          </a:p>
        </p:txBody>
      </p:sp>
      <p:sp>
        <p:nvSpPr>
          <p:cNvPr id="35" name="Text 31"/>
          <p:cNvSpPr/>
          <p:nvPr/>
        </p:nvSpPr>
        <p:spPr>
          <a:xfrm>
            <a:off x="8174736" y="2107692"/>
            <a:ext cx="521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25.0%</a:t>
            </a:r>
            <a:endParaRPr lang="en-US" sz="790" dirty="0"/>
          </a:p>
        </p:txBody>
      </p:sp>
      <p:sp>
        <p:nvSpPr>
          <p:cNvPr id="36" name="Text 32"/>
          <p:cNvSpPr/>
          <p:nvPr/>
        </p:nvSpPr>
        <p:spPr>
          <a:xfrm>
            <a:off x="8769096" y="2107692"/>
            <a:ext cx="253288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demand category</a:t>
            </a:r>
            <a:endParaRPr lang="en-US" sz="790" dirty="0"/>
          </a:p>
        </p:txBody>
      </p:sp>
      <p:sp>
        <p:nvSpPr>
          <p:cNvPr id="37" name="Text 33"/>
          <p:cNvSpPr/>
          <p:nvPr/>
        </p:nvSpPr>
        <p:spPr>
          <a:xfrm>
            <a:off x="5660136" y="2528316"/>
            <a:ext cx="18013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Roads Services</a:t>
            </a:r>
            <a:endParaRPr lang="en-US" sz="790" dirty="0"/>
          </a:p>
        </p:txBody>
      </p:sp>
      <p:sp>
        <p:nvSpPr>
          <p:cNvPr id="38" name="Text 34"/>
          <p:cNvSpPr/>
          <p:nvPr/>
        </p:nvSpPr>
        <p:spPr>
          <a:xfrm>
            <a:off x="7534656" y="2528316"/>
            <a:ext cx="56692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790" dirty="0"/>
          </a:p>
        </p:txBody>
      </p:sp>
      <p:sp>
        <p:nvSpPr>
          <p:cNvPr id="39" name="Text 35"/>
          <p:cNvSpPr/>
          <p:nvPr/>
        </p:nvSpPr>
        <p:spPr>
          <a:xfrm>
            <a:off x="8174736" y="2528316"/>
            <a:ext cx="521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23.1%</a:t>
            </a:r>
            <a:endParaRPr lang="en-US" sz="790" dirty="0"/>
          </a:p>
        </p:txBody>
      </p:sp>
      <p:sp>
        <p:nvSpPr>
          <p:cNvPr id="40" name="Text 36"/>
          <p:cNvSpPr/>
          <p:nvPr/>
        </p:nvSpPr>
        <p:spPr>
          <a:xfrm>
            <a:off x="8769096" y="2528316"/>
            <a:ext cx="253288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indicator</a:t>
            </a:r>
            <a:endParaRPr lang="en-US" sz="790" dirty="0"/>
          </a:p>
        </p:txBody>
      </p:sp>
      <p:sp>
        <p:nvSpPr>
          <p:cNvPr id="41" name="Text 37"/>
          <p:cNvSpPr/>
          <p:nvPr/>
        </p:nvSpPr>
        <p:spPr>
          <a:xfrm>
            <a:off x="5660136" y="2948940"/>
            <a:ext cx="18013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Services</a:t>
            </a:r>
            <a:endParaRPr lang="en-US" sz="790" dirty="0"/>
          </a:p>
        </p:txBody>
      </p:sp>
      <p:sp>
        <p:nvSpPr>
          <p:cNvPr id="42" name="Text 38"/>
          <p:cNvSpPr/>
          <p:nvPr/>
        </p:nvSpPr>
        <p:spPr>
          <a:xfrm>
            <a:off x="7534656" y="2948940"/>
            <a:ext cx="56692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790" dirty="0"/>
          </a:p>
        </p:txBody>
      </p:sp>
      <p:sp>
        <p:nvSpPr>
          <p:cNvPr id="43" name="Text 39"/>
          <p:cNvSpPr/>
          <p:nvPr/>
        </p:nvSpPr>
        <p:spPr>
          <a:xfrm>
            <a:off x="8174736" y="2948940"/>
            <a:ext cx="521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21.1%</a:t>
            </a:r>
            <a:endParaRPr lang="en-US" sz="790" dirty="0"/>
          </a:p>
        </p:txBody>
      </p:sp>
      <p:sp>
        <p:nvSpPr>
          <p:cNvPr id="44" name="Text 40"/>
          <p:cNvSpPr/>
          <p:nvPr/>
        </p:nvSpPr>
        <p:spPr>
          <a:xfrm>
            <a:off x="8769096" y="2948940"/>
            <a:ext cx="253288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indicator</a:t>
            </a:r>
            <a:endParaRPr lang="en-US" sz="790" dirty="0"/>
          </a:p>
        </p:txBody>
      </p:sp>
      <p:sp>
        <p:nvSpPr>
          <p:cNvPr id="45" name="Text 41"/>
          <p:cNvSpPr/>
          <p:nvPr/>
        </p:nvSpPr>
        <p:spPr>
          <a:xfrm>
            <a:off x="5660136" y="3369564"/>
            <a:ext cx="18013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790" dirty="0"/>
          </a:p>
        </p:txBody>
      </p:sp>
      <p:sp>
        <p:nvSpPr>
          <p:cNvPr id="46" name="Text 42"/>
          <p:cNvSpPr/>
          <p:nvPr/>
        </p:nvSpPr>
        <p:spPr>
          <a:xfrm>
            <a:off x="7534656" y="3369564"/>
            <a:ext cx="56692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790" dirty="0"/>
          </a:p>
        </p:txBody>
      </p:sp>
      <p:sp>
        <p:nvSpPr>
          <p:cNvPr id="47" name="Text 43"/>
          <p:cNvSpPr/>
          <p:nvPr/>
        </p:nvSpPr>
        <p:spPr>
          <a:xfrm>
            <a:off x="8174736" y="3369564"/>
            <a:ext cx="521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30.8%</a:t>
            </a:r>
            <a:endParaRPr lang="en-US" sz="790" dirty="0"/>
          </a:p>
        </p:txBody>
      </p:sp>
      <p:sp>
        <p:nvSpPr>
          <p:cNvPr id="48" name="Text 44"/>
          <p:cNvSpPr/>
          <p:nvPr/>
        </p:nvSpPr>
        <p:spPr>
          <a:xfrm>
            <a:off x="8769096" y="3369564"/>
            <a:ext cx="253288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categories</a:t>
            </a:r>
            <a:endParaRPr lang="en-US" sz="790" dirty="0"/>
          </a:p>
        </p:txBody>
      </p:sp>
      <p:sp>
        <p:nvSpPr>
          <p:cNvPr id="49" name="Shape 45"/>
          <p:cNvSpPr/>
          <p:nvPr/>
        </p:nvSpPr>
        <p:spPr>
          <a:xfrm>
            <a:off x="502920" y="4005072"/>
            <a:ext cx="5257800" cy="1353312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0" name="Text 46"/>
          <p:cNvSpPr/>
          <p:nvPr/>
        </p:nvSpPr>
        <p:spPr>
          <a:xfrm>
            <a:off x="630936" y="4096512"/>
            <a:ext cx="5001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rule</a:t>
            </a:r>
            <a:endParaRPr lang="en-US" sz="1140" dirty="0"/>
          </a:p>
        </p:txBody>
      </p:sp>
      <p:sp>
        <p:nvSpPr>
          <p:cNvPr id="51" name="Text 47"/>
          <p:cNvSpPr/>
          <p:nvPr/>
        </p:nvSpPr>
        <p:spPr>
          <a:xfrm>
            <a:off x="630936" y="4389120"/>
            <a:ext cx="5001768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demand concentration to target follow-up; do not interpret case volume as departmental performance.</a:t>
            </a:r>
            <a:endParaRPr lang="en-US" sz="960" dirty="0"/>
          </a:p>
        </p:txBody>
      </p:sp>
      <p:sp>
        <p:nvSpPr>
          <p:cNvPr id="52" name="Shape 48"/>
          <p:cNvSpPr/>
          <p:nvPr/>
        </p:nvSpPr>
        <p:spPr>
          <a:xfrm>
            <a:off x="6080760" y="4005072"/>
            <a:ext cx="5257800" cy="1353312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3" name="Text 49"/>
          <p:cNvSpPr/>
          <p:nvPr/>
        </p:nvSpPr>
        <p:spPr>
          <a:xfrm>
            <a:off x="6208776" y="4096512"/>
            <a:ext cx="5001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prompts</a:t>
            </a:r>
            <a:endParaRPr lang="en-US" sz="1140" dirty="0"/>
          </a:p>
        </p:txBody>
      </p:sp>
      <p:sp>
        <p:nvSpPr>
          <p:cNvPr id="54" name="Text 50"/>
          <p:cNvSpPr/>
          <p:nvPr/>
        </p:nvSpPr>
        <p:spPr>
          <a:xfrm>
            <a:off x="6208776" y="4389120"/>
            <a:ext cx="5001768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addendum for low-volume services and ward-level detail.</a:t>
            </a:r>
            <a:endParaRPr lang="en-US" sz="960" dirty="0"/>
          </a:p>
        </p:txBody>
      </p:sp>
      <p:graphicFrame>
        <p:nvGraphicFramePr>
          <p:cNvPr id="55" name="Chart 54"/>
          <p:cNvGraphicFramePr>
            <a:graphicFrameLocks noGrp="1"/>
          </p:cNvGraphicFramePr>
          <p:nvPr/>
        </p:nvGraphicFramePr>
        <p:xfrm>
          <a:off x="640080" y="2267712"/>
          <a:ext cx="4572000" cy="15544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VOICE OF THE CITIZEN AND RESOLUTION POSITION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02 September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594360" y="167335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649224" y="178308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9224" y="2103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responses</a:t>
            </a:r>
            <a:endParaRPr lang="en-US" sz="770" dirty="0"/>
          </a:p>
        </p:txBody>
      </p:sp>
      <p:sp>
        <p:nvSpPr>
          <p:cNvPr id="14" name="Shape 10"/>
          <p:cNvSpPr/>
          <p:nvPr/>
        </p:nvSpPr>
        <p:spPr>
          <a:xfrm>
            <a:off x="2697480" y="167335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2752344" y="178308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2752344" y="2103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Happiness</a:t>
            </a:r>
            <a:endParaRPr lang="en-US" sz="770" dirty="0"/>
          </a:p>
        </p:txBody>
      </p:sp>
      <p:sp>
        <p:nvSpPr>
          <p:cNvPr id="17" name="Shape 13"/>
          <p:cNvSpPr/>
          <p:nvPr/>
        </p:nvSpPr>
        <p:spPr>
          <a:xfrm>
            <a:off x="4800600" y="167335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F2B200"/>
          </a:solidFill>
          <a:ln w="12700">
            <a:solidFill>
              <a:srgbClr val="F2B2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4855464" y="178308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4855464" y="2103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cases</a:t>
            </a:r>
            <a:endParaRPr lang="en-US" sz="770" dirty="0"/>
          </a:p>
        </p:txBody>
      </p:sp>
      <p:sp>
        <p:nvSpPr>
          <p:cNvPr id="20" name="Shape 16"/>
          <p:cNvSpPr/>
          <p:nvPr/>
        </p:nvSpPr>
        <p:spPr>
          <a:xfrm>
            <a:off x="6903720" y="167335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6958584" y="178308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6958584" y="2103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Survey-ready</a:t>
            </a:r>
            <a:endParaRPr lang="en-US" sz="770" dirty="0"/>
          </a:p>
        </p:txBody>
      </p:sp>
      <p:sp>
        <p:nvSpPr>
          <p:cNvPr id="23" name="Shape 19"/>
          <p:cNvSpPr/>
          <p:nvPr/>
        </p:nvSpPr>
        <p:spPr>
          <a:xfrm>
            <a:off x="9006840" y="167335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F2B200"/>
          </a:solidFill>
          <a:ln w="12700">
            <a:solidFill>
              <a:srgbClr val="F2B2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Text 20"/>
          <p:cNvSpPr/>
          <p:nvPr/>
        </p:nvSpPr>
        <p:spPr>
          <a:xfrm>
            <a:off x="9061704" y="178308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9061704" y="2103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availability</a:t>
            </a:r>
            <a:endParaRPr lang="en-US" sz="770" dirty="0"/>
          </a:p>
        </p:txBody>
      </p:sp>
      <p:sp>
        <p:nvSpPr>
          <p:cNvPr id="26" name="Shape 22"/>
          <p:cNvSpPr/>
          <p:nvPr/>
        </p:nvSpPr>
        <p:spPr>
          <a:xfrm>
            <a:off x="685800" y="2834640"/>
            <a:ext cx="516636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27" name="Shape 23"/>
          <p:cNvSpPr/>
          <p:nvPr/>
        </p:nvSpPr>
        <p:spPr>
          <a:xfrm>
            <a:off x="685800" y="2834640"/>
            <a:ext cx="5166360" cy="560070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28" name="Shape 24"/>
          <p:cNvSpPr/>
          <p:nvPr/>
        </p:nvSpPr>
        <p:spPr>
          <a:xfrm>
            <a:off x="685800" y="3394710"/>
            <a:ext cx="51663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29" name="Shape 25"/>
          <p:cNvSpPr/>
          <p:nvPr/>
        </p:nvSpPr>
        <p:spPr>
          <a:xfrm>
            <a:off x="685800" y="3954780"/>
            <a:ext cx="51663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0" name="Shape 26"/>
          <p:cNvSpPr/>
          <p:nvPr/>
        </p:nvSpPr>
        <p:spPr>
          <a:xfrm>
            <a:off x="685800" y="4514850"/>
            <a:ext cx="51663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1" name="Shape 27"/>
          <p:cNvSpPr/>
          <p:nvPr/>
        </p:nvSpPr>
        <p:spPr>
          <a:xfrm>
            <a:off x="2194560" y="2834640"/>
            <a:ext cx="0" cy="224028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2" name="Shape 28"/>
          <p:cNvSpPr/>
          <p:nvPr/>
        </p:nvSpPr>
        <p:spPr>
          <a:xfrm>
            <a:off x="3108960" y="2834640"/>
            <a:ext cx="0" cy="224028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3" name="Shape 29"/>
          <p:cNvSpPr/>
          <p:nvPr/>
        </p:nvSpPr>
        <p:spPr>
          <a:xfrm>
            <a:off x="4343400" y="2834640"/>
            <a:ext cx="0" cy="224028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4" name="Text 30"/>
          <p:cNvSpPr/>
          <p:nvPr/>
        </p:nvSpPr>
        <p:spPr>
          <a:xfrm>
            <a:off x="722376" y="287578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/ queue</a:t>
            </a:r>
            <a:endParaRPr lang="en-US" sz="790" dirty="0"/>
          </a:p>
        </p:txBody>
      </p:sp>
      <p:sp>
        <p:nvSpPr>
          <p:cNvPr id="35" name="Text 31"/>
          <p:cNvSpPr/>
          <p:nvPr/>
        </p:nvSpPr>
        <p:spPr>
          <a:xfrm>
            <a:off x="2231136" y="2875788"/>
            <a:ext cx="84124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</a:t>
            </a:r>
            <a:endParaRPr lang="en-US" sz="790" dirty="0"/>
          </a:p>
        </p:txBody>
      </p:sp>
      <p:sp>
        <p:nvSpPr>
          <p:cNvPr id="36" name="Text 32"/>
          <p:cNvSpPr/>
          <p:nvPr/>
        </p:nvSpPr>
        <p:spPr>
          <a:xfrm>
            <a:off x="3145536" y="2875788"/>
            <a:ext cx="116128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790" dirty="0"/>
          </a:p>
        </p:txBody>
      </p:sp>
      <p:sp>
        <p:nvSpPr>
          <p:cNvPr id="37" name="Text 33"/>
          <p:cNvSpPr/>
          <p:nvPr/>
        </p:nvSpPr>
        <p:spPr>
          <a:xfrm>
            <a:off x="4379976" y="287578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790" dirty="0"/>
          </a:p>
        </p:txBody>
      </p:sp>
      <p:sp>
        <p:nvSpPr>
          <p:cNvPr id="38" name="Text 34"/>
          <p:cNvSpPr/>
          <p:nvPr/>
        </p:nvSpPr>
        <p:spPr>
          <a:xfrm>
            <a:off x="722376" y="343585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90" dirty="0"/>
          </a:p>
        </p:txBody>
      </p:sp>
      <p:sp>
        <p:nvSpPr>
          <p:cNvPr id="39" name="Text 35"/>
          <p:cNvSpPr/>
          <p:nvPr/>
        </p:nvSpPr>
        <p:spPr>
          <a:xfrm>
            <a:off x="2231136" y="3435858"/>
            <a:ext cx="84124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90" dirty="0"/>
          </a:p>
        </p:txBody>
      </p:sp>
      <p:sp>
        <p:nvSpPr>
          <p:cNvPr id="40" name="Text 36"/>
          <p:cNvSpPr/>
          <p:nvPr/>
        </p:nvSpPr>
        <p:spPr>
          <a:xfrm>
            <a:off x="3145536" y="3435858"/>
            <a:ext cx="116128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available</a:t>
            </a:r>
            <a:endParaRPr lang="en-US" sz="790" dirty="0"/>
          </a:p>
        </p:txBody>
      </p:sp>
      <p:sp>
        <p:nvSpPr>
          <p:cNvPr id="41" name="Text 37"/>
          <p:cNvSpPr/>
          <p:nvPr/>
        </p:nvSpPr>
        <p:spPr>
          <a:xfrm>
            <a:off x="4379976" y="343585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/ verify / close</a:t>
            </a:r>
            <a:endParaRPr lang="en-US" sz="790" dirty="0"/>
          </a:p>
        </p:txBody>
      </p:sp>
      <p:sp>
        <p:nvSpPr>
          <p:cNvPr id="42" name="Text 38"/>
          <p:cNvSpPr/>
          <p:nvPr/>
        </p:nvSpPr>
        <p:spPr>
          <a:xfrm>
            <a:off x="722376" y="399592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90" dirty="0"/>
          </a:p>
        </p:txBody>
      </p:sp>
      <p:sp>
        <p:nvSpPr>
          <p:cNvPr id="43" name="Text 39"/>
          <p:cNvSpPr/>
          <p:nvPr/>
        </p:nvSpPr>
        <p:spPr>
          <a:xfrm>
            <a:off x="2231136" y="3995928"/>
            <a:ext cx="84124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90" dirty="0"/>
          </a:p>
        </p:txBody>
      </p:sp>
      <p:sp>
        <p:nvSpPr>
          <p:cNvPr id="44" name="Text 40"/>
          <p:cNvSpPr/>
          <p:nvPr/>
        </p:nvSpPr>
        <p:spPr>
          <a:xfrm>
            <a:off x="3145536" y="3995928"/>
            <a:ext cx="116128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available</a:t>
            </a:r>
            <a:endParaRPr lang="en-US" sz="790" dirty="0"/>
          </a:p>
        </p:txBody>
      </p:sp>
      <p:sp>
        <p:nvSpPr>
          <p:cNvPr id="45" name="Text 41"/>
          <p:cNvSpPr/>
          <p:nvPr/>
        </p:nvSpPr>
        <p:spPr>
          <a:xfrm>
            <a:off x="4379976" y="399592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/ verify / close</a:t>
            </a:r>
            <a:endParaRPr lang="en-US" sz="790" dirty="0"/>
          </a:p>
        </p:txBody>
      </p:sp>
      <p:sp>
        <p:nvSpPr>
          <p:cNvPr id="46" name="Text 42"/>
          <p:cNvSpPr/>
          <p:nvPr/>
        </p:nvSpPr>
        <p:spPr>
          <a:xfrm>
            <a:off x="722376" y="455599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90" dirty="0"/>
          </a:p>
        </p:txBody>
      </p:sp>
      <p:sp>
        <p:nvSpPr>
          <p:cNvPr id="47" name="Text 43"/>
          <p:cNvSpPr/>
          <p:nvPr/>
        </p:nvSpPr>
        <p:spPr>
          <a:xfrm>
            <a:off x="2231136" y="4555998"/>
            <a:ext cx="84124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90" dirty="0"/>
          </a:p>
        </p:txBody>
      </p:sp>
      <p:sp>
        <p:nvSpPr>
          <p:cNvPr id="48" name="Text 44"/>
          <p:cNvSpPr/>
          <p:nvPr/>
        </p:nvSpPr>
        <p:spPr>
          <a:xfrm>
            <a:off x="3145536" y="4555998"/>
            <a:ext cx="116128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available</a:t>
            </a:r>
            <a:endParaRPr lang="en-US" sz="790" dirty="0"/>
          </a:p>
        </p:txBody>
      </p:sp>
      <p:sp>
        <p:nvSpPr>
          <p:cNvPr id="49" name="Text 45"/>
          <p:cNvSpPr/>
          <p:nvPr/>
        </p:nvSpPr>
        <p:spPr>
          <a:xfrm>
            <a:off x="4379976" y="455599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/ verify / close</a:t>
            </a:r>
            <a:endParaRPr lang="en-US" sz="790" dirty="0"/>
          </a:p>
        </p:txBody>
      </p:sp>
      <p:sp>
        <p:nvSpPr>
          <p:cNvPr id="50" name="Shape 46"/>
          <p:cNvSpPr/>
          <p:nvPr/>
        </p:nvSpPr>
        <p:spPr>
          <a:xfrm>
            <a:off x="6217920" y="2834640"/>
            <a:ext cx="4983480" cy="224028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1" name="Text 47"/>
          <p:cNvSpPr/>
          <p:nvPr/>
        </p:nvSpPr>
        <p:spPr>
          <a:xfrm>
            <a:off x="6345936" y="2926080"/>
            <a:ext cx="4727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reporting rule</a:t>
            </a:r>
            <a:endParaRPr lang="en-US" sz="1140" dirty="0"/>
          </a:p>
        </p:txBody>
      </p:sp>
      <p:sp>
        <p:nvSpPr>
          <p:cNvPr id="52" name="Text 48"/>
          <p:cNvSpPr/>
          <p:nvPr/>
        </p:nvSpPr>
        <p:spPr>
          <a:xfrm>
            <a:off x="6345936" y="3218688"/>
            <a:ext cx="4727448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source supplied. Metrics are calculated only from supported response fields; detailed responses remain in the addendum.</a:t>
            </a:r>
            <a:endParaRPr lang="en-US" sz="9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ACTIONS, DATA QUALITY AND MANAGEMENT DECISIONS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02 September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502920" y="1691640"/>
            <a:ext cx="58064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502920" y="1691640"/>
            <a:ext cx="5806440" cy="475488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502920" y="2167128"/>
            <a:ext cx="58064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502920" y="2642616"/>
            <a:ext cx="58064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502920" y="3118104"/>
            <a:ext cx="58064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502920" y="3593592"/>
            <a:ext cx="58064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2011680" y="1691640"/>
            <a:ext cx="0" cy="23774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3246120" y="1691640"/>
            <a:ext cx="0" cy="23774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4389120" y="1691640"/>
            <a:ext cx="0" cy="23774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539496" y="1732788"/>
            <a:ext cx="143560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2048256" y="1732788"/>
            <a:ext cx="11612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3282696" y="1732788"/>
            <a:ext cx="106984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4425696" y="1732788"/>
            <a:ext cx="18470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check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539496" y="2208276"/>
            <a:ext cx="143560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wards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2048256" y="2208276"/>
            <a:ext cx="11612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lead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3282696" y="2208276"/>
            <a:ext cx="106984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close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4425696" y="2208276"/>
            <a:ext cx="18470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 wards validated/assigned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539496" y="2683764"/>
            <a:ext cx="143560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Channel/time gap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2048256" y="2683764"/>
            <a:ext cx="11612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3282696" y="2683764"/>
            <a:ext cx="106984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operating window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4425696" y="2683764"/>
            <a:ext cx="18470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hours protected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539496" y="3159252"/>
            <a:ext cx="143560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queue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2048256" y="3159252"/>
            <a:ext cx="11612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lead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3282696" y="3159252"/>
            <a:ext cx="106984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period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4425696" y="3159252"/>
            <a:ext cx="18470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VOC responses reviewed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539496" y="3634740"/>
            <a:ext cx="143560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2048256" y="3634740"/>
            <a:ext cx="11612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lead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3282696" y="3634740"/>
            <a:ext cx="106984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circulation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4425696" y="3634740"/>
            <a:ext cx="18470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quality findings reviewed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6629400" y="1691640"/>
            <a:ext cx="4709160" cy="2377440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41" name="Text 37"/>
          <p:cNvSpPr/>
          <p:nvPr/>
        </p:nvSpPr>
        <p:spPr>
          <a:xfrm>
            <a:off x="6793992" y="1801368"/>
            <a:ext cx="4379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control load</a:t>
            </a:r>
            <a:endParaRPr lang="en-US" sz="1080" dirty="0"/>
          </a:p>
        </p:txBody>
      </p:sp>
      <p:sp>
        <p:nvSpPr>
          <p:cNvPr id="47" name="Shape 43"/>
          <p:cNvSpPr/>
          <p:nvPr/>
        </p:nvSpPr>
        <p:spPr>
          <a:xfrm>
            <a:off x="6858000" y="3566160"/>
            <a:ext cx="429768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48" name="Text 44"/>
          <p:cNvSpPr/>
          <p:nvPr/>
        </p:nvSpPr>
        <p:spPr>
          <a:xfrm>
            <a:off x="6793992" y="3794760"/>
            <a:ext cx="4379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60" dirty="0"/>
          </a:p>
        </p:txBody>
      </p:sp>
      <p:sp>
        <p:nvSpPr>
          <p:cNvPr id="49" name="Shape 45"/>
          <p:cNvSpPr/>
          <p:nvPr/>
        </p:nvSpPr>
        <p:spPr>
          <a:xfrm>
            <a:off x="502920" y="4343400"/>
            <a:ext cx="3429000" cy="114300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0" name="Text 46"/>
          <p:cNvSpPr/>
          <p:nvPr/>
        </p:nvSpPr>
        <p:spPr>
          <a:xfrm>
            <a:off x="630936" y="4434840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needed</a:t>
            </a:r>
            <a:endParaRPr lang="en-US" sz="1140" dirty="0"/>
          </a:p>
        </p:txBody>
      </p:sp>
      <p:sp>
        <p:nvSpPr>
          <p:cNvPr id="51" name="Text 47"/>
          <p:cNvSpPr/>
          <p:nvPr/>
        </p:nvSpPr>
        <p:spPr>
          <a:xfrm>
            <a:off x="630936" y="4727448"/>
            <a:ext cx="31729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and assign the 88 unrepresented wards before the next operational close.</a:t>
            </a:r>
            <a:endParaRPr lang="en-US" sz="960" dirty="0"/>
          </a:p>
        </p:txBody>
      </p:sp>
      <p:sp>
        <p:nvSpPr>
          <p:cNvPr id="52" name="Shape 48"/>
          <p:cNvSpPr/>
          <p:nvPr/>
        </p:nvSpPr>
        <p:spPr>
          <a:xfrm>
            <a:off x="4251960" y="4343400"/>
            <a:ext cx="3429000" cy="114300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3" name="Text 49"/>
          <p:cNvSpPr/>
          <p:nvPr/>
        </p:nvSpPr>
        <p:spPr>
          <a:xfrm>
            <a:off x="4379976" y="4434840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caveat</a:t>
            </a:r>
            <a:endParaRPr lang="en-US" sz="1140" dirty="0"/>
          </a:p>
        </p:txBody>
      </p:sp>
      <p:sp>
        <p:nvSpPr>
          <p:cNvPr id="54" name="Text 50"/>
          <p:cNvSpPr/>
          <p:nvPr/>
        </p:nvSpPr>
        <p:spPr>
          <a:xfrm>
            <a:off x="4379976" y="4727448"/>
            <a:ext cx="31729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Area-level municipality breakdown requires a validated ward/master reference mapping.</a:t>
            </a:r>
            <a:endParaRPr lang="en-US" sz="960" dirty="0"/>
          </a:p>
        </p:txBody>
      </p:sp>
      <p:sp>
        <p:nvSpPr>
          <p:cNvPr id="55" name="Shape 51"/>
          <p:cNvSpPr/>
          <p:nvPr/>
        </p:nvSpPr>
        <p:spPr>
          <a:xfrm>
            <a:off x="8001000" y="4343400"/>
            <a:ext cx="3429000" cy="114300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6" name="Text 52"/>
          <p:cNvSpPr/>
          <p:nvPr/>
        </p:nvSpPr>
        <p:spPr>
          <a:xfrm>
            <a:off x="8129016" y="4434840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Addendum pointer</a:t>
            </a:r>
            <a:endParaRPr lang="en-US" sz="1140" dirty="0"/>
          </a:p>
        </p:txBody>
      </p:sp>
      <p:sp>
        <p:nvSpPr>
          <p:cNvPr id="57" name="Text 53"/>
          <p:cNvSpPr/>
          <p:nvPr/>
        </p:nvSpPr>
        <p:spPr>
          <a:xfrm>
            <a:off x="8129016" y="4727448"/>
            <a:ext cx="31729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graphs, accounted wards, missing wards, time logs and correction registers are attached separately.</a:t>
            </a:r>
            <a:endParaRPr lang="en-US" sz="960" dirty="0"/>
          </a:p>
        </p:txBody>
      </p:sp>
      <p:graphicFrame>
        <p:nvGraphicFramePr>
          <p:cNvPr id="58" name="Chart 57"/>
          <p:cNvGraphicFramePr>
            <a:graphicFrameLocks noGrp="1"/>
          </p:cNvGraphicFramePr>
          <p:nvPr/>
        </p:nvGraphicFramePr>
        <p:xfrm>
          <a:off x="6629400" y="2240280"/>
          <a:ext cx="4617720" cy="196596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Gauteng Provincial Government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Generic Corridor Operations Report Template</dc:title>
  <dc:subject>Generic Corridor Operations Reporting Template</dc:subject>
  <dc:creator>CIC</dc:creator>
  <cp:lastModifiedBy>CIC</cp:lastModifiedBy>
  <cp:revision>3</cp:revision>
  <dcterms:created xsi:type="dcterms:W3CDTF">2026-08-26T12:35:59Z</dcterms:created>
  <dcterms:modified xsi:type="dcterms:W3CDTF">2026-08-27T13:13:33Z</dcterms:modified>
</cp:coreProperties>
</file>