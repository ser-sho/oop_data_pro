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Covered</c:v>
                </c:pt>
              </c:strCache>
            </c:strRef>
          </c:tx>
          <c:spPr>
            <a:solidFill>
              <a:srgbClr val="0058A8"/>
            </a:solidFill>
          </c:spPr>
          <c:cat>
            <c:strRef>
              <c:f>Sheet1!$A$2:$A$3</c:f>
              <c:strCache>
                <c:ptCount val="2"/>
                <c:pt idx="0">
                  <c:v>NORTH EAST CORRIDOR</c:v>
                </c:pt>
                <c:pt idx="1">
                  <c:v>SOUTH EAST CORRIDOR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11.0</c:v>
                </c:pt>
                <c:pt idx="1">
                  <c:v>9.0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Missing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Sheet1!$A$2:$A$3</c:f>
              <c:strCache>
                <c:ptCount val="2"/>
                <c:pt idx="0">
                  <c:v>NORTH EAST CORRIDOR</c:v>
                </c:pt>
                <c:pt idx="1">
                  <c:v>SOUTH EAST CORRIDOR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51.0</c:v>
                </c:pt>
                <c:pt idx="1">
                  <c:v>41.0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Outbound Call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72.0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Aptos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800">
              <a:latin typeface="Apto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Cases by hour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08:00</c:v>
                </c:pt>
                <c:pt idx="1">
                  <c:v>09:00</c:v>
                </c:pt>
                <c:pt idx="2">
                  <c:v>10:00</c:v>
                </c:pt>
                <c:pt idx="3">
                  <c:v>11:00</c:v>
                </c:pt>
                <c:pt idx="4">
                  <c:v>12:00</c:v>
                </c:pt>
                <c:pt idx="5">
                  <c:v>13:00</c:v>
                </c:pt>
                <c:pt idx="6">
                  <c:v>14:00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5.0</c:v>
                </c:pt>
                <c:pt idx="1">
                  <c:v>9.0</c:v>
                </c:pt>
                <c:pt idx="2">
                  <c:v>7.0</c:v>
                </c:pt>
                <c:pt idx="3">
                  <c:v>14.0</c:v>
                </c:pt>
                <c:pt idx="4">
                  <c:v>8.0</c:v>
                </c:pt>
                <c:pt idx="5">
                  <c:v>13.0</c:v>
                </c:pt>
                <c:pt idx="6">
                  <c:v>16.0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.88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Daily status mix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Active</c:v>
                </c:pt>
                <c:pt idx="1">
                  <c:v>Resolved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61.0</c:v>
                </c:pt>
                <c:pt idx="1">
                  <c:v>11.0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1.97999999999999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Daily Case Category 1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Electricity Services</c:v>
                </c:pt>
                <c:pt idx="1">
                  <c:v>Roads Services</c:v>
                </c:pt>
                <c:pt idx="2">
                  <c:v>Environment Services</c:v>
                </c:pt>
                <c:pt idx="3">
                  <c:v>Sanitation Services</c:v>
                </c:pt>
                <c:pt idx="4">
                  <c:v>Water Services</c:v>
                </c:pt>
                <c:pt idx="5">
                  <c:v>Health Services</c:v>
                </c:pt>
                <c:pt idx="6">
                  <c:v>Community Safety Services</c:v>
                </c:pt>
                <c:pt idx="7">
                  <c:v>Social Development Services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17.0</c:v>
                </c:pt>
                <c:pt idx="1">
                  <c:v>16.0</c:v>
                </c:pt>
                <c:pt idx="2">
                  <c:v>12.0</c:v>
                </c:pt>
                <c:pt idx="3">
                  <c:v>7.0</c:v>
                </c:pt>
                <c:pt idx="4">
                  <c:v>6.0</c:v>
                </c:pt>
                <c:pt idx="5">
                  <c:v>4.0</c:v>
                </c:pt>
                <c:pt idx="6">
                  <c:v>4.0</c:v>
                </c:pt>
                <c:pt idx="7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6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Daily location mix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Ekurhuleni NU</c:v>
                </c:pt>
                <c:pt idx="1">
                  <c:v>Sethokga, Tembisa</c:v>
                </c:pt>
                <c:pt idx="2">
                  <c:v>Wattville SP</c:v>
                </c:pt>
                <c:pt idx="3">
                  <c:v>Esselen Park, Tembisa</c:v>
                </c:pt>
                <c:pt idx="4">
                  <c:v>Vosloorus SP1</c:v>
                </c:pt>
                <c:pt idx="5">
                  <c:v>Good Hope, Germiston</c:v>
                </c:pt>
                <c:pt idx="6">
                  <c:v>Tshongweni, Katlehong</c:v>
                </c:pt>
                <c:pt idx="7">
                  <c:v>Northmead, Benoni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12.0</c:v>
                </c:pt>
                <c:pt idx="1">
                  <c:v>9.0</c:v>
                </c:pt>
                <c:pt idx="2">
                  <c:v>9.0</c:v>
                </c:pt>
                <c:pt idx="3">
                  <c:v>6.0</c:v>
                </c:pt>
                <c:pt idx="4">
                  <c:v>5.0</c:v>
                </c:pt>
                <c:pt idx="5">
                  <c:v>4.0</c:v>
                </c:pt>
                <c:pt idx="6">
                  <c:v>4.0</c:v>
                </c:pt>
                <c:pt idx="7">
                  <c:v>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.16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Daily priority mix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High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65.0</c:v>
                </c:pt>
                <c:pt idx="1">
                  <c:v>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6.7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Largest concentration segments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Electricity Services</c:v>
                </c:pt>
                <c:pt idx="1">
                  <c:v>Roads Services</c:v>
                </c:pt>
                <c:pt idx="2">
                  <c:v>Environment Services</c:v>
                </c:pt>
                <c:pt idx="3">
                  <c:v>Sanitation Services</c:v>
                </c:pt>
                <c:pt idx="4">
                  <c:v>Water Services</c:v>
                </c:pt>
                <c:pt idx="5">
                  <c:v>Health Services</c:v>
                </c:pt>
                <c:pt idx="6">
                  <c:v>Community Safety Services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17.0</c:v>
                </c:pt>
                <c:pt idx="1">
                  <c:v>16.0</c:v>
                </c:pt>
                <c:pt idx="2">
                  <c:v>12.0</c:v>
                </c:pt>
                <c:pt idx="3">
                  <c:v>7.0</c:v>
                </c:pt>
                <c:pt idx="4">
                  <c:v>6.0</c:v>
                </c:pt>
                <c:pt idx="5">
                  <c:v>4.0</c:v>
                </c:pt>
                <c:pt idx="6">
                  <c:v>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6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ln w="25400">
              <a:solidFill>
                <a:srgbClr val="0058A8"/>
              </a:solidFill>
            </a:ln>
          </c:spPr>
          <c:marker>
            <c:size val="6"/>
          </c:marker>
          <c:cat>
            <c:strRef>
              <c:f>Sheet1!$A$2:$A$108</c:f>
              <c:strCache>
                <c:ptCount val="107"/>
                <c:pt idx="0">
                  <c:v>02 Apr</c:v>
                </c:pt>
                <c:pt idx="1">
                  <c:v>04 Apr</c:v>
                </c:pt>
                <c:pt idx="2">
                  <c:v>05 Apr</c:v>
                </c:pt>
                <c:pt idx="3">
                  <c:v>07 Apr</c:v>
                </c:pt>
                <c:pt idx="4">
                  <c:v>08 Apr</c:v>
                </c:pt>
                <c:pt idx="5">
                  <c:v>09 Apr</c:v>
                </c:pt>
                <c:pt idx="6">
                  <c:v>10 Apr</c:v>
                </c:pt>
                <c:pt idx="7">
                  <c:v>13 Apr</c:v>
                </c:pt>
                <c:pt idx="8">
                  <c:v>14 Apr</c:v>
                </c:pt>
                <c:pt idx="9">
                  <c:v>15 Apr</c:v>
                </c:pt>
                <c:pt idx="10">
                  <c:v>16 Apr</c:v>
                </c:pt>
                <c:pt idx="11">
                  <c:v>17 Apr</c:v>
                </c:pt>
                <c:pt idx="12">
                  <c:v>20 Apr</c:v>
                </c:pt>
                <c:pt idx="13">
                  <c:v>21 Apr</c:v>
                </c:pt>
                <c:pt idx="14">
                  <c:v>22 Apr</c:v>
                </c:pt>
                <c:pt idx="15">
                  <c:v>23 Apr</c:v>
                </c:pt>
                <c:pt idx="16">
                  <c:v>24 Apr</c:v>
                </c:pt>
                <c:pt idx="17">
                  <c:v>26 Apr</c:v>
                </c:pt>
                <c:pt idx="18">
                  <c:v>28 Apr</c:v>
                </c:pt>
                <c:pt idx="19">
                  <c:v>29 Apr</c:v>
                </c:pt>
                <c:pt idx="20">
                  <c:v>30 Apr</c:v>
                </c:pt>
                <c:pt idx="21">
                  <c:v>04 May</c:v>
                </c:pt>
                <c:pt idx="22">
                  <c:v>05 May</c:v>
                </c:pt>
                <c:pt idx="23">
                  <c:v>06 May</c:v>
                </c:pt>
                <c:pt idx="24">
                  <c:v>07 May</c:v>
                </c:pt>
                <c:pt idx="25">
                  <c:v>08 May</c:v>
                </c:pt>
                <c:pt idx="26">
                  <c:v>11 May</c:v>
                </c:pt>
                <c:pt idx="27">
                  <c:v>12 May</c:v>
                </c:pt>
                <c:pt idx="28">
                  <c:v>13 May</c:v>
                </c:pt>
                <c:pt idx="29">
                  <c:v>14 May</c:v>
                </c:pt>
                <c:pt idx="30">
                  <c:v>15 May</c:v>
                </c:pt>
                <c:pt idx="31">
                  <c:v>16 May</c:v>
                </c:pt>
                <c:pt idx="32">
                  <c:v>17 May</c:v>
                </c:pt>
                <c:pt idx="33">
                  <c:v>18 May</c:v>
                </c:pt>
                <c:pt idx="34">
                  <c:v>19 May</c:v>
                </c:pt>
                <c:pt idx="35">
                  <c:v>20 May</c:v>
                </c:pt>
                <c:pt idx="36">
                  <c:v>21 May</c:v>
                </c:pt>
                <c:pt idx="37">
                  <c:v>22 May</c:v>
                </c:pt>
                <c:pt idx="38">
                  <c:v>23 May</c:v>
                </c:pt>
                <c:pt idx="39">
                  <c:v>24 May</c:v>
                </c:pt>
                <c:pt idx="40">
                  <c:v>25 May</c:v>
                </c:pt>
                <c:pt idx="41">
                  <c:v>26 May</c:v>
                </c:pt>
                <c:pt idx="42">
                  <c:v>27 May</c:v>
                </c:pt>
                <c:pt idx="43">
                  <c:v>28 May</c:v>
                </c:pt>
                <c:pt idx="44">
                  <c:v>29 May</c:v>
                </c:pt>
                <c:pt idx="45">
                  <c:v>01 Jun</c:v>
                </c:pt>
                <c:pt idx="46">
                  <c:v>02 Jun</c:v>
                </c:pt>
                <c:pt idx="47">
                  <c:v>03 Jun</c:v>
                </c:pt>
                <c:pt idx="48">
                  <c:v>04 Jun</c:v>
                </c:pt>
                <c:pt idx="49">
                  <c:v>05 Jun</c:v>
                </c:pt>
                <c:pt idx="50">
                  <c:v>08 Jun</c:v>
                </c:pt>
                <c:pt idx="51">
                  <c:v>09 Jun</c:v>
                </c:pt>
                <c:pt idx="52">
                  <c:v>10 Jun</c:v>
                </c:pt>
                <c:pt idx="53">
                  <c:v>11 Jun</c:v>
                </c:pt>
                <c:pt idx="54">
                  <c:v>12 Jun</c:v>
                </c:pt>
                <c:pt idx="55">
                  <c:v>15 Jun</c:v>
                </c:pt>
                <c:pt idx="56">
                  <c:v>17 Jun</c:v>
                </c:pt>
                <c:pt idx="57">
                  <c:v>18 Jun</c:v>
                </c:pt>
                <c:pt idx="58">
                  <c:v>19 Jun</c:v>
                </c:pt>
                <c:pt idx="59">
                  <c:v>22 Jun</c:v>
                </c:pt>
                <c:pt idx="60">
                  <c:v>23 Jun</c:v>
                </c:pt>
                <c:pt idx="61">
                  <c:v>24 Jun</c:v>
                </c:pt>
                <c:pt idx="62">
                  <c:v>25 Jun</c:v>
                </c:pt>
                <c:pt idx="63">
                  <c:v>26 Jun</c:v>
                </c:pt>
                <c:pt idx="64">
                  <c:v>29 Jun</c:v>
                </c:pt>
                <c:pt idx="65">
                  <c:v>30 Jun</c:v>
                </c:pt>
                <c:pt idx="66">
                  <c:v>01 Jul</c:v>
                </c:pt>
                <c:pt idx="67">
                  <c:v>02 Jul</c:v>
                </c:pt>
                <c:pt idx="68">
                  <c:v>03 Jul</c:v>
                </c:pt>
                <c:pt idx="69">
                  <c:v>06 Jul</c:v>
                </c:pt>
                <c:pt idx="70">
                  <c:v>07 Jul</c:v>
                </c:pt>
                <c:pt idx="71">
                  <c:v>08 Jul</c:v>
                </c:pt>
                <c:pt idx="72">
                  <c:v>09 Jul</c:v>
                </c:pt>
                <c:pt idx="73">
                  <c:v>10 Jul</c:v>
                </c:pt>
                <c:pt idx="74">
                  <c:v>11 Jul</c:v>
                </c:pt>
                <c:pt idx="75">
                  <c:v>13 Jul</c:v>
                </c:pt>
                <c:pt idx="76">
                  <c:v>14 Jul</c:v>
                </c:pt>
                <c:pt idx="77">
                  <c:v>15 Jul</c:v>
                </c:pt>
                <c:pt idx="78">
                  <c:v>16 Jul</c:v>
                </c:pt>
                <c:pt idx="79">
                  <c:v>17 Jul</c:v>
                </c:pt>
                <c:pt idx="80">
                  <c:v>20 Jul</c:v>
                </c:pt>
                <c:pt idx="81">
                  <c:v>21 Jul</c:v>
                </c:pt>
                <c:pt idx="82">
                  <c:v>22 Jul</c:v>
                </c:pt>
                <c:pt idx="83">
                  <c:v>23 Jul</c:v>
                </c:pt>
                <c:pt idx="84">
                  <c:v>24 Jul</c:v>
                </c:pt>
                <c:pt idx="85">
                  <c:v>27 Jul</c:v>
                </c:pt>
                <c:pt idx="86">
                  <c:v>28 Jul</c:v>
                </c:pt>
                <c:pt idx="87">
                  <c:v>29 Jul</c:v>
                </c:pt>
                <c:pt idx="88">
                  <c:v>30 Jul</c:v>
                </c:pt>
                <c:pt idx="89">
                  <c:v>31 Jul</c:v>
                </c:pt>
                <c:pt idx="90">
                  <c:v>03 Aug</c:v>
                </c:pt>
                <c:pt idx="91">
                  <c:v>04 Aug</c:v>
                </c:pt>
                <c:pt idx="92">
                  <c:v>05 Aug</c:v>
                </c:pt>
                <c:pt idx="93">
                  <c:v>06 Aug</c:v>
                </c:pt>
                <c:pt idx="94">
                  <c:v>07 Aug</c:v>
                </c:pt>
                <c:pt idx="95">
                  <c:v>10 Aug</c:v>
                </c:pt>
                <c:pt idx="96">
                  <c:v>11 Aug</c:v>
                </c:pt>
                <c:pt idx="97">
                  <c:v>12 Aug</c:v>
                </c:pt>
                <c:pt idx="98">
                  <c:v>13 Aug</c:v>
                </c:pt>
                <c:pt idx="99">
                  <c:v>14 Aug</c:v>
                </c:pt>
                <c:pt idx="100">
                  <c:v>15 Aug</c:v>
                </c:pt>
                <c:pt idx="101">
                  <c:v>17 Aug</c:v>
                </c:pt>
                <c:pt idx="102">
                  <c:v>18 Aug</c:v>
                </c:pt>
                <c:pt idx="103">
                  <c:v>19 Aug</c:v>
                </c:pt>
                <c:pt idx="104">
                  <c:v>20 Aug</c:v>
                </c:pt>
                <c:pt idx="105">
                  <c:v>21 Aug</c:v>
                </c:pt>
                <c:pt idx="106">
                  <c:v>24 Aug</c:v>
                </c:pt>
              </c:strCache>
            </c:strRef>
          </c:cat>
          <c:val>
            <c:numRef>
              <c:f>Sheet1!$B$2:$B$108</c:f>
              <c:numCache>
                <c:formatCode>General</c:formatCode>
                <c:ptCount val="107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9.0</c:v>
                </c:pt>
                <c:pt idx="4">
                  <c:v>16.0</c:v>
                </c:pt>
                <c:pt idx="5">
                  <c:v>15.0</c:v>
                </c:pt>
                <c:pt idx="6">
                  <c:v>29.0</c:v>
                </c:pt>
                <c:pt idx="7">
                  <c:v>20.0</c:v>
                </c:pt>
                <c:pt idx="8">
                  <c:v>29.0</c:v>
                </c:pt>
                <c:pt idx="9">
                  <c:v>18.0</c:v>
                </c:pt>
                <c:pt idx="10">
                  <c:v>41.0</c:v>
                </c:pt>
                <c:pt idx="11">
                  <c:v>63.0</c:v>
                </c:pt>
                <c:pt idx="12">
                  <c:v>27.0</c:v>
                </c:pt>
                <c:pt idx="13">
                  <c:v>28.0</c:v>
                </c:pt>
                <c:pt idx="14">
                  <c:v>20.0</c:v>
                </c:pt>
                <c:pt idx="15">
                  <c:v>4.0</c:v>
                </c:pt>
                <c:pt idx="16">
                  <c:v>3.0</c:v>
                </c:pt>
                <c:pt idx="17">
                  <c:v>1.0</c:v>
                </c:pt>
                <c:pt idx="18">
                  <c:v>8.0</c:v>
                </c:pt>
                <c:pt idx="19">
                  <c:v>29.0</c:v>
                </c:pt>
                <c:pt idx="20">
                  <c:v>42.0</c:v>
                </c:pt>
                <c:pt idx="21">
                  <c:v>52.0</c:v>
                </c:pt>
                <c:pt idx="22">
                  <c:v>100.0</c:v>
                </c:pt>
                <c:pt idx="23">
                  <c:v>56.0</c:v>
                </c:pt>
                <c:pt idx="24">
                  <c:v>89.0</c:v>
                </c:pt>
                <c:pt idx="25">
                  <c:v>74.0</c:v>
                </c:pt>
                <c:pt idx="26">
                  <c:v>40.0</c:v>
                </c:pt>
                <c:pt idx="27">
                  <c:v>69.0</c:v>
                </c:pt>
                <c:pt idx="28">
                  <c:v>93.0</c:v>
                </c:pt>
                <c:pt idx="29">
                  <c:v>153.0</c:v>
                </c:pt>
                <c:pt idx="30">
                  <c:v>156.0</c:v>
                </c:pt>
                <c:pt idx="31">
                  <c:v>1.0</c:v>
                </c:pt>
                <c:pt idx="32">
                  <c:v>1.0</c:v>
                </c:pt>
                <c:pt idx="33">
                  <c:v>87.0</c:v>
                </c:pt>
                <c:pt idx="34">
                  <c:v>95.0</c:v>
                </c:pt>
                <c:pt idx="35">
                  <c:v>76.0</c:v>
                </c:pt>
                <c:pt idx="36">
                  <c:v>127.0</c:v>
                </c:pt>
                <c:pt idx="37">
                  <c:v>33.0</c:v>
                </c:pt>
                <c:pt idx="38">
                  <c:v>3.0</c:v>
                </c:pt>
                <c:pt idx="39">
                  <c:v>1.0</c:v>
                </c:pt>
                <c:pt idx="40">
                  <c:v>75.0</c:v>
                </c:pt>
                <c:pt idx="41">
                  <c:v>53.0</c:v>
                </c:pt>
                <c:pt idx="42">
                  <c:v>32.0</c:v>
                </c:pt>
                <c:pt idx="43">
                  <c:v>29.0</c:v>
                </c:pt>
                <c:pt idx="44">
                  <c:v>11.0</c:v>
                </c:pt>
                <c:pt idx="45">
                  <c:v>47.0</c:v>
                </c:pt>
                <c:pt idx="46">
                  <c:v>128.0</c:v>
                </c:pt>
                <c:pt idx="47">
                  <c:v>120.0</c:v>
                </c:pt>
                <c:pt idx="48">
                  <c:v>150.0</c:v>
                </c:pt>
                <c:pt idx="49">
                  <c:v>106.0</c:v>
                </c:pt>
                <c:pt idx="50">
                  <c:v>68.0</c:v>
                </c:pt>
                <c:pt idx="51">
                  <c:v>31.0</c:v>
                </c:pt>
                <c:pt idx="52">
                  <c:v>97.0</c:v>
                </c:pt>
                <c:pt idx="53">
                  <c:v>96.0</c:v>
                </c:pt>
                <c:pt idx="54">
                  <c:v>57.0</c:v>
                </c:pt>
                <c:pt idx="55">
                  <c:v>33.0</c:v>
                </c:pt>
                <c:pt idx="56">
                  <c:v>75.0</c:v>
                </c:pt>
                <c:pt idx="57">
                  <c:v>69.0</c:v>
                </c:pt>
                <c:pt idx="58">
                  <c:v>109.0</c:v>
                </c:pt>
                <c:pt idx="59">
                  <c:v>41.0</c:v>
                </c:pt>
                <c:pt idx="60">
                  <c:v>68.0</c:v>
                </c:pt>
                <c:pt idx="61">
                  <c:v>91.0</c:v>
                </c:pt>
                <c:pt idx="62">
                  <c:v>154.0</c:v>
                </c:pt>
                <c:pt idx="63">
                  <c:v>183.0</c:v>
                </c:pt>
                <c:pt idx="64">
                  <c:v>180.0</c:v>
                </c:pt>
                <c:pt idx="65">
                  <c:v>146.0</c:v>
                </c:pt>
                <c:pt idx="66">
                  <c:v>232.0</c:v>
                </c:pt>
                <c:pt idx="67">
                  <c:v>171.0</c:v>
                </c:pt>
                <c:pt idx="68">
                  <c:v>86.0</c:v>
                </c:pt>
                <c:pt idx="69">
                  <c:v>117.0</c:v>
                </c:pt>
                <c:pt idx="70">
                  <c:v>118.0</c:v>
                </c:pt>
                <c:pt idx="71">
                  <c:v>133.0</c:v>
                </c:pt>
                <c:pt idx="72">
                  <c:v>159.0</c:v>
                </c:pt>
                <c:pt idx="73">
                  <c:v>94.0</c:v>
                </c:pt>
                <c:pt idx="74">
                  <c:v>2.0</c:v>
                </c:pt>
                <c:pt idx="75">
                  <c:v>128.0</c:v>
                </c:pt>
                <c:pt idx="76">
                  <c:v>159.0</c:v>
                </c:pt>
                <c:pt idx="77">
                  <c:v>31.0</c:v>
                </c:pt>
                <c:pt idx="78">
                  <c:v>139.0</c:v>
                </c:pt>
                <c:pt idx="79">
                  <c:v>111.0</c:v>
                </c:pt>
                <c:pt idx="80">
                  <c:v>94.0</c:v>
                </c:pt>
                <c:pt idx="81">
                  <c:v>102.0</c:v>
                </c:pt>
                <c:pt idx="82">
                  <c:v>3.0</c:v>
                </c:pt>
                <c:pt idx="83">
                  <c:v>54.0</c:v>
                </c:pt>
                <c:pt idx="84">
                  <c:v>21.0</c:v>
                </c:pt>
                <c:pt idx="85">
                  <c:v>95.0</c:v>
                </c:pt>
                <c:pt idx="86">
                  <c:v>99.0</c:v>
                </c:pt>
                <c:pt idx="87">
                  <c:v>53.0</c:v>
                </c:pt>
                <c:pt idx="88">
                  <c:v>38.0</c:v>
                </c:pt>
                <c:pt idx="89">
                  <c:v>16.0</c:v>
                </c:pt>
                <c:pt idx="90">
                  <c:v>90.0</c:v>
                </c:pt>
                <c:pt idx="91">
                  <c:v>119.0</c:v>
                </c:pt>
                <c:pt idx="92">
                  <c:v>109.0</c:v>
                </c:pt>
                <c:pt idx="93">
                  <c:v>152.0</c:v>
                </c:pt>
                <c:pt idx="94">
                  <c:v>107.0</c:v>
                </c:pt>
                <c:pt idx="95">
                  <c:v>4.0</c:v>
                </c:pt>
                <c:pt idx="96">
                  <c:v>108.0</c:v>
                </c:pt>
                <c:pt idx="97">
                  <c:v>92.0</c:v>
                </c:pt>
                <c:pt idx="98">
                  <c:v>72.0</c:v>
                </c:pt>
                <c:pt idx="99">
                  <c:v>65.0</c:v>
                </c:pt>
                <c:pt idx="100">
                  <c:v>2.0</c:v>
                </c:pt>
                <c:pt idx="101">
                  <c:v>48.0</c:v>
                </c:pt>
                <c:pt idx="102">
                  <c:v>70.0</c:v>
                </c:pt>
                <c:pt idx="103">
                  <c:v>92.0</c:v>
                </c:pt>
                <c:pt idx="104">
                  <c:v>50.0</c:v>
                </c:pt>
                <c:pt idx="105">
                  <c:v>48.0</c:v>
                </c:pt>
                <c:pt idx="106">
                  <c:v>72.0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143000"/>
            <a:ext cx="10515600" cy="5943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Ekurhuleni Operations &amp; Analytics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874519"/>
            <a:ext cx="987552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800" b="0">
                <a:solidFill>
                  <a:srgbClr val="DCE8F2"/>
                </a:solidFill>
                <a:latin typeface="Aptos"/>
              </a:rPr>
              <a:t>24 August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43200"/>
            <a:ext cx="68580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100" b="0">
                <a:solidFill>
                  <a:srgbClr val="DCE8F2"/>
                </a:solidFill>
                <a:latin typeface="Aptos"/>
              </a:rPr>
              <a:t>Requesting team: Operations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54680"/>
            <a:ext cx="68580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100" b="0">
                <a:solidFill>
                  <a:srgbClr val="DCE8F2"/>
                </a:solidFill>
                <a:latin typeface="Aptos"/>
              </a:rPr>
              <a:t>Audience: Operations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440680"/>
            <a:ext cx="9601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B9C8D6"/>
                </a:solidFill>
                <a:latin typeface="Aptos"/>
              </a:rPr>
              <a:t>Automatically designed from the selected data, period and reporting brief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5138928"/>
            <a:ext cx="128016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20574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1453895"/>
            <a:ext cx="1783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Period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691640"/>
            <a:ext cx="17830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72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325880"/>
            <a:ext cx="20574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9504" y="1453895"/>
            <a:ext cx="1783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Distinct wards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9504" y="1691640"/>
            <a:ext cx="17830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325880"/>
            <a:ext cx="20574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84064" y="1453895"/>
            <a:ext cx="1783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4064" y="1691640"/>
            <a:ext cx="17830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Daily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325880"/>
            <a:ext cx="20574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78624" y="1453895"/>
            <a:ext cx="1783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Vs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8624" y="1691640"/>
            <a:ext cx="17830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Not available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560320"/>
            <a:ext cx="11064240" cy="333756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761488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300" b="1">
                <a:solidFill>
                  <a:srgbClr val="17324D"/>
                </a:solidFill>
                <a:latin typeface="Aptos"/>
              </a:rPr>
              <a:t>What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182112"/>
            <a:ext cx="41148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DAY-001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3182112"/>
            <a:ext cx="100126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72 cases were logged on the selected reporting date.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12463"/>
            <a:ext cx="41148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DAY-002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3712463"/>
            <a:ext cx="100126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20 distinct wards were represented on the selected reporting date; 20 were new to the reporting week.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242816"/>
            <a:ext cx="41148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DAY-003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4242816"/>
            <a:ext cx="100126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Reporting-week running coverage is 20 wards, with 92 still needed against the configured benchmark where available.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773168"/>
            <a:ext cx="41148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DAY-004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4773168"/>
            <a:ext cx="100126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Outbound Call was the leading intake channel with 72 cases (100.0%).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303520"/>
            <a:ext cx="41148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DAY-005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5303520"/>
            <a:ext cx="100126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Peak activity occurred at 14:00 with 16 cases.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24 August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Daily Operational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1545336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Cases logged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" y="1783080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72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27576" y="1417320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73880" y="1545336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Daily wards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3880" y="1783080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0792" y="1417320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7096" y="1545336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New wards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7096" y="1783080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532888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660904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Running wards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2898648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27576" y="2532888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3880" y="2660904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Still needed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3880" y="2898648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92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0792" y="2532888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7096" y="2660904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7096" y="2898648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17.9%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886200"/>
            <a:ext cx="10698480" cy="141732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133087"/>
            <a:ext cx="24688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17324D"/>
                </a:solidFill>
                <a:latin typeface="Aptos"/>
              </a:rPr>
              <a:t>Operational pacing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80560"/>
            <a:ext cx="99669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Suggested new wards per remaining working day: 23 across 4 remaining working day(s).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010912"/>
            <a:ext cx="99669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5C6B78"/>
                </a:solidFill>
                <a:latin typeface="Aptos"/>
              </a:rPr>
              <a:t>The pace is a recommendation based on the configured ward benchmark and remaining Monday–Friday days, not an observed performance value.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24 August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Ward &amp; Geographic Coverage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27432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1636776"/>
            <a:ext cx="24688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Wards represented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1874519"/>
            <a:ext cx="24688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508760"/>
            <a:ext cx="27432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58184" y="1636776"/>
            <a:ext cx="24688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Configured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58184" y="1874519"/>
            <a:ext cx="24688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112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508760"/>
            <a:ext cx="27432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84264" y="1636776"/>
            <a:ext cx="24688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4264" y="1874519"/>
            <a:ext cx="24688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17.9%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85800" y="2788920"/>
          <a:ext cx="6400800" cy="2697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315200" y="2788920"/>
            <a:ext cx="3794760" cy="2697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2999232"/>
            <a:ext cx="3337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17324D"/>
                </a:solidFill>
                <a:latin typeface="Aptos"/>
              </a:rPr>
              <a:t>CCA 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3401568"/>
            <a:ext cx="329184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50" b="0">
                <a:solidFill>
                  <a:srgbClr val="263238"/>
                </a:solidFill>
                <a:latin typeface="Aptos"/>
              </a:rPr>
              <a:t>ALBERTON — 0/5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3712464"/>
            <a:ext cx="329184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50" b="0">
                <a:solidFill>
                  <a:srgbClr val="263238"/>
                </a:solidFill>
                <a:latin typeface="Aptos"/>
              </a:rPr>
              <a:t>BENONI — 2/7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4023360"/>
            <a:ext cx="329184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50" b="0">
                <a:solidFill>
                  <a:srgbClr val="263238"/>
                </a:solidFill>
                <a:latin typeface="Aptos"/>
              </a:rPr>
              <a:t>BOKSBURG — 2/6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4334256"/>
            <a:ext cx="329184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50" b="0">
                <a:solidFill>
                  <a:srgbClr val="263238"/>
                </a:solidFill>
                <a:latin typeface="Aptos"/>
              </a:rPr>
              <a:t>DAVEYTON — 0/4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4645152"/>
            <a:ext cx="329184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50" b="0">
                <a:solidFill>
                  <a:srgbClr val="263238"/>
                </a:solidFill>
                <a:latin typeface="Aptos"/>
              </a:rPr>
              <a:t>EDENVALE — 1/6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4956048"/>
            <a:ext cx="329184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50" b="0">
                <a:solidFill>
                  <a:srgbClr val="263238"/>
                </a:solidFill>
                <a:latin typeface="Aptos"/>
              </a:rPr>
              <a:t>ETWATWA — 0/4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5266944"/>
            <a:ext cx="329184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50" b="0">
                <a:solidFill>
                  <a:srgbClr val="263238"/>
                </a:solidFill>
                <a:latin typeface="Aptos"/>
              </a:rPr>
              <a:t>GERMISTON — 1/8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5230368"/>
            <a:ext cx="329184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87783"/>
                </a:solidFill>
                <a:latin typeface="Aptos"/>
              </a:rPr>
              <a:t>+ 13 more CCA rows in addendum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24 August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Channel &amp; Hourly Activity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371600"/>
          <a:ext cx="49834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897880" y="1371600"/>
          <a:ext cx="5394960" cy="4480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24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Workflow / Resolution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Daily status mix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417320"/>
          <a:ext cx="1088136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24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Service &amp; Demand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Daily Case Category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417320"/>
          <a:ext cx="1088136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24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Location / Entity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Daily location mix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417320"/>
          <a:ext cx="1088136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24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Priority / Risk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Daily priority mix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417320"/>
          <a:ext cx="1088136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24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Data Quality &amp;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74420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99616"/>
            <a:ext cx="9144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Medium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490472"/>
            <a:ext cx="937260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21408"/>
            <a:ext cx="1074420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03704"/>
            <a:ext cx="9144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Medium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194560"/>
            <a:ext cx="937260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25496"/>
            <a:ext cx="1074420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07792"/>
            <a:ext cx="9144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Medium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898648"/>
            <a:ext cx="937260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9584"/>
            <a:ext cx="1074420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11880"/>
            <a:ext cx="9144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602736"/>
            <a:ext cx="937260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24 August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Voice of Citizen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834640" cy="1828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22860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VoC responses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21408"/>
            <a:ext cx="228600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400" b="1">
                <a:solidFill>
                  <a:srgbClr val="0058A8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1463040"/>
            <a:ext cx="2834640" cy="1828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1783080"/>
            <a:ext cx="22860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Positive / resolved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121408"/>
            <a:ext cx="228600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400" b="1">
                <a:solidFill>
                  <a:srgbClr val="2E7D32"/>
                </a:solidFill>
                <a:latin typeface="Aptos"/>
              </a:rPr>
              <a:t>Not available%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94760"/>
            <a:ext cx="10241280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VoC is shown only when supplied evidence is available and labelled for the selected reporting context.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24 August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Extreme Analysis — Diagnostic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Pareto + Fishbone + Five Whys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486400" cy="4526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36192"/>
            <a:ext cx="49377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200" b="1">
                <a:solidFill>
                  <a:srgbClr val="17324D"/>
                </a:solidFill>
                <a:latin typeface="Aptos"/>
              </a:rPr>
              <a:t>Pareto priority screen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874519"/>
          <a:ext cx="48463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1248" y="5358384"/>
            <a:ext cx="48006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5C6B78"/>
                </a:solidFill>
                <a:latin typeface="Aptos"/>
              </a:rPr>
              <a:t>Cumulative top segment share: 66.2% across first 3 segment(s).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257800" cy="4526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36192"/>
            <a:ext cx="46634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200" b="1">
                <a:solidFill>
                  <a:srgbClr val="17324D"/>
                </a:solidFill>
                <a:latin typeface="Aptos"/>
              </a:rPr>
              <a:t>Fishbone investigation 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01952"/>
            <a:ext cx="20116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263238"/>
                </a:solidFill>
                <a:latin typeface="Aptos"/>
              </a:rPr>
              <a:t>Governance / Accountabili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1901952"/>
            <a:ext cx="278892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No direct evidence signal mapped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59152"/>
            <a:ext cx="20116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263238"/>
                </a:solidFill>
                <a:latin typeface="Aptos"/>
              </a:rPr>
              <a:t>Process Design /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359152"/>
            <a:ext cx="278892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Workflow concentration warrants control/process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816352"/>
            <a:ext cx="20116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263238"/>
                </a:solidFill>
                <a:latin typeface="Aptos"/>
              </a:rPr>
              <a:t>Intergovernmental Depende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2816352"/>
            <a:ext cx="278892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No direct evidence signal mapped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273552"/>
            <a:ext cx="20116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263238"/>
                </a:solidFill>
                <a:latin typeface="Aptos"/>
              </a:rPr>
              <a:t>Resource 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3273552"/>
            <a:ext cx="278892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High concentration may create capacity dependency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730752"/>
            <a:ext cx="20116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263238"/>
                </a:solidFill>
                <a:latin typeface="Aptos"/>
              </a:rPr>
              <a:t>Infrastructure / Assets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3730752"/>
            <a:ext cx="278892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No direct evidence signal mapped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187952"/>
            <a:ext cx="20116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263238"/>
                </a:solidFill>
                <a:latin typeface="Aptos"/>
              </a:rPr>
              <a:t>Data / Systems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4187952"/>
            <a:ext cx="278892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Data-quality findings indicate a systems/data-control review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645152"/>
            <a:ext cx="20116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263238"/>
                </a:solidFill>
                <a:latin typeface="Aptos"/>
              </a:rPr>
              <a:t>Policy / Compliance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4645152"/>
            <a:ext cx="278892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No direct evidence signal mapped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5102352"/>
            <a:ext cx="20116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263238"/>
                </a:solidFill>
                <a:latin typeface="Aptos"/>
              </a:rPr>
              <a:t>Communication / Feedback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5632" y="5102352"/>
            <a:ext cx="278892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Channel concentration warrants intake/feedback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532120"/>
            <a:ext cx="46634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5C6B78"/>
                </a:solidFill>
                <a:latin typeface="Aptos"/>
              </a:rPr>
              <a:t>Five Whys prompts: 2 investigation chain(s) — answers require verified operational evidence.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24 August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Extreme Analysis — Predictive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Evidence-gated historical trend screen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417320"/>
          <a:ext cx="73152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0" y="1417320"/>
            <a:ext cx="3246120" cy="429768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691640"/>
            <a:ext cx="26517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200" b="1">
                <a:solidFill>
                  <a:srgbClr val="17324D"/>
                </a:solidFill>
                <a:latin typeface="Aptos"/>
              </a:rPr>
              <a:t>Predictive screen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2148840"/>
            <a:ext cx="2651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Historical observations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423160"/>
            <a:ext cx="26517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107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3063240"/>
            <a:ext cx="2651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Trend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3337560"/>
            <a:ext cx="26517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600" b="1">
                <a:solidFill>
                  <a:srgbClr val="17324D"/>
                </a:solidFill>
                <a:latin typeface="Aptos"/>
              </a:rPr>
              <a:t>Increasing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3931920"/>
            <a:ext cx="2651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Next-day screen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4187952"/>
            <a:ext cx="26517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800" b="1">
                <a:solidFill>
                  <a:srgbClr val="0058A8"/>
                </a:solidFill>
                <a:latin typeface="Aptos"/>
              </a:rPr>
              <a:t>102.9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4800600"/>
            <a:ext cx="2651760" cy="5943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Simple trend only. It is not a guaranteed forecast and does not model causality or seasonality.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24 August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Extreme Analysis — Optimisation &amp; Control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Corrective / preventive action candidates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744200" cy="6949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1051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L2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481328"/>
            <a:ext cx="905256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Pareto screening identifies Electricity Services as the largest Case Category 1 segment at 17 cases (23.6%).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755648"/>
            <a:ext cx="9052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Start the diagnostic review with Electricity Services; test the leading segments against process, control, capacity and data evidence before redesigning operations.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67128"/>
            <a:ext cx="10744200" cy="6949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58568"/>
            <a:ext cx="1051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L2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231136"/>
            <a:ext cx="905256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Fishbone screening mapped 4 observable signal(s) across eight standard cause categories.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505456"/>
            <a:ext cx="9052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Use the Fishbone register as a hypothesis-testing checklist; do not treat an unmapped category as evidence of a problem.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16936"/>
            <a:ext cx="10744200" cy="6949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08376"/>
            <a:ext cx="1051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L2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980944"/>
            <a:ext cx="905256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Five Whys prompts were generated for 2 materially concentrated segment(s).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255264"/>
            <a:ext cx="9052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Validate each why with case evidence, process documentation or operational owner confirmation before recording a root cause.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66744"/>
            <a:ext cx="10744200" cy="6949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758183"/>
            <a:ext cx="1051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L2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730752"/>
            <a:ext cx="905256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A control-gap review has been activated for the extreme-analysis run, using deterministic quality findings and workflow concentrations as review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005072"/>
            <a:ext cx="9052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Review high-severity quality exceptions and concentrated workflow segments against the relevant SOP/control before proposing redesign.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416552"/>
            <a:ext cx="10744200" cy="6949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507992"/>
            <a:ext cx="1051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L3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480560"/>
            <a:ext cx="905256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Historical daily activity shows a increasing fitted trend of 0.61 cases per day across 107 observations; the next-day screen is 102.9 cases.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754880"/>
            <a:ext cx="9052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Compare the next reporting close with the screen and investigate structural changes, seasonality or data-capture changes before using it for capacity commitments.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166360"/>
            <a:ext cx="10744200" cy="6949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257800"/>
            <a:ext cx="1051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L4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230368"/>
            <a:ext cx="905256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Optimisation review is enabled to convert confirmed diagnostic findings into corrective/preventive action candidates.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504688"/>
            <a:ext cx="9052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Prioritise actions whose diagnostic evidence is confirmed by process owners; route systemic process-redesign candidates to Business Process Management for validation.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24 August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Actions and Management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74420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17904"/>
            <a:ext cx="6858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490472"/>
            <a:ext cx="909828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67128"/>
            <a:ext cx="1074420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67712"/>
            <a:ext cx="6858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240280"/>
            <a:ext cx="909828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16936"/>
            <a:ext cx="1074420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17520"/>
            <a:ext cx="6858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990088"/>
            <a:ext cx="909828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666744"/>
            <a:ext cx="1074420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67328"/>
            <a:ext cx="6858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739896"/>
            <a:ext cx="909828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416552"/>
            <a:ext cx="1074420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517136"/>
            <a:ext cx="6858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489704"/>
            <a:ext cx="909828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166360"/>
            <a:ext cx="1074420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266944"/>
            <a:ext cx="6858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Normal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239512"/>
            <a:ext cx="909828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24 August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Evidence and Method Note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744200" cy="438912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99669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300" b="1">
                <a:solidFill>
                  <a:srgbClr val="17324D"/>
                </a:solidFill>
                <a:latin typeface="Aptos"/>
              </a:rPr>
              <a:t>How to verify this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76272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76272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Source and file register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15184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15184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Field mapping / data dictionary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54096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54096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Period filter and denominators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93008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493008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Full distributions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931920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Record-level or pseudonymised evidence where appropriate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70831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370831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Quality exceptions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09744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809744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Calculation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48656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248656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Finding-to-evidence traceability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57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Detailed calculations, source registers, exceptions and traceability belong in the analytical addendum.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24 August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