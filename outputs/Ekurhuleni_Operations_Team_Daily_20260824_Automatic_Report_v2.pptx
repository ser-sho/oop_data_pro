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Outbound Call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Aptos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800">
              <a:latin typeface="Apto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51560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Ekurhuleni Operations &amp; Analytics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DCE8F2"/>
                </a:solidFill>
                <a:latin typeface="Aptos"/>
              </a:rPr>
              <a:t>24 August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743200"/>
            <a:ext cx="68580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DCE8F2"/>
                </a:solidFill>
                <a:latin typeface="Aptos"/>
              </a:rPr>
              <a:t>Requesting team: Operations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54680"/>
            <a:ext cx="68580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DCE8F2"/>
                </a:solidFill>
                <a:latin typeface="Aptos"/>
              </a:rPr>
              <a:t>Audience: Operations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0680"/>
            <a:ext cx="9601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B9C8D6"/>
                </a:solidFill>
                <a:latin typeface="Aptos"/>
              </a:rPr>
              <a:t>Automatically designed from the selected data, period and reporting 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138928"/>
            <a:ext cx="1280160" cy="457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453895"/>
            <a:ext cx="1783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Period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691640"/>
            <a:ext cx="17830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453895"/>
            <a:ext cx="1783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Distinct 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9504" y="1691640"/>
            <a:ext cx="17830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4064" y="1453895"/>
            <a:ext cx="1783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1691640"/>
            <a:ext cx="17830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Daily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78624" y="1453895"/>
            <a:ext cx="1783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Vs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91640"/>
            <a:ext cx="17830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Not 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60320"/>
            <a:ext cx="11064240" cy="333756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61488"/>
            <a:ext cx="105156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17324D"/>
                </a:solidFill>
                <a:latin typeface="Aptos"/>
              </a:rPr>
              <a:t>What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2"/>
            <a:ext cx="4114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AI-F-001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182112"/>
            <a:ext cx="100126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20 of 112 configured wards are represented in the selected period (17.9%), leaving 92 unrepresented.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12463"/>
            <a:ext cx="4114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AI-F-002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712463"/>
            <a:ext cx="100126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Outbound Call accounts for 72 of 72 selected-period cases (100.0%), indicating material concentration in the intake channel dimension.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42816"/>
            <a:ext cx="4114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AI-F-003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242816"/>
            <a:ext cx="100126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Medium accounts for 65 of 72 selected-period cases (90.3%), indicating material concentration in the priority segment dimension.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73168"/>
            <a:ext cx="4114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AI-F-004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773168"/>
            <a:ext cx="100126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Active is the largest status, representing 61 cases (84.7%) in the selected period.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4114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AI-F-005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303520"/>
            <a:ext cx="100126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4 deterministic data-quality finding(s) were detected, including 0 high-severity finding(s).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Period Performance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54480"/>
            <a:ext cx="331012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682495"/>
            <a:ext cx="3035808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Period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920240"/>
            <a:ext cx="3035808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554480"/>
            <a:ext cx="331012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6824" y="1682495"/>
            <a:ext cx="3035808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Distinct 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6824" y="1920240"/>
            <a:ext cx="3035808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554480"/>
            <a:ext cx="331012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544" y="1682495"/>
            <a:ext cx="3035808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81544" y="1920240"/>
            <a:ext cx="3035808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Not available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0360"/>
            <a:ext cx="10561320" cy="242316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82112"/>
            <a:ext cx="99669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17324D"/>
                </a:solidFill>
                <a:latin typeface="Aptos"/>
              </a:rPr>
              <a:t>Design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11880"/>
            <a:ext cx="987552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The automatic designer selected a KPI snapshot because the selected period does not contain enough daily observations for a meaningful trend chart.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98755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No trend is inferred from a single observation.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Data Quality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7442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99616"/>
            <a:ext cx="9144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Medium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90472"/>
            <a:ext cx="937260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21408"/>
            <a:ext cx="107442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03704"/>
            <a:ext cx="9144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Medium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94560"/>
            <a:ext cx="937260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6"/>
            <a:ext cx="107442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2"/>
            <a:ext cx="9144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98648"/>
            <a:ext cx="937260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29584"/>
            <a:ext cx="107442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11880"/>
            <a:ext cx="9144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602736"/>
            <a:ext cx="937260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Geographic / Coverage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636776"/>
            <a:ext cx="2468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Wards represented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874519"/>
            <a:ext cx="24688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58184" y="1636776"/>
            <a:ext cx="2468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Configured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8184" y="1874519"/>
            <a:ext cx="24688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84264" y="1636776"/>
            <a:ext cx="2468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4" y="1874519"/>
            <a:ext cx="2468880" cy="3931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17.9%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Channel and Time 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31520"/>
            <a:ext cx="104241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Period intake channel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371600"/>
          <a:ext cx="1033272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Actions and Management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17904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90472"/>
            <a:ext cx="909828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67128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40280"/>
            <a:ext cx="909828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6936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90088"/>
            <a:ext cx="909828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66744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67328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09828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16552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17136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89704"/>
            <a:ext cx="909828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Evidence and Method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744200" cy="438912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9966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17324D"/>
                </a:solidFill>
                <a:latin typeface="Aptos"/>
              </a:rPr>
              <a:t>How to verify this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76272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76272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Source and file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15184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Field mapping / data dictionary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54096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54096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Period filter and denominators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93008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93008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Full distributions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20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Record-level or pseudonymised evidence where appropriate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1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Quality exceptions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9744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809744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Calculation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48656"/>
            <a:ext cx="274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248656"/>
            <a:ext cx="964692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Finding-to-evidence traceability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9875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Detailed calculations, source registers, exceptions and traceability belong in the analytical addendum.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24 August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