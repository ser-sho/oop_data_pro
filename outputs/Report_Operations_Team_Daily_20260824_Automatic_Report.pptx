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Cases</c:v>
                </c:pt>
              </c:strCache>
            </c:strRef>
          </c:tx>
          <c:cat>
            <c:strRef>
              <c:f>Sheet1!$A$2:$A$2</c:f>
              <c:strCache>
                <c:ptCount val="1"/>
                <c:pt idx="0">
                  <c:v>Outbound Call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72.0</c:v>
                </c:pt>
              </c:numCache>
            </c:numRef>
          </c:val>
        </c:ser>
        <c:dLbls>
          <c:txPr>
            <a:bodyPr/>
            <a:lstStyle/>
            <a:p>
              <a:pPr>
                <a:defRPr sz="800">
                  <a:latin typeface="Aptos"/>
                </a:defRPr>
              </a:pPr>
            </a:p>
          </c:txPr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  <c:holeSize val="50"/>
      </c:doughnutChart>
    </c:plotArea>
    <c:legend>
      <c:legendPos/>
      <c:layout/>
      <c:overlay val="0"/>
      <c:txPr>
        <a:bodyPr/>
        <a:lstStyle/>
        <a:p>
          <a:pPr>
            <a:defRPr sz="800">
              <a:latin typeface="Aptos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324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1143000"/>
            <a:ext cx="10515600" cy="5943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Aptos"/>
              </a:rPr>
              <a:t>Not specified Operations &amp; Analytics Report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874519"/>
            <a:ext cx="987552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800" b="0">
                <a:solidFill>
                  <a:srgbClr val="DCE8F2"/>
                </a:solidFill>
                <a:latin typeface="Aptos"/>
              </a:rPr>
              <a:t>24 August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2743200"/>
            <a:ext cx="685800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00" b="0">
                <a:solidFill>
                  <a:srgbClr val="DCE8F2"/>
                </a:solidFill>
                <a:latin typeface="Aptos"/>
              </a:rPr>
              <a:t>Requesting team: Operations Team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3154680"/>
            <a:ext cx="685800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00" b="0">
                <a:solidFill>
                  <a:srgbClr val="DCE8F2"/>
                </a:solidFill>
                <a:latin typeface="Aptos"/>
              </a:rPr>
              <a:t>Audience: Operations management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5440680"/>
            <a:ext cx="960120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900" b="0">
                <a:solidFill>
                  <a:srgbClr val="B9C8D6"/>
                </a:solidFill>
                <a:latin typeface="Aptos"/>
              </a:rPr>
              <a:t>Automatically designed from the selected data, period and reporting brief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5138928"/>
            <a:ext cx="1280160" cy="4572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0698480" cy="4114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300" b="1">
                <a:solidFill>
                  <a:srgbClr val="17324D"/>
                </a:solidFill>
                <a:latin typeface="Aptos"/>
              </a:rPr>
              <a:t>Executive Summary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60704"/>
            <a:ext cx="10744200" cy="36576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325880"/>
            <a:ext cx="2057400" cy="96012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9E2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94944" y="1453895"/>
            <a:ext cx="178308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800" b="0">
                <a:solidFill>
                  <a:srgbClr val="687783"/>
                </a:solidFill>
                <a:latin typeface="Aptos"/>
              </a:rPr>
              <a:t>Period cases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4944" y="1691640"/>
            <a:ext cx="1783080" cy="39319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000" b="1">
                <a:solidFill>
                  <a:srgbClr val="0058A8"/>
                </a:solidFill>
                <a:latin typeface="Aptos"/>
              </a:rPr>
              <a:t>72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0" y="1325880"/>
            <a:ext cx="2057400" cy="96012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9E2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889504" y="1453895"/>
            <a:ext cx="178308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800" b="0">
                <a:solidFill>
                  <a:srgbClr val="687783"/>
                </a:solidFill>
                <a:latin typeface="Aptos"/>
              </a:rPr>
              <a:t>Distinct wards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89504" y="1691640"/>
            <a:ext cx="1783080" cy="39319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000" b="1">
                <a:solidFill>
                  <a:srgbClr val="0058A8"/>
                </a:solidFill>
                <a:latin typeface="Aptos"/>
              </a:rPr>
              <a:t>20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937760" y="1325880"/>
            <a:ext cx="2057400" cy="96012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9E2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84064" y="1453895"/>
            <a:ext cx="178308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800" b="0">
                <a:solidFill>
                  <a:srgbClr val="687783"/>
                </a:solidFill>
                <a:latin typeface="Aptos"/>
              </a:rPr>
              <a:t>Period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84064" y="1691640"/>
            <a:ext cx="1783080" cy="39319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000" b="1">
                <a:solidFill>
                  <a:srgbClr val="0058A8"/>
                </a:solidFill>
                <a:latin typeface="Aptos"/>
              </a:rPr>
              <a:t>Daily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32320" y="1325880"/>
            <a:ext cx="2057400" cy="96012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9E2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78624" y="1453895"/>
            <a:ext cx="178308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800" b="0">
                <a:solidFill>
                  <a:srgbClr val="687783"/>
                </a:solidFill>
                <a:latin typeface="Aptos"/>
              </a:rPr>
              <a:t>Vs comparison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78624" y="1691640"/>
            <a:ext cx="1783080" cy="39319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000" b="1">
                <a:solidFill>
                  <a:srgbClr val="0058A8"/>
                </a:solidFill>
                <a:latin typeface="Aptos"/>
              </a:rPr>
              <a:t>Not available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2560320"/>
            <a:ext cx="11064240" cy="3337560"/>
          </a:xfrm>
          <a:prstGeom prst="roundRect">
            <a:avLst/>
          </a:prstGeom>
          <a:solidFill>
            <a:srgbClr val="F3F6FA"/>
          </a:solidFill>
          <a:ln w="8890">
            <a:solidFill>
              <a:srgbClr val="F3F6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9808" y="2761488"/>
            <a:ext cx="1051560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300" b="1">
                <a:solidFill>
                  <a:srgbClr val="17324D"/>
                </a:solidFill>
                <a:latin typeface="Aptos"/>
              </a:rPr>
              <a:t>What matters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3182112"/>
            <a:ext cx="411480" cy="29260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900" b="1">
                <a:solidFill>
                  <a:srgbClr val="FFC000"/>
                </a:solidFill>
                <a:latin typeface="Aptos"/>
              </a:rPr>
              <a:t>AI-F-001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70432" y="3182112"/>
            <a:ext cx="1001268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000" b="0">
                <a:solidFill>
                  <a:srgbClr val="263238"/>
                </a:solidFill>
                <a:latin typeface="Aptos"/>
              </a:rPr>
              <a:t>20 of 112 configured wards are represented in the selected period (17.9%), leaving 92 unrepresented.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3712463"/>
            <a:ext cx="411480" cy="29260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900" b="1">
                <a:solidFill>
                  <a:srgbClr val="FFC000"/>
                </a:solidFill>
                <a:latin typeface="Aptos"/>
              </a:rPr>
              <a:t>AI-F-002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70432" y="3712463"/>
            <a:ext cx="1001268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000" b="0">
                <a:solidFill>
                  <a:srgbClr val="263238"/>
                </a:solidFill>
                <a:latin typeface="Aptos"/>
              </a:rPr>
              <a:t>Outbound Call accounts for 72 of 72 selected-period cases (100.0%), indicating material concentration in the intake channel dimension.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4242816"/>
            <a:ext cx="411480" cy="29260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900" b="1">
                <a:solidFill>
                  <a:srgbClr val="FFC000"/>
                </a:solidFill>
                <a:latin typeface="Aptos"/>
              </a:rPr>
              <a:t>AI-F-003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70432" y="4242816"/>
            <a:ext cx="1001268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000" b="0">
                <a:solidFill>
                  <a:srgbClr val="263238"/>
                </a:solidFill>
                <a:latin typeface="Aptos"/>
              </a:rPr>
              <a:t>Medium accounts for 65 of 72 selected-period cases (90.3%), indicating material concentration in the priority segment dimension.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4773168"/>
            <a:ext cx="411480" cy="29260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900" b="1">
                <a:solidFill>
                  <a:srgbClr val="FFC000"/>
                </a:solidFill>
                <a:latin typeface="Aptos"/>
              </a:rPr>
              <a:t>AI-F-004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70432" y="4773168"/>
            <a:ext cx="1001268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000" b="0">
                <a:solidFill>
                  <a:srgbClr val="263238"/>
                </a:solidFill>
                <a:latin typeface="Aptos"/>
              </a:rPr>
              <a:t>Active is the largest status, representing 61 cases (84.7%) in the selected period.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5303520"/>
            <a:ext cx="411480" cy="29260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900" b="1">
                <a:solidFill>
                  <a:srgbClr val="FFC000"/>
                </a:solidFill>
                <a:latin typeface="Aptos"/>
              </a:rPr>
              <a:t>AI-F-005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70432" y="5303520"/>
            <a:ext cx="1001268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000" b="0">
                <a:solidFill>
                  <a:srgbClr val="263238"/>
                </a:solidFill>
                <a:latin typeface="Aptos"/>
              </a:rPr>
              <a:t>4 deterministic data-quality finding(s) were detected, including 0 high-severity finding(s).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6492240"/>
            <a:ext cx="7315200" cy="2011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700" b="0">
                <a:solidFill>
                  <a:srgbClr val="6B7785"/>
                </a:solidFill>
                <a:latin typeface="Aptos"/>
              </a:rPr>
              <a:t>Not specified  •  Operations Team  •  24 August 2026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92640" y="6492240"/>
            <a:ext cx="1554480" cy="2011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700" b="0">
                <a:solidFill>
                  <a:srgbClr val="6B7785"/>
                </a:solidFill>
                <a:latin typeface="Aptos"/>
              </a:rPr>
              <a:t>Evidence-led report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0698480" cy="4114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300" b="1">
                <a:solidFill>
                  <a:srgbClr val="17324D"/>
                </a:solidFill>
                <a:latin typeface="Aptos"/>
              </a:rPr>
              <a:t>Period Performance Snapshot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60704"/>
            <a:ext cx="10744200" cy="36576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" y="1554480"/>
            <a:ext cx="3310128" cy="96012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9E2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32104" y="1682495"/>
            <a:ext cx="3035808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800" b="0">
                <a:solidFill>
                  <a:srgbClr val="687783"/>
                </a:solidFill>
                <a:latin typeface="Aptos"/>
              </a:rPr>
              <a:t>Period cases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2104" y="1920240"/>
            <a:ext cx="3035808" cy="39319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000" b="1">
                <a:solidFill>
                  <a:srgbClr val="0058A8"/>
                </a:solidFill>
                <a:latin typeface="Aptos"/>
              </a:rPr>
              <a:t>72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60520" y="1554480"/>
            <a:ext cx="3310128" cy="96012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9E2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06824" y="1682495"/>
            <a:ext cx="3035808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800" b="0">
                <a:solidFill>
                  <a:srgbClr val="687783"/>
                </a:solidFill>
                <a:latin typeface="Aptos"/>
              </a:rPr>
              <a:t>Distinct wards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06824" y="1920240"/>
            <a:ext cx="3035808" cy="39319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000" b="1">
                <a:solidFill>
                  <a:srgbClr val="17324D"/>
                </a:solidFill>
                <a:latin typeface="Aptos"/>
              </a:rPr>
              <a:t>20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35240" y="1554480"/>
            <a:ext cx="3310128" cy="96012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9E2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81544" y="1682495"/>
            <a:ext cx="3035808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800" b="0">
                <a:solidFill>
                  <a:srgbClr val="687783"/>
                </a:solidFill>
                <a:latin typeface="Aptos"/>
              </a:rPr>
              <a:t>Comparison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81544" y="1920240"/>
            <a:ext cx="3035808" cy="39319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000" b="1">
                <a:solidFill>
                  <a:srgbClr val="17324D"/>
                </a:solidFill>
                <a:latin typeface="Aptos"/>
              </a:rPr>
              <a:t>Not available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2880360"/>
            <a:ext cx="10561320" cy="2423160"/>
          </a:xfrm>
          <a:prstGeom prst="roundRect">
            <a:avLst/>
          </a:prstGeom>
          <a:solidFill>
            <a:srgbClr val="F3F6FA"/>
          </a:solidFill>
          <a:ln w="8890">
            <a:solidFill>
              <a:srgbClr val="F3F6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3182112"/>
            <a:ext cx="996696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300" b="1">
                <a:solidFill>
                  <a:srgbClr val="17324D"/>
                </a:solidFill>
                <a:latin typeface="Aptos"/>
              </a:rPr>
              <a:t>Design decision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611880"/>
            <a:ext cx="9875520" cy="11430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000" b="0">
                <a:solidFill>
                  <a:srgbClr val="263238"/>
                </a:solidFill>
                <a:latin typeface="Aptos"/>
              </a:rPr>
              <a:t>The automatic designer selected a KPI snapshot because the selected period does not contain enough daily observations for a meaningful trend chart.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892040"/>
            <a:ext cx="987552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900" b="0">
                <a:solidFill>
                  <a:srgbClr val="5C6B78"/>
                </a:solidFill>
                <a:latin typeface="Aptos"/>
              </a:rPr>
              <a:t>No trend is inferred from a single observation.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92240"/>
            <a:ext cx="7315200" cy="2011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700" b="0">
                <a:solidFill>
                  <a:srgbClr val="6B7785"/>
                </a:solidFill>
                <a:latin typeface="Aptos"/>
              </a:rPr>
              <a:t>Not specified  •  Operations Team  •  24 August 2026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92640" y="6492240"/>
            <a:ext cx="1554480" cy="2011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700" b="0">
                <a:solidFill>
                  <a:srgbClr val="6B7785"/>
                </a:solidFill>
                <a:latin typeface="Aptos"/>
              </a:rPr>
              <a:t>Evidence-led report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0698480" cy="4114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300" b="1">
                <a:solidFill>
                  <a:srgbClr val="17324D"/>
                </a:solidFill>
                <a:latin typeface="Aptos"/>
              </a:rPr>
              <a:t>Data Quality and Limitations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60704"/>
            <a:ext cx="10744200" cy="36576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" y="1417320"/>
            <a:ext cx="10744200" cy="621792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9E2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499616"/>
            <a:ext cx="91440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800" b="1">
                <a:solidFill>
                  <a:srgbClr val="FFC000"/>
                </a:solidFill>
                <a:latin typeface="Aptos"/>
              </a:rPr>
              <a:t>Medium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37360" y="1490472"/>
            <a:ext cx="9372600" cy="43891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900" b="0">
                <a:solidFill>
                  <a:srgbClr val="263238"/>
                </a:solidFill>
                <a:latin typeface="Aptos"/>
              </a:rPr>
              <a:t/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121408"/>
            <a:ext cx="10744200" cy="621792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9E2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203704"/>
            <a:ext cx="91440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800" b="1">
                <a:solidFill>
                  <a:srgbClr val="FFC000"/>
                </a:solidFill>
                <a:latin typeface="Aptos"/>
              </a:rPr>
              <a:t>Medium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37360" y="2194560"/>
            <a:ext cx="9372600" cy="43891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900" b="0">
                <a:solidFill>
                  <a:srgbClr val="263238"/>
                </a:solidFill>
                <a:latin typeface="Aptos"/>
              </a:rPr>
              <a:t/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825496"/>
            <a:ext cx="10744200" cy="621792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9E2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907792"/>
            <a:ext cx="91440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800" b="1">
                <a:solidFill>
                  <a:srgbClr val="FFC000"/>
                </a:solidFill>
                <a:latin typeface="Aptos"/>
              </a:rPr>
              <a:t>Medium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37360" y="2898648"/>
            <a:ext cx="9372600" cy="43891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900" b="0">
                <a:solidFill>
                  <a:srgbClr val="263238"/>
                </a:solidFill>
                <a:latin typeface="Aptos"/>
              </a:rPr>
              <a:t/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529584"/>
            <a:ext cx="10744200" cy="621792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9E2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611880"/>
            <a:ext cx="91440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800" b="1">
                <a:solidFill>
                  <a:srgbClr val="FFC000"/>
                </a:solidFill>
                <a:latin typeface="Aptos"/>
              </a:rPr>
              <a:t>Medium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37360" y="3602736"/>
            <a:ext cx="9372600" cy="43891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900" b="0">
                <a:solidFill>
                  <a:srgbClr val="263238"/>
                </a:solidFill>
                <a:latin typeface="Aptos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492240"/>
            <a:ext cx="7315200" cy="2011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700" b="0">
                <a:solidFill>
                  <a:srgbClr val="6B7785"/>
                </a:solidFill>
                <a:latin typeface="Aptos"/>
              </a:rPr>
              <a:t>Not specified  •  Operations Team  •  24 August 2026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92640" y="6492240"/>
            <a:ext cx="1554480" cy="2011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700" b="0">
                <a:solidFill>
                  <a:srgbClr val="6B7785"/>
                </a:solidFill>
                <a:latin typeface="Aptos"/>
              </a:rPr>
              <a:t>Evidence-led report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0698480" cy="4114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300" b="1">
                <a:solidFill>
                  <a:srgbClr val="17324D"/>
                </a:solidFill>
                <a:latin typeface="Aptos"/>
              </a:rPr>
              <a:t>Geographic / Coverage Position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60704"/>
            <a:ext cx="10744200" cy="36576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" y="1508760"/>
            <a:ext cx="2743200" cy="96012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9E2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32104" y="1636776"/>
            <a:ext cx="246888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800" b="0">
                <a:solidFill>
                  <a:srgbClr val="687783"/>
                </a:solidFill>
                <a:latin typeface="Aptos"/>
              </a:rPr>
              <a:t>Wards represented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2104" y="1874519"/>
            <a:ext cx="2468880" cy="39319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000" b="1">
                <a:solidFill>
                  <a:srgbClr val="0058A8"/>
                </a:solidFill>
                <a:latin typeface="Aptos"/>
              </a:rPr>
              <a:t>20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11880" y="1508760"/>
            <a:ext cx="2743200" cy="96012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9E2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758184" y="1636776"/>
            <a:ext cx="246888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800" b="0">
                <a:solidFill>
                  <a:srgbClr val="687783"/>
                </a:solidFill>
                <a:latin typeface="Aptos"/>
              </a:rPr>
              <a:t>Configured total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58184" y="1874519"/>
            <a:ext cx="2468880" cy="39319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000" b="1">
                <a:solidFill>
                  <a:srgbClr val="17324D"/>
                </a:solidFill>
                <a:latin typeface="Aptos"/>
              </a:rPr>
              <a:t>112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37960" y="1508760"/>
            <a:ext cx="2743200" cy="96012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9E2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84264" y="1636776"/>
            <a:ext cx="246888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800" b="0">
                <a:solidFill>
                  <a:srgbClr val="687783"/>
                </a:solidFill>
                <a:latin typeface="Aptos"/>
              </a:rPr>
              <a:t>Coverage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84264" y="1874519"/>
            <a:ext cx="2468880" cy="39319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000" b="1">
                <a:solidFill>
                  <a:srgbClr val="0058A8"/>
                </a:solidFill>
                <a:latin typeface="Aptos"/>
              </a:rPr>
              <a:t>17.9%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492240"/>
            <a:ext cx="7315200" cy="2011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700" b="0">
                <a:solidFill>
                  <a:srgbClr val="6B7785"/>
                </a:solidFill>
                <a:latin typeface="Aptos"/>
              </a:rPr>
              <a:t>Not specified  •  Operations Team  •  24 August 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92640" y="6492240"/>
            <a:ext cx="1554480" cy="2011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700" b="0">
                <a:solidFill>
                  <a:srgbClr val="6B7785"/>
                </a:solidFill>
                <a:latin typeface="Aptos"/>
              </a:rPr>
              <a:t>Evidence-led report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0698480" cy="4114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300" b="1">
                <a:solidFill>
                  <a:srgbClr val="17324D"/>
                </a:solidFill>
                <a:latin typeface="Aptos"/>
              </a:rPr>
              <a:t>Channel and Time Activity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731520"/>
            <a:ext cx="1042416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900" b="0">
                <a:solidFill>
                  <a:srgbClr val="5C6B78"/>
                </a:solidFill>
                <a:latin typeface="Aptos"/>
              </a:rPr>
              <a:t>Period intake channel mix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60704"/>
            <a:ext cx="10744200" cy="36576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731520" y="1371600"/>
          <a:ext cx="10332720" cy="4389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02920" y="6492240"/>
            <a:ext cx="7315200" cy="2011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700" b="0">
                <a:solidFill>
                  <a:srgbClr val="6B7785"/>
                </a:solidFill>
                <a:latin typeface="Aptos"/>
              </a:rPr>
              <a:t>Not specified  •  Operations Team  •  24 August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92640" y="6492240"/>
            <a:ext cx="1554480" cy="2011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700" b="0">
                <a:solidFill>
                  <a:srgbClr val="6B7785"/>
                </a:solidFill>
                <a:latin typeface="Aptos"/>
              </a:rPr>
              <a:t>Evidence-led report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0698480" cy="4114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300" b="1">
                <a:solidFill>
                  <a:srgbClr val="17324D"/>
                </a:solidFill>
                <a:latin typeface="Aptos"/>
              </a:rPr>
              <a:t>Actions and Management Decisions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60704"/>
            <a:ext cx="10744200" cy="36576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" y="1417320"/>
            <a:ext cx="10744200" cy="65836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9E2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517904"/>
            <a:ext cx="68580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800" b="1">
                <a:solidFill>
                  <a:srgbClr val="FFC000"/>
                </a:solidFill>
                <a:latin typeface="Aptos"/>
              </a:rPr>
              <a:t>High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54480" y="1490472"/>
            <a:ext cx="9098280" cy="43891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000" b="0">
                <a:solidFill>
                  <a:srgbClr val="263238"/>
                </a:solidFill>
                <a:latin typeface="Aptos"/>
              </a:rPr>
              <a:t/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167128"/>
            <a:ext cx="10744200" cy="65836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9E2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267712"/>
            <a:ext cx="68580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800" b="1">
                <a:solidFill>
                  <a:srgbClr val="FFC000"/>
                </a:solidFill>
                <a:latin typeface="Aptos"/>
              </a:rPr>
              <a:t>High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2240280"/>
            <a:ext cx="9098280" cy="43891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000" b="0">
                <a:solidFill>
                  <a:srgbClr val="263238"/>
                </a:solidFill>
                <a:latin typeface="Aptos"/>
              </a:rPr>
              <a:t/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916936"/>
            <a:ext cx="10744200" cy="65836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9E2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3017520"/>
            <a:ext cx="68580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800" b="1">
                <a:solidFill>
                  <a:srgbClr val="FFC000"/>
                </a:solidFill>
                <a:latin typeface="Aptos"/>
              </a:rPr>
              <a:t>High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2990088"/>
            <a:ext cx="9098280" cy="43891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000" b="0">
                <a:solidFill>
                  <a:srgbClr val="263238"/>
                </a:solidFill>
                <a:latin typeface="Aptos"/>
              </a:rPr>
              <a:t/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666744"/>
            <a:ext cx="10744200" cy="65836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9E2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767328"/>
            <a:ext cx="68580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800" b="1">
                <a:solidFill>
                  <a:srgbClr val="FFC000"/>
                </a:solidFill>
                <a:latin typeface="Aptos"/>
              </a:rPr>
              <a:t>High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3739896"/>
            <a:ext cx="9098280" cy="43891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000" b="0">
                <a:solidFill>
                  <a:srgbClr val="263238"/>
                </a:solidFill>
                <a:latin typeface="Aptos"/>
              </a:rPr>
              <a:t/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4416552"/>
            <a:ext cx="10744200" cy="65836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9E2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4517136"/>
            <a:ext cx="68580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800" b="1">
                <a:solidFill>
                  <a:srgbClr val="FFC000"/>
                </a:solidFill>
                <a:latin typeface="Aptos"/>
              </a:rPr>
              <a:t>Normal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54480" y="4489704"/>
            <a:ext cx="9098280" cy="43891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000" b="0">
                <a:solidFill>
                  <a:srgbClr val="263238"/>
                </a:solidFill>
                <a:latin typeface="Aptos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492240"/>
            <a:ext cx="7315200" cy="2011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700" b="0">
                <a:solidFill>
                  <a:srgbClr val="6B7785"/>
                </a:solidFill>
                <a:latin typeface="Aptos"/>
              </a:rPr>
              <a:t>Not specified  •  Operations Team  •  24 August 2026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92640" y="6492240"/>
            <a:ext cx="1554480" cy="2011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700" b="0">
                <a:solidFill>
                  <a:srgbClr val="6B7785"/>
                </a:solidFill>
                <a:latin typeface="Aptos"/>
              </a:rPr>
              <a:t>Evidence-led report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0698480" cy="4114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300" b="1">
                <a:solidFill>
                  <a:srgbClr val="17324D"/>
                </a:solidFill>
                <a:latin typeface="Aptos"/>
              </a:rPr>
              <a:t>Evidence and Method Note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60704"/>
            <a:ext cx="10744200" cy="36576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" y="1417320"/>
            <a:ext cx="10744200" cy="4389120"/>
          </a:xfrm>
          <a:prstGeom prst="roundRect">
            <a:avLst/>
          </a:prstGeom>
          <a:solidFill>
            <a:srgbClr val="F3F6FA"/>
          </a:solidFill>
          <a:ln w="8890">
            <a:solidFill>
              <a:srgbClr val="F3F6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91640"/>
            <a:ext cx="996696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300" b="1">
                <a:solidFill>
                  <a:srgbClr val="17324D"/>
                </a:solidFill>
                <a:latin typeface="Aptos"/>
              </a:rPr>
              <a:t>How to verify this report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76272"/>
            <a:ext cx="27432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000" b="1">
                <a:solidFill>
                  <a:srgbClr val="FFC000"/>
                </a:solidFill>
                <a:latin typeface="Aptos"/>
              </a:rPr>
              <a:t>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2176272"/>
            <a:ext cx="9646920" cy="43891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900" b="0">
                <a:solidFill>
                  <a:srgbClr val="263238"/>
                </a:solidFill>
                <a:latin typeface="Aptos"/>
              </a:rPr>
              <a:t>Source and file register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615184"/>
            <a:ext cx="27432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000" b="1">
                <a:solidFill>
                  <a:srgbClr val="FFC000"/>
                </a:solidFill>
                <a:latin typeface="Aptos"/>
              </a:rP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2615184"/>
            <a:ext cx="9646920" cy="43891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900" b="0">
                <a:solidFill>
                  <a:srgbClr val="263238"/>
                </a:solidFill>
                <a:latin typeface="Aptos"/>
              </a:rPr>
              <a:t>Field mapping / data dictionary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054096"/>
            <a:ext cx="27432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000" b="1">
                <a:solidFill>
                  <a:srgbClr val="FFC000"/>
                </a:solidFill>
                <a:latin typeface="Aptos"/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3054096"/>
            <a:ext cx="9646920" cy="43891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900" b="0">
                <a:solidFill>
                  <a:srgbClr val="263238"/>
                </a:solidFill>
                <a:latin typeface="Aptos"/>
              </a:rPr>
              <a:t>Period filter and denominators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493008"/>
            <a:ext cx="27432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000" b="1">
                <a:solidFill>
                  <a:srgbClr val="FFC000"/>
                </a:solidFill>
                <a:latin typeface="Aptos"/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3493008"/>
            <a:ext cx="9646920" cy="43891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900" b="0">
                <a:solidFill>
                  <a:srgbClr val="263238"/>
                </a:solidFill>
                <a:latin typeface="Aptos"/>
              </a:rPr>
              <a:t>Full distributions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931920"/>
            <a:ext cx="27432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000" b="1">
                <a:solidFill>
                  <a:srgbClr val="FFC000"/>
                </a:solidFill>
                <a:latin typeface="Aptos"/>
              </a:rPr>
              <a:t>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3931920"/>
            <a:ext cx="9646920" cy="43891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900" b="0">
                <a:solidFill>
                  <a:srgbClr val="263238"/>
                </a:solidFill>
                <a:latin typeface="Aptos"/>
              </a:rPr>
              <a:t>Record-level or pseudonymised evidence where appropriate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370831"/>
            <a:ext cx="27432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000" b="1">
                <a:solidFill>
                  <a:srgbClr val="FFC000"/>
                </a:solidFill>
                <a:latin typeface="Aptos"/>
              </a:rPr>
              <a:t>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20" y="4370831"/>
            <a:ext cx="9646920" cy="43891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900" b="0">
                <a:solidFill>
                  <a:srgbClr val="263238"/>
                </a:solidFill>
                <a:latin typeface="Aptos"/>
              </a:rPr>
              <a:t>Quality exceptions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809744"/>
            <a:ext cx="27432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000" b="1">
                <a:solidFill>
                  <a:srgbClr val="FFC000"/>
                </a:solidFill>
                <a:latin typeface="Aptos"/>
              </a:rPr>
              <a:t>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4809744"/>
            <a:ext cx="9646920" cy="43891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900" b="0">
                <a:solidFill>
                  <a:srgbClr val="263238"/>
                </a:solidFill>
                <a:latin typeface="Aptos"/>
              </a:rPr>
              <a:t>Calculation checks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5248656"/>
            <a:ext cx="27432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000" b="1">
                <a:solidFill>
                  <a:srgbClr val="FFC000"/>
                </a:solidFill>
                <a:latin typeface="Aptos"/>
              </a:rPr>
              <a:t>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88720" y="5248656"/>
            <a:ext cx="9646920" cy="43891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900" b="0">
                <a:solidFill>
                  <a:srgbClr val="263238"/>
                </a:solidFill>
                <a:latin typeface="Aptos"/>
              </a:rPr>
              <a:t>Finding-to-evidence traceability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5257800"/>
            <a:ext cx="987552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900" b="0">
                <a:solidFill>
                  <a:srgbClr val="5C6B78"/>
                </a:solidFill>
                <a:latin typeface="Aptos"/>
              </a:rPr>
              <a:t>Detailed calculations, source registers, exceptions and traceability belong in the analytical addendum.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492240"/>
            <a:ext cx="7315200" cy="2011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700" b="0">
                <a:solidFill>
                  <a:srgbClr val="6B7785"/>
                </a:solidFill>
                <a:latin typeface="Aptos"/>
              </a:rPr>
              <a:t>Not specified  •  Operations Team  •  24 August 2026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92640" y="6492240"/>
            <a:ext cx="1554480" cy="2011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700" b="0">
                <a:solidFill>
                  <a:srgbClr val="6B7785"/>
                </a:solidFill>
                <a:latin typeface="Aptos"/>
              </a:rPr>
              <a:t>Evidence-led report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