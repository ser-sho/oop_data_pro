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marker>
            <c:symbol val="diamond"/>
            <c:size val="6"/>
          </c:marker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3.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2118791784"/>
        <c:crosses val="autoZero"/>
        <c:majorUnit val="7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Covered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15.0</c:v>
                </c:pt>
                <c:pt idx="1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NORTH EAST CORRIDOR</c:v>
                </c:pt>
                <c:pt idx="1">
                  <c:v>SOUTH EAST CORRIDOR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47.0</c:v>
                </c:pt>
                <c:pt idx="1">
                  <c:v>41.0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9.44000000000001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Wards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14.0"/>
      </c:valAx>
    </c:plotArea>
    <c:legend>
      <c:legendPos val="b"/>
      <c:overlay val="1"/>
      <c:txPr>
        <a:bodyPr/>
        <a:lstStyle/>
        <a:p>
          <a:pPr>
            <a:defRPr sz="7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Outbound Call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Channel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9.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06:00</c:v>
                </c:pt>
                <c:pt idx="1">
                  <c:v>07:00</c:v>
                </c:pt>
                <c:pt idx="2">
                  <c:v>08:00</c:v>
                </c:pt>
                <c:pt idx="3">
                  <c:v>09:00</c:v>
                </c:pt>
                <c:pt idx="4">
                  <c:v>10:00</c:v>
                </c:pt>
                <c:pt idx="5">
                  <c:v>11:00</c:v>
                </c:pt>
                <c:pt idx="6">
                  <c:v>12:00</c:v>
                </c:pt>
                <c:pt idx="7">
                  <c:v>13:00</c:v>
                </c:pt>
                <c:pt idx="8">
                  <c:v>14:00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11.0</c:v>
                </c:pt>
                <c:pt idx="3">
                  <c:v>28.0</c:v>
                </c:pt>
                <c:pt idx="4">
                  <c:v>8.0</c:v>
                </c:pt>
                <c:pt idx="5">
                  <c:v>3.0</c:v>
                </c:pt>
                <c:pt idx="6">
                  <c:v>2.0</c:v>
                </c:pt>
                <c:pt idx="7">
                  <c:v>12.0</c:v>
                </c:pt>
                <c:pt idx="8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/>
        <c:delete val="0"/>
        <c:axPos val="b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Hour of day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199999999999996"/>
          <c:min val="0.0"/>
        </c:scaling>
        <c:delete val="0"/>
        <c:axPos val="l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Electricity Services</c:v>
                </c:pt>
                <c:pt idx="1">
                  <c:v>Roads Services</c:v>
                </c:pt>
                <c:pt idx="2">
                  <c:v>Environment Services</c:v>
                </c:pt>
                <c:pt idx="3">
                  <c:v>Water Services</c:v>
                </c:pt>
                <c:pt idx="4">
                  <c:v>Sanitation Services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26.0</c:v>
                </c:pt>
                <c:pt idx="1">
                  <c:v>24.0</c:v>
                </c:pt>
                <c:pt idx="2">
                  <c:v>22.0</c:v>
                </c:pt>
                <c:pt idx="3">
                  <c:v>17.0</c:v>
                </c:pt>
                <c:pt idx="4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Service 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9.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Cases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58A8"/>
            </a:solidFill>
            <a:ln>
              <a:solidFill>
                <a:srgbClr val="0058A8"/>
              </a:solidFill>
            </a:ln>
          </c:spPr>
          <c:dLbls>
            <c:txPr>
              <a:bodyPr/>
              <a:lstStyle/>
              <a:p>
                <a:pPr>
                  <a:defRPr sz="700">
                    <a:solidFill>
                      <a:srgbClr val="40404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Missing wards</c:v>
                </c:pt>
                <c:pt idx="1">
                  <c:v>Channel/time</c:v>
                </c:pt>
                <c:pt idx="2">
                  <c:v>VOC queue</c:v>
                </c:pt>
                <c:pt idx="3">
                  <c:v>Data 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</c:v>
                </c:pt>
                <c:pt idx="1">
                  <c:v>1.0</c:v>
                </c:pt>
                <c:pt idx="2">
                  <c:v>18.0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Control area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19999999999999"/>
          <c:min val="0.0"/>
        </c:scaling>
        <c:delete val="0"/>
        <c:axPos val="b"/>
        <c:majorGridlines>
          <c:spPr>
            <a:ln>
              <a:solidFill>
                <a:srgbClr val="D9E2F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700">
                    <a:latin typeface="Arial"/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04040"/>
                </a:solidFill>
                <a:latin typeface="Arial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02 September 2026 | Wednesday 2 September | 15:00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24/112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 valid cases on 02 September 2026; 24 new wards today; 24 wards reached cumulatively (21.4% of 112).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104 cases and 24 new wards. New wards are unique to the selected reporting date after checking all prior valid dates; running wards are cumulative unique wards.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ward allocations remain. To reach the 112-ward weekly target by Friday, aim for 44 new wards per remaining working day (2 days).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logged per hour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2026-09-02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24/112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ward representation (88 missing).
Protect observed peak intake periods.
Use the addendum for detailed evidence.</a:t>
            </a:r>
            <a:endParaRPr lang="en-US" sz="940" dirty="0"/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685800" y="3547872"/>
          <a:ext cx="3429000" cy="14173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EAST CORRIDOR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EAST CORRIDOR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unique / 112 listed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Selected-day coverage: 24 of 112 listed ward allocations were covered across North East and South East. Cumulative progress remains 24/112; master validation: 111 unique ward numbers and 0 observed ward numbers outside the master.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contains the ward evidence and validation trail.</a:t>
            </a:r>
            <a:endParaRPr lang="en-US" sz="960" dirty="0"/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6144768" y="2240280"/>
          <a:ext cx="51663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concentration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window: 06:26–14:29. Peak: 09:00 (28 cases).</a:t>
            </a:r>
            <a:endParaRPr lang="en-US" sz="960" dirty="0"/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6446520" y="2194560"/>
          <a:ext cx="4983480" cy="1234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640080" y="4224528"/>
          <a:ext cx="5257800" cy="107899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Services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demand category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Services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Services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30.8%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categories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demand concentration to target follow-up; do not interpret case volume as departmental performance.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addendum for low-volume services and ward-level detail.</a:t>
            </a:r>
            <a:endParaRPr lang="en-US" sz="960" dirty="0"/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640080" y="2267712"/>
          <a:ext cx="4572000" cy="15544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68.8%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16/18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verify / close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source supplied. Metrics are calculated only from supported response fields; detailed responses remain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02 September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wards validated/assigned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operating window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protected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lead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period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VOC responses reviewed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circulation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quality findings reviewed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assign the 88 unrepresented wards before the next operational close.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Area-level municipality breakdown requires a validated ward/master reference mapping.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accounted wards, missing wards, time logs and correction registers are attached separately.</a:t>
            </a:r>
            <a:endParaRPr lang="en-US" sz="960" dirty="0"/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6629400" y="2240280"/>
          <a:ext cx="4617720" cy="19659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