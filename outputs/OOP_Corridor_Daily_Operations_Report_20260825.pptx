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F2EC4-C076-4A07-B438-C52ED8362070}" type="datetimeFigureOut"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77E846-7598-4070-9CDC-FD9526AE9B2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689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75488" y="1353312"/>
            <a:ext cx="11247120" cy="2212848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731520" y="1755648"/>
            <a:ext cx="107350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
OPERATIONS REPORT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822960" y="2679192"/>
            <a:ext cx="105613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
25 August 2026 | Tuesday 25 august | 15:00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58521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64008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7,738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4008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cases</a:t>
            </a:r>
            <a:endParaRPr lang="en-US" sz="770" dirty="0"/>
          </a:p>
        </p:txBody>
      </p:sp>
      <p:sp>
        <p:nvSpPr>
          <p:cNvPr id="10" name="Shape 6"/>
          <p:cNvSpPr/>
          <p:nvPr/>
        </p:nvSpPr>
        <p:spPr>
          <a:xfrm>
            <a:off x="255117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260604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112/112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60604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Wards covered</a:t>
            </a:r>
            <a:endParaRPr lang="en-US" sz="770" dirty="0"/>
          </a:p>
        </p:txBody>
      </p:sp>
      <p:sp>
        <p:nvSpPr>
          <p:cNvPr id="13" name="Shape 9"/>
          <p:cNvSpPr/>
          <p:nvPr/>
        </p:nvSpPr>
        <p:spPr>
          <a:xfrm>
            <a:off x="451713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457200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770" dirty="0"/>
          </a:p>
        </p:txBody>
      </p:sp>
      <p:sp>
        <p:nvSpPr>
          <p:cNvPr id="16" name="Shape 12"/>
          <p:cNvSpPr/>
          <p:nvPr/>
        </p:nvSpPr>
        <p:spPr>
          <a:xfrm>
            <a:off x="648309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653796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53796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Wards missing</a:t>
            </a:r>
            <a:endParaRPr lang="en-US" sz="770" dirty="0"/>
          </a:p>
        </p:txBody>
      </p:sp>
      <p:sp>
        <p:nvSpPr>
          <p:cNvPr id="19" name="Shape 15"/>
          <p:cNvSpPr/>
          <p:nvPr/>
        </p:nvSpPr>
        <p:spPr>
          <a:xfrm>
            <a:off x="844905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2B200"/>
          </a:solidFill>
          <a:ln w="12700">
            <a:solidFill>
              <a:srgbClr val="F2B2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850392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850392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ready / done</a:t>
            </a:r>
            <a:endParaRPr lang="en-US" sz="770" dirty="0"/>
          </a:p>
        </p:txBody>
      </p:sp>
      <p:sp>
        <p:nvSpPr>
          <p:cNvPr id="22" name="Shape 18"/>
          <p:cNvSpPr/>
          <p:nvPr/>
        </p:nvSpPr>
        <p:spPr>
          <a:xfrm>
            <a:off x="1041501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10469880" y="4206240"/>
            <a:ext cx="1609344" cy="219456"/>
          </a:xfrm>
          <a:prstGeom prst="rect">
            <a:avLst/>
          </a:prstGeom>
          <a:solidFill>
            <a:srgbClr val="00A65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1046988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status</a:t>
            </a:r>
            <a:endParaRPr lang="en-US" sz="770" dirty="0"/>
          </a:p>
        </p:txBody>
      </p:sp>
      <p:sp>
        <p:nvSpPr>
          <p:cNvPr id="25" name="Text 21"/>
          <p:cNvSpPr/>
          <p:nvPr/>
        </p:nvSpPr>
        <p:spPr>
          <a:xfrm>
            <a:off x="594360" y="516636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as the single front page for all corridors. Keep only the six headline measures relevant to management.</a:t>
            </a:r>
            <a:endParaRPr lang="en-US" sz="820" dirty="0"/>
          </a:p>
        </p:txBody>
      </p:sp>
      <p:sp>
        <p:nvSpPr>
          <p:cNvPr id="26" name="Shape 22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25 August 2026 | 15:00</a:t>
            </a:r>
            <a:endParaRPr lang="en-US" sz="570" dirty="0"/>
          </a:p>
        </p:txBody>
      </p:sp>
      <p:sp>
        <p:nvSpPr>
          <p:cNvPr id="28" name="Text 24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from approved corridor template</a:t>
            </a:r>
            <a:endParaRPr lang="en-US" sz="5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EXECUTIVE COVERAGE SNAPSHOT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00A65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25 August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from approved corridor template</a:t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411480" y="1554480"/>
            <a:ext cx="3703320" cy="13258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539496" y="164592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now</a:t>
            </a:r>
            <a:endParaRPr lang="en-US" sz="1140" dirty="0"/>
          </a:p>
        </p:txBody>
      </p:sp>
      <p:sp>
        <p:nvSpPr>
          <p:cNvPr id="13" name="Text 9"/>
          <p:cNvSpPr/>
          <p:nvPr/>
        </p:nvSpPr>
        <p:spPr>
          <a:xfrm>
            <a:off x="539496" y="1938528"/>
            <a:ext cx="344728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7,738 valid cases across 112 of 112 configured wards (100.0%).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4251960" y="1554480"/>
            <a:ext cx="3703320" cy="13258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4379976" y="164592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1140" dirty="0"/>
          </a:p>
        </p:txBody>
      </p:sp>
      <p:sp>
        <p:nvSpPr>
          <p:cNvPr id="16" name="Text 12"/>
          <p:cNvSpPr/>
          <p:nvPr/>
        </p:nvSpPr>
        <p:spPr>
          <a:xfrm>
            <a:off x="4379976" y="1938528"/>
            <a:ext cx="344728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extract: 7,738 records. Prior-close comparison is not supplied.</a:t>
            </a:r>
            <a:endParaRPr lang="en-US" sz="960" dirty="0"/>
          </a:p>
        </p:txBody>
      </p:sp>
      <p:sp>
        <p:nvSpPr>
          <p:cNvPr id="17" name="Shape 13"/>
          <p:cNvSpPr/>
          <p:nvPr/>
        </p:nvSpPr>
        <p:spPr>
          <a:xfrm>
            <a:off x="8092440" y="1554480"/>
            <a:ext cx="3703320" cy="13258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8220456" y="164592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needs attention</a:t>
            </a:r>
            <a:endParaRPr lang="en-US" sz="1140" dirty="0"/>
          </a:p>
        </p:txBody>
      </p:sp>
      <p:sp>
        <p:nvSpPr>
          <p:cNvPr id="19" name="Text 15"/>
          <p:cNvSpPr/>
          <p:nvPr/>
        </p:nvSpPr>
        <p:spPr>
          <a:xfrm>
            <a:off x="8220456" y="1938528"/>
            <a:ext cx="344728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wards are not represented in the supplied extract. Validate the missing-ward list before circulation.</a:t>
            </a:r>
            <a:endParaRPr lang="en-US" sz="960" dirty="0"/>
          </a:p>
        </p:txBody>
      </p:sp>
      <p:sp>
        <p:nvSpPr>
          <p:cNvPr id="20" name="Shape 16"/>
          <p:cNvSpPr/>
          <p:nvPr/>
        </p:nvSpPr>
        <p:spPr>
          <a:xfrm>
            <a:off x="502920" y="3154680"/>
            <a:ext cx="3657600" cy="214884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667512" y="3264408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movement</a:t>
            </a:r>
            <a:endParaRPr lang="en-US" sz="1080" dirty="0"/>
          </a:p>
        </p:txBody>
      </p:sp>
      <p:sp>
        <p:nvSpPr>
          <p:cNvPr id="22" name="Shape 18"/>
          <p:cNvSpPr/>
          <p:nvPr/>
        </p:nvSpPr>
        <p:spPr>
          <a:xfrm>
            <a:off x="822960" y="4206240"/>
            <a:ext cx="326898" cy="594360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1417320" y="4389120"/>
            <a:ext cx="326898" cy="411480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2011680" y="4023360"/>
            <a:ext cx="326898" cy="777240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2606040" y="4507992"/>
            <a:ext cx="326898" cy="292608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2"/>
          <p:cNvSpPr/>
          <p:nvPr/>
        </p:nvSpPr>
        <p:spPr>
          <a:xfrm>
            <a:off x="3200400" y="4297680"/>
            <a:ext cx="326898" cy="502920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731520" y="4800600"/>
            <a:ext cx="324612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667512" y="5029200"/>
            <a:ext cx="3328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by reporting date</a:t>
            </a:r>
            <a:endParaRPr lang="en-US" sz="660" dirty="0"/>
          </a:p>
        </p:txBody>
      </p:sp>
      <p:sp>
        <p:nvSpPr>
          <p:cNvPr id="29" name="Shape 25"/>
          <p:cNvSpPr/>
          <p:nvPr/>
        </p:nvSpPr>
        <p:spPr>
          <a:xfrm>
            <a:off x="4480560" y="3154680"/>
            <a:ext cx="43434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4480560" y="3154680"/>
            <a:ext cx="4343400" cy="429768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4480560" y="3584448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2" name="Shape 28"/>
          <p:cNvSpPr/>
          <p:nvPr/>
        </p:nvSpPr>
        <p:spPr>
          <a:xfrm>
            <a:off x="4480560" y="4014216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3" name="Shape 29"/>
          <p:cNvSpPr/>
          <p:nvPr/>
        </p:nvSpPr>
        <p:spPr>
          <a:xfrm>
            <a:off x="4480560" y="4443984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4" name="Shape 30"/>
          <p:cNvSpPr/>
          <p:nvPr/>
        </p:nvSpPr>
        <p:spPr>
          <a:xfrm>
            <a:off x="4480560" y="4873752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5" name="Shape 31"/>
          <p:cNvSpPr/>
          <p:nvPr/>
        </p:nvSpPr>
        <p:spPr>
          <a:xfrm>
            <a:off x="534924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6" name="Shape 32"/>
          <p:cNvSpPr/>
          <p:nvPr/>
        </p:nvSpPr>
        <p:spPr>
          <a:xfrm>
            <a:off x="612648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7" name="Shape 33"/>
          <p:cNvSpPr/>
          <p:nvPr/>
        </p:nvSpPr>
        <p:spPr>
          <a:xfrm>
            <a:off x="708660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8" name="Shape 34"/>
          <p:cNvSpPr/>
          <p:nvPr/>
        </p:nvSpPr>
        <p:spPr>
          <a:xfrm>
            <a:off x="813816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9" name="Text 35"/>
          <p:cNvSpPr/>
          <p:nvPr/>
        </p:nvSpPr>
        <p:spPr>
          <a:xfrm>
            <a:off x="4517136" y="3195828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</a:t>
            </a:r>
            <a:endParaRPr lang="en-US" sz="770" dirty="0"/>
          </a:p>
        </p:txBody>
      </p:sp>
      <p:sp>
        <p:nvSpPr>
          <p:cNvPr id="40" name="Text 36"/>
          <p:cNvSpPr/>
          <p:nvPr/>
        </p:nvSpPr>
        <p:spPr>
          <a:xfrm>
            <a:off x="5385816" y="3195828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770" dirty="0"/>
          </a:p>
        </p:txBody>
      </p:sp>
      <p:sp>
        <p:nvSpPr>
          <p:cNvPr id="41" name="Text 37"/>
          <p:cNvSpPr/>
          <p:nvPr/>
        </p:nvSpPr>
        <p:spPr>
          <a:xfrm>
            <a:off x="6163056" y="3195828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wards</a:t>
            </a:r>
            <a:endParaRPr lang="en-US" sz="770" dirty="0"/>
          </a:p>
        </p:txBody>
      </p:sp>
      <p:sp>
        <p:nvSpPr>
          <p:cNvPr id="42" name="Text 38"/>
          <p:cNvSpPr/>
          <p:nvPr/>
        </p:nvSpPr>
        <p:spPr>
          <a:xfrm>
            <a:off x="7123176" y="3195828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total</a:t>
            </a:r>
            <a:endParaRPr lang="en-US" sz="770" dirty="0"/>
          </a:p>
        </p:txBody>
      </p:sp>
      <p:sp>
        <p:nvSpPr>
          <p:cNvPr id="43" name="Text 39"/>
          <p:cNvSpPr/>
          <p:nvPr/>
        </p:nvSpPr>
        <p:spPr>
          <a:xfrm>
            <a:off x="8174736" y="3195828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needed</a:t>
            </a:r>
            <a:endParaRPr lang="en-US" sz="770" dirty="0"/>
          </a:p>
        </p:txBody>
      </p:sp>
      <p:sp>
        <p:nvSpPr>
          <p:cNvPr id="44" name="Text 40"/>
          <p:cNvSpPr/>
          <p:nvPr/>
        </p:nvSpPr>
        <p:spPr>
          <a:xfrm>
            <a:off x="4517136" y="3625596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2026-08-25</a:t>
            </a:r>
            <a:endParaRPr lang="en-US" sz="770" dirty="0"/>
          </a:p>
        </p:txBody>
      </p:sp>
      <p:sp>
        <p:nvSpPr>
          <p:cNvPr id="45" name="Text 41"/>
          <p:cNvSpPr/>
          <p:nvPr/>
        </p:nvSpPr>
        <p:spPr>
          <a:xfrm>
            <a:off x="5385816" y="3625596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770" dirty="0"/>
          </a:p>
        </p:txBody>
      </p:sp>
      <p:sp>
        <p:nvSpPr>
          <p:cNvPr id="46" name="Text 42"/>
          <p:cNvSpPr/>
          <p:nvPr/>
        </p:nvSpPr>
        <p:spPr>
          <a:xfrm>
            <a:off x="6163056" y="3625596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70" dirty="0"/>
          </a:p>
        </p:txBody>
      </p:sp>
      <p:sp>
        <p:nvSpPr>
          <p:cNvPr id="47" name="Text 43"/>
          <p:cNvSpPr/>
          <p:nvPr/>
        </p:nvSpPr>
        <p:spPr>
          <a:xfrm>
            <a:off x="7123176" y="3625596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[##/target]</a:t>
            </a:r>
            <a:endParaRPr lang="en-US" sz="770" dirty="0"/>
          </a:p>
        </p:txBody>
      </p:sp>
      <p:sp>
        <p:nvSpPr>
          <p:cNvPr id="48" name="Text 44"/>
          <p:cNvSpPr/>
          <p:nvPr/>
        </p:nvSpPr>
        <p:spPr>
          <a:xfrm>
            <a:off x="8174736" y="3625596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70" dirty="0"/>
          </a:p>
        </p:txBody>
      </p:sp>
      <p:sp>
        <p:nvSpPr>
          <p:cNvPr id="49" name="Text 45"/>
          <p:cNvSpPr/>
          <p:nvPr/>
        </p:nvSpPr>
        <p:spPr>
          <a:xfrm>
            <a:off x="4517136" y="4055364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0" name="Text 46"/>
          <p:cNvSpPr/>
          <p:nvPr/>
        </p:nvSpPr>
        <p:spPr>
          <a:xfrm>
            <a:off x="5385816" y="4055364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1" name="Text 47"/>
          <p:cNvSpPr/>
          <p:nvPr/>
        </p:nvSpPr>
        <p:spPr>
          <a:xfrm>
            <a:off x="6163056" y="4055364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70" dirty="0"/>
          </a:p>
        </p:txBody>
      </p:sp>
      <p:sp>
        <p:nvSpPr>
          <p:cNvPr id="52" name="Text 48"/>
          <p:cNvSpPr/>
          <p:nvPr/>
        </p:nvSpPr>
        <p:spPr>
          <a:xfrm>
            <a:off x="7123176" y="4055364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[##/target]</a:t>
            </a:r>
            <a:endParaRPr lang="en-US" sz="770" dirty="0"/>
          </a:p>
        </p:txBody>
      </p:sp>
      <p:sp>
        <p:nvSpPr>
          <p:cNvPr id="53" name="Text 49"/>
          <p:cNvSpPr/>
          <p:nvPr/>
        </p:nvSpPr>
        <p:spPr>
          <a:xfrm>
            <a:off x="8174736" y="4055364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70" dirty="0"/>
          </a:p>
        </p:txBody>
      </p:sp>
      <p:sp>
        <p:nvSpPr>
          <p:cNvPr id="54" name="Text 50"/>
          <p:cNvSpPr/>
          <p:nvPr/>
        </p:nvSpPr>
        <p:spPr>
          <a:xfrm>
            <a:off x="4517136" y="4485132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5" name="Text 51"/>
          <p:cNvSpPr/>
          <p:nvPr/>
        </p:nvSpPr>
        <p:spPr>
          <a:xfrm>
            <a:off x="5385816" y="4485132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56" name="Text 52"/>
          <p:cNvSpPr/>
          <p:nvPr/>
        </p:nvSpPr>
        <p:spPr>
          <a:xfrm>
            <a:off x="6163056" y="4485132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70" dirty="0"/>
          </a:p>
        </p:txBody>
      </p:sp>
      <p:sp>
        <p:nvSpPr>
          <p:cNvPr id="57" name="Text 53"/>
          <p:cNvSpPr/>
          <p:nvPr/>
        </p:nvSpPr>
        <p:spPr>
          <a:xfrm>
            <a:off x="7123176" y="4485132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[##/target]</a:t>
            </a:r>
            <a:endParaRPr lang="en-US" sz="770" dirty="0"/>
          </a:p>
        </p:txBody>
      </p:sp>
      <p:sp>
        <p:nvSpPr>
          <p:cNvPr id="58" name="Text 54"/>
          <p:cNvSpPr/>
          <p:nvPr/>
        </p:nvSpPr>
        <p:spPr>
          <a:xfrm>
            <a:off x="8174736" y="4485132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70" dirty="0"/>
          </a:p>
        </p:txBody>
      </p:sp>
      <p:sp>
        <p:nvSpPr>
          <p:cNvPr id="59" name="Text 55"/>
          <p:cNvSpPr/>
          <p:nvPr/>
        </p:nvSpPr>
        <p:spPr>
          <a:xfrm>
            <a:off x="4517136" y="4914900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60" name="Text 56"/>
          <p:cNvSpPr/>
          <p:nvPr/>
        </p:nvSpPr>
        <p:spPr>
          <a:xfrm>
            <a:off x="5385816" y="4914900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70" dirty="0"/>
          </a:p>
        </p:txBody>
      </p:sp>
      <p:sp>
        <p:nvSpPr>
          <p:cNvPr id="61" name="Text 57"/>
          <p:cNvSpPr/>
          <p:nvPr/>
        </p:nvSpPr>
        <p:spPr>
          <a:xfrm>
            <a:off x="6163056" y="4914900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70" dirty="0"/>
          </a:p>
        </p:txBody>
      </p:sp>
      <p:sp>
        <p:nvSpPr>
          <p:cNvPr id="62" name="Text 58"/>
          <p:cNvSpPr/>
          <p:nvPr/>
        </p:nvSpPr>
        <p:spPr>
          <a:xfrm>
            <a:off x="7123176" y="4914900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[target]</a:t>
            </a:r>
            <a:endParaRPr lang="en-US" sz="770" dirty="0"/>
          </a:p>
        </p:txBody>
      </p:sp>
      <p:sp>
        <p:nvSpPr>
          <p:cNvPr id="63" name="Text 59"/>
          <p:cNvSpPr/>
          <p:nvPr/>
        </p:nvSpPr>
        <p:spPr>
          <a:xfrm>
            <a:off x="8174736" y="4914900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70" dirty="0"/>
          </a:p>
        </p:txBody>
      </p:sp>
      <p:sp>
        <p:nvSpPr>
          <p:cNvPr id="64" name="Text 60"/>
          <p:cNvSpPr/>
          <p:nvPr/>
        </p:nvSpPr>
        <p:spPr>
          <a:xfrm>
            <a:off x="9144000" y="316382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focus</a:t>
            </a:r>
            <a:endParaRPr lang="en-US" sz="1140" dirty="0"/>
          </a:p>
        </p:txBody>
      </p:sp>
      <p:sp>
        <p:nvSpPr>
          <p:cNvPr id="65" name="Text 61"/>
          <p:cNvSpPr/>
          <p:nvPr/>
        </p:nvSpPr>
        <p:spPr>
          <a:xfrm>
            <a:off x="9144000" y="3474720"/>
            <a:ext cx="2606040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9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missing wards against the official register.
Protect observed peak intake periods.
Keep detailed exceptions in the addendum.</a:t>
            </a:r>
            <a:endParaRPr lang="en-US" sz="9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WARD COVERAGE BY MUNICIPALITY / REGION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00A65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25 August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from approved corridor template</a:t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45920"/>
            <a:ext cx="51206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02920" y="1645920"/>
            <a:ext cx="5120640" cy="393192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02920" y="2039112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02920" y="2432304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02920" y="2825496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02920" y="3218688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246888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3218688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4005072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4791456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539496" y="1687068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2505456" y="1687068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255264" y="1687068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041648" y="1687068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4828032" y="1687068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539496" y="2080260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2505456" y="2080260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3255264" y="2080260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041648" y="2080260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828032" y="2080260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39496" y="2473452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2505456" y="2473452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3255264" y="2473452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4041648" y="2473452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4828032" y="2473452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539496" y="2866644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2505456" y="2866644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3255264" y="2866644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4041648" y="2866644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4828032" y="2866644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539496" y="3259836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2505456" y="3259836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3255264" y="3259836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4041648" y="3259836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4828032" y="3259836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100.0%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989320" y="1645920"/>
            <a:ext cx="5440680" cy="196596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47" name="Text 43"/>
          <p:cNvSpPr/>
          <p:nvPr/>
        </p:nvSpPr>
        <p:spPr>
          <a:xfrm>
            <a:off x="6153912" y="1755648"/>
            <a:ext cx="5111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 vs missing wards by area</a:t>
            </a:r>
            <a:endParaRPr lang="en-US" sz="1080" dirty="0"/>
          </a:p>
        </p:txBody>
      </p:sp>
      <p:sp>
        <p:nvSpPr>
          <p:cNvPr id="48" name="Shape 44"/>
          <p:cNvSpPr/>
          <p:nvPr/>
        </p:nvSpPr>
        <p:spPr>
          <a:xfrm>
            <a:off x="6309360" y="2633472"/>
            <a:ext cx="523037" cy="475488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Shape 45"/>
          <p:cNvSpPr/>
          <p:nvPr/>
        </p:nvSpPr>
        <p:spPr>
          <a:xfrm>
            <a:off x="7260336" y="3108960"/>
            <a:ext cx="523037" cy="1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Shape 46"/>
          <p:cNvSpPr/>
          <p:nvPr/>
        </p:nvSpPr>
        <p:spPr>
          <a:xfrm>
            <a:off x="8211312" y="3108960"/>
            <a:ext cx="523037" cy="1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Shape 47"/>
          <p:cNvSpPr/>
          <p:nvPr/>
        </p:nvSpPr>
        <p:spPr>
          <a:xfrm>
            <a:off x="9162288" y="3108960"/>
            <a:ext cx="523037" cy="1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Shape 48"/>
          <p:cNvSpPr/>
          <p:nvPr/>
        </p:nvSpPr>
        <p:spPr>
          <a:xfrm>
            <a:off x="10113264" y="2706624"/>
            <a:ext cx="523037" cy="402336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Shape 49"/>
          <p:cNvSpPr/>
          <p:nvPr/>
        </p:nvSpPr>
        <p:spPr>
          <a:xfrm>
            <a:off x="6217920" y="3108960"/>
            <a:ext cx="502920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54" name="Text 50"/>
          <p:cNvSpPr/>
          <p:nvPr/>
        </p:nvSpPr>
        <p:spPr>
          <a:xfrm>
            <a:off x="6153912" y="3337560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 vs missing wards</a:t>
            </a:r>
            <a:endParaRPr lang="en-US" sz="660" dirty="0"/>
          </a:p>
        </p:txBody>
      </p:sp>
      <p:sp>
        <p:nvSpPr>
          <p:cNvPr id="55" name="Shape 51"/>
          <p:cNvSpPr/>
          <p:nvPr/>
        </p:nvSpPr>
        <p:spPr>
          <a:xfrm>
            <a:off x="502920" y="3886200"/>
            <a:ext cx="5120640" cy="16002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6" name="Text 52"/>
          <p:cNvSpPr/>
          <p:nvPr/>
        </p:nvSpPr>
        <p:spPr>
          <a:xfrm>
            <a:off x="630936" y="3977640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140" dirty="0"/>
          </a:p>
        </p:txBody>
      </p:sp>
      <p:sp>
        <p:nvSpPr>
          <p:cNvPr id="57" name="Text 53"/>
          <p:cNvSpPr/>
          <p:nvPr/>
        </p:nvSpPr>
        <p:spPr>
          <a:xfrm>
            <a:off x="630936" y="4270248"/>
            <a:ext cx="4864608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count wards after numeric Ward ID certification. Do not treat zero-case wards as zero demand; they become the calling queue.</a:t>
            </a:r>
            <a:endParaRPr lang="en-US" sz="960" dirty="0"/>
          </a:p>
        </p:txBody>
      </p:sp>
      <p:sp>
        <p:nvSpPr>
          <p:cNvPr id="58" name="Shape 54"/>
          <p:cNvSpPr/>
          <p:nvPr/>
        </p:nvSpPr>
        <p:spPr>
          <a:xfrm>
            <a:off x="5989320" y="3886200"/>
            <a:ext cx="5440680" cy="16002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9" name="Text 55"/>
          <p:cNvSpPr/>
          <p:nvPr/>
        </p:nvSpPr>
        <p:spPr>
          <a:xfrm>
            <a:off x="6117336" y="3977640"/>
            <a:ext cx="5184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Call-list link</a:t>
            </a:r>
            <a:endParaRPr lang="en-US" sz="1140" dirty="0"/>
          </a:p>
        </p:txBody>
      </p:sp>
      <p:sp>
        <p:nvSpPr>
          <p:cNvPr id="60" name="Text 56"/>
          <p:cNvSpPr/>
          <p:nvPr/>
        </p:nvSpPr>
        <p:spPr>
          <a:xfrm>
            <a:off x="6117336" y="4270248"/>
            <a:ext cx="5184648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addendum carries the represented-ward evidence. Missing-ward names require an approved ward master/reference list.</a:t>
            </a:r>
            <a:endParaRPr lang="en-US" sz="9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CHANNEL AND TIME COVERAGE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00A65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25 August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from approved corridor template</a:t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45920"/>
            <a:ext cx="55321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02920" y="1645920"/>
            <a:ext cx="5532120" cy="393192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02920" y="2039112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02920" y="2432304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02920" y="2825496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02920" y="3218688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164592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237744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297180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379476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539496" y="1687068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1682496" y="1687068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2414016" y="1687068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3008376" y="1687068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wards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3831336" y="1687068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note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539496" y="2080260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Call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1682496" y="2080260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7,288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2414016" y="2080260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94.2%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3008376" y="2080260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3831336" y="2080260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timing/coverage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539496" y="2473452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Call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1682496" y="2473452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2414016" y="2473452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3008376" y="2473452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3831336" y="2473452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timing/coverage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539496" y="2866644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1682496" y="2866644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2414016" y="2866644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3008376" y="2866644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3831336" y="2866644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timing/coverage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539496" y="3259836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Walk-In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1682496" y="3259836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2414016" y="3259836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3008376" y="3259836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750" dirty="0"/>
          </a:p>
        </p:txBody>
      </p:sp>
      <p:sp>
        <p:nvSpPr>
          <p:cNvPr id="45" name="Text 41"/>
          <p:cNvSpPr/>
          <p:nvPr/>
        </p:nvSpPr>
        <p:spPr>
          <a:xfrm>
            <a:off x="3831336" y="3259836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timing/coverage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6355080" y="1645920"/>
            <a:ext cx="5074920" cy="196596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47" name="Text 43"/>
          <p:cNvSpPr/>
          <p:nvPr/>
        </p:nvSpPr>
        <p:spPr>
          <a:xfrm>
            <a:off x="6519672" y="1755648"/>
            <a:ext cx="4745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mix</a:t>
            </a:r>
            <a:endParaRPr lang="en-US" sz="1080" dirty="0"/>
          </a:p>
        </p:txBody>
      </p:sp>
      <p:sp>
        <p:nvSpPr>
          <p:cNvPr id="48" name="Shape 44"/>
          <p:cNvSpPr/>
          <p:nvPr/>
        </p:nvSpPr>
        <p:spPr>
          <a:xfrm>
            <a:off x="6675120" y="2633472"/>
            <a:ext cx="482803" cy="475488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Shape 45"/>
          <p:cNvSpPr/>
          <p:nvPr/>
        </p:nvSpPr>
        <p:spPr>
          <a:xfrm>
            <a:off x="7552944" y="3103360"/>
            <a:ext cx="482803" cy="5600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Shape 46"/>
          <p:cNvSpPr/>
          <p:nvPr/>
        </p:nvSpPr>
        <p:spPr>
          <a:xfrm>
            <a:off x="8430768" y="3100685"/>
            <a:ext cx="482803" cy="8275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Shape 47"/>
          <p:cNvSpPr/>
          <p:nvPr/>
        </p:nvSpPr>
        <p:spPr>
          <a:xfrm>
            <a:off x="9308592" y="3105941"/>
            <a:ext cx="482803" cy="3019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Shape 48"/>
          <p:cNvSpPr/>
          <p:nvPr/>
        </p:nvSpPr>
        <p:spPr>
          <a:xfrm>
            <a:off x="10186416" y="3106476"/>
            <a:ext cx="482803" cy="2484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Shape 49"/>
          <p:cNvSpPr/>
          <p:nvPr/>
        </p:nvSpPr>
        <p:spPr>
          <a:xfrm>
            <a:off x="6583680" y="3108960"/>
            <a:ext cx="466344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54" name="Text 50"/>
          <p:cNvSpPr/>
          <p:nvPr/>
        </p:nvSpPr>
        <p:spPr>
          <a:xfrm>
            <a:off x="6519672" y="3337560"/>
            <a:ext cx="4745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mix</a:t>
            </a:r>
            <a:endParaRPr lang="en-US" sz="660" dirty="0"/>
          </a:p>
        </p:txBody>
      </p:sp>
      <p:sp>
        <p:nvSpPr>
          <p:cNvPr id="55" name="Shape 51"/>
          <p:cNvSpPr/>
          <p:nvPr/>
        </p:nvSpPr>
        <p:spPr>
          <a:xfrm>
            <a:off x="502920" y="3886200"/>
            <a:ext cx="5440680" cy="1627632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6" name="Text 52"/>
          <p:cNvSpPr/>
          <p:nvPr/>
        </p:nvSpPr>
        <p:spPr>
          <a:xfrm>
            <a:off x="667512" y="3995928"/>
            <a:ext cx="5111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coverage / hourly activity</a:t>
            </a:r>
            <a:endParaRPr lang="en-US" sz="1080" dirty="0"/>
          </a:p>
        </p:txBody>
      </p:sp>
      <p:sp>
        <p:nvSpPr>
          <p:cNvPr id="57" name="Shape 53"/>
          <p:cNvSpPr/>
          <p:nvPr/>
        </p:nvSpPr>
        <p:spPr>
          <a:xfrm>
            <a:off x="822960" y="4874606"/>
            <a:ext cx="523037" cy="136306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8" name="Shape 54"/>
          <p:cNvSpPr/>
          <p:nvPr/>
        </p:nvSpPr>
        <p:spPr>
          <a:xfrm>
            <a:off x="1773936" y="4940138"/>
            <a:ext cx="523037" cy="70774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" name="Shape 55"/>
          <p:cNvSpPr/>
          <p:nvPr/>
        </p:nvSpPr>
        <p:spPr>
          <a:xfrm>
            <a:off x="2724912" y="4676699"/>
            <a:ext cx="523037" cy="334213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Shape 56"/>
          <p:cNvSpPr/>
          <p:nvPr/>
        </p:nvSpPr>
        <p:spPr>
          <a:xfrm>
            <a:off x="3675888" y="4935420"/>
            <a:ext cx="523037" cy="75492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" name="Shape 57"/>
          <p:cNvSpPr/>
          <p:nvPr/>
        </p:nvSpPr>
        <p:spPr>
          <a:xfrm>
            <a:off x="4626864" y="4909993"/>
            <a:ext cx="523037" cy="100919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2" name="Shape 58"/>
          <p:cNvSpPr/>
          <p:nvPr/>
        </p:nvSpPr>
        <p:spPr>
          <a:xfrm>
            <a:off x="731520" y="5010912"/>
            <a:ext cx="502920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63" name="Text 59"/>
          <p:cNvSpPr/>
          <p:nvPr/>
        </p:nvSpPr>
        <p:spPr>
          <a:xfrm>
            <a:off x="667512" y="5239512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case-creation activity</a:t>
            </a:r>
            <a:endParaRPr lang="en-US" sz="660" dirty="0"/>
          </a:p>
        </p:txBody>
      </p:sp>
      <p:sp>
        <p:nvSpPr>
          <p:cNvPr id="64" name="Shape 60"/>
          <p:cNvSpPr/>
          <p:nvPr/>
        </p:nvSpPr>
        <p:spPr>
          <a:xfrm>
            <a:off x="6355080" y="3886200"/>
            <a:ext cx="5074920" cy="1627632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65" name="Text 61"/>
          <p:cNvSpPr/>
          <p:nvPr/>
        </p:nvSpPr>
        <p:spPr>
          <a:xfrm>
            <a:off x="6483096" y="3977640"/>
            <a:ext cx="4818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management should see</a:t>
            </a:r>
            <a:endParaRPr lang="en-US" sz="1140" dirty="0"/>
          </a:p>
        </p:txBody>
      </p:sp>
      <p:sp>
        <p:nvSpPr>
          <p:cNvPr id="66" name="Text 62"/>
          <p:cNvSpPr/>
          <p:nvPr/>
        </p:nvSpPr>
        <p:spPr>
          <a:xfrm>
            <a:off x="6483096" y="4270248"/>
            <a:ext cx="4818888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only actionable timing patterns: peak intake hours, quiet periods, missed afternoon coverage, and the next calling window. Keep row-level time logs in the addendum.</a:t>
            </a:r>
            <a:endParaRPr lang="en-US" sz="9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SERVICES AND DEMAND MIX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00A65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25 August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from approved corridor template</a:t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45920"/>
            <a:ext cx="4800600" cy="210312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67512" y="1755648"/>
            <a:ext cx="4471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services logged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822960" y="2681478"/>
            <a:ext cx="452628" cy="564642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1645920" y="2995922"/>
            <a:ext cx="452628" cy="250198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2468880" y="2778293"/>
            <a:ext cx="452628" cy="467827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3291840" y="3151938"/>
            <a:ext cx="452628" cy="94182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4114800" y="3152417"/>
            <a:ext cx="452628" cy="93703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731520" y="3246120"/>
            <a:ext cx="438912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667512" y="3474720"/>
            <a:ext cx="4471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demand categories</a:t>
            </a:r>
            <a:endParaRPr lang="en-US" sz="660" dirty="0"/>
          </a:p>
        </p:txBody>
      </p:sp>
      <p:sp>
        <p:nvSpPr>
          <p:cNvPr id="20" name="Shape 16"/>
          <p:cNvSpPr/>
          <p:nvPr/>
        </p:nvSpPr>
        <p:spPr>
          <a:xfrm>
            <a:off x="5623560" y="1645920"/>
            <a:ext cx="57150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5623560" y="1645920"/>
            <a:ext cx="5715000" cy="420624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5623560" y="2066544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5623560" y="2487168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5623560" y="2907792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5623560" y="3328416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6" name="Shape 22"/>
          <p:cNvSpPr/>
          <p:nvPr/>
        </p:nvSpPr>
        <p:spPr>
          <a:xfrm>
            <a:off x="7498080" y="1645920"/>
            <a:ext cx="0" cy="210312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8138160" y="1645920"/>
            <a:ext cx="0" cy="210312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8732520" y="1645920"/>
            <a:ext cx="0" cy="210312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5660136" y="1687068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/ cluster</a:t>
            </a:r>
            <a:endParaRPr lang="en-US" sz="790" dirty="0"/>
          </a:p>
        </p:txBody>
      </p:sp>
      <p:sp>
        <p:nvSpPr>
          <p:cNvPr id="30" name="Text 26"/>
          <p:cNvSpPr/>
          <p:nvPr/>
        </p:nvSpPr>
        <p:spPr>
          <a:xfrm>
            <a:off x="7534656" y="1687068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790" dirty="0"/>
          </a:p>
        </p:txBody>
      </p:sp>
      <p:sp>
        <p:nvSpPr>
          <p:cNvPr id="31" name="Text 27"/>
          <p:cNvSpPr/>
          <p:nvPr/>
        </p:nvSpPr>
        <p:spPr>
          <a:xfrm>
            <a:off x="8174736" y="1687068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790" dirty="0"/>
          </a:p>
        </p:txBody>
      </p:sp>
      <p:sp>
        <p:nvSpPr>
          <p:cNvPr id="32" name="Text 28"/>
          <p:cNvSpPr/>
          <p:nvPr/>
        </p:nvSpPr>
        <p:spPr>
          <a:xfrm>
            <a:off x="8769096" y="1687068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</a:t>
            </a:r>
            <a:endParaRPr lang="en-US" sz="790" dirty="0"/>
          </a:p>
        </p:txBody>
      </p:sp>
      <p:sp>
        <p:nvSpPr>
          <p:cNvPr id="33" name="Text 29"/>
          <p:cNvSpPr/>
          <p:nvPr/>
        </p:nvSpPr>
        <p:spPr>
          <a:xfrm>
            <a:off x="5660136" y="2107692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Roads Services</a:t>
            </a:r>
            <a:endParaRPr lang="en-US" sz="790" dirty="0"/>
          </a:p>
        </p:txBody>
      </p:sp>
      <p:sp>
        <p:nvSpPr>
          <p:cNvPr id="34" name="Text 30"/>
          <p:cNvSpPr/>
          <p:nvPr/>
        </p:nvSpPr>
        <p:spPr>
          <a:xfrm>
            <a:off x="7534656" y="2107692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1,703</a:t>
            </a:r>
            <a:endParaRPr lang="en-US" sz="790" dirty="0"/>
          </a:p>
        </p:txBody>
      </p:sp>
      <p:sp>
        <p:nvSpPr>
          <p:cNvPr id="35" name="Text 31"/>
          <p:cNvSpPr/>
          <p:nvPr/>
        </p:nvSpPr>
        <p:spPr>
          <a:xfrm>
            <a:off x="8174736" y="2107692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22.0%</a:t>
            </a:r>
            <a:endParaRPr lang="en-US" sz="790" dirty="0"/>
          </a:p>
        </p:txBody>
      </p:sp>
      <p:sp>
        <p:nvSpPr>
          <p:cNvPr id="36" name="Text 32"/>
          <p:cNvSpPr/>
          <p:nvPr/>
        </p:nvSpPr>
        <p:spPr>
          <a:xfrm>
            <a:off x="8769096" y="2107692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indicator</a:t>
            </a:r>
            <a:endParaRPr lang="en-US" sz="790" dirty="0"/>
          </a:p>
        </p:txBody>
      </p:sp>
      <p:sp>
        <p:nvSpPr>
          <p:cNvPr id="37" name="Text 33"/>
          <p:cNvSpPr/>
          <p:nvPr/>
        </p:nvSpPr>
        <p:spPr>
          <a:xfrm>
            <a:off x="5660136" y="2528316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 Services</a:t>
            </a:r>
            <a:endParaRPr lang="en-US" sz="790" dirty="0"/>
          </a:p>
        </p:txBody>
      </p:sp>
      <p:sp>
        <p:nvSpPr>
          <p:cNvPr id="38" name="Text 34"/>
          <p:cNvSpPr/>
          <p:nvPr/>
        </p:nvSpPr>
        <p:spPr>
          <a:xfrm>
            <a:off x="7534656" y="2528316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1,090</a:t>
            </a:r>
            <a:endParaRPr lang="en-US" sz="790" dirty="0"/>
          </a:p>
        </p:txBody>
      </p:sp>
      <p:sp>
        <p:nvSpPr>
          <p:cNvPr id="39" name="Text 35"/>
          <p:cNvSpPr/>
          <p:nvPr/>
        </p:nvSpPr>
        <p:spPr>
          <a:xfrm>
            <a:off x="8174736" y="2528316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14.1%</a:t>
            </a:r>
            <a:endParaRPr lang="en-US" sz="790" dirty="0"/>
          </a:p>
        </p:txBody>
      </p:sp>
      <p:sp>
        <p:nvSpPr>
          <p:cNvPr id="40" name="Text 36"/>
          <p:cNvSpPr/>
          <p:nvPr/>
        </p:nvSpPr>
        <p:spPr>
          <a:xfrm>
            <a:off x="8769096" y="2528316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indicator</a:t>
            </a:r>
            <a:endParaRPr lang="en-US" sz="790" dirty="0"/>
          </a:p>
        </p:txBody>
      </p:sp>
      <p:sp>
        <p:nvSpPr>
          <p:cNvPr id="41" name="Text 37"/>
          <p:cNvSpPr/>
          <p:nvPr/>
        </p:nvSpPr>
        <p:spPr>
          <a:xfrm>
            <a:off x="5660136" y="2948940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Services</a:t>
            </a:r>
            <a:endParaRPr lang="en-US" sz="790" dirty="0"/>
          </a:p>
        </p:txBody>
      </p:sp>
      <p:sp>
        <p:nvSpPr>
          <p:cNvPr id="42" name="Text 38"/>
          <p:cNvSpPr/>
          <p:nvPr/>
        </p:nvSpPr>
        <p:spPr>
          <a:xfrm>
            <a:off x="7534656" y="2948940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1,079</a:t>
            </a:r>
            <a:endParaRPr lang="en-US" sz="790" dirty="0"/>
          </a:p>
        </p:txBody>
      </p:sp>
      <p:sp>
        <p:nvSpPr>
          <p:cNvPr id="43" name="Text 39"/>
          <p:cNvSpPr/>
          <p:nvPr/>
        </p:nvSpPr>
        <p:spPr>
          <a:xfrm>
            <a:off x="8174736" y="2948940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13.9%</a:t>
            </a:r>
            <a:endParaRPr lang="en-US" sz="790" dirty="0"/>
          </a:p>
        </p:txBody>
      </p:sp>
      <p:sp>
        <p:nvSpPr>
          <p:cNvPr id="44" name="Text 40"/>
          <p:cNvSpPr/>
          <p:nvPr/>
        </p:nvSpPr>
        <p:spPr>
          <a:xfrm>
            <a:off x="8769096" y="2948940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indicator</a:t>
            </a:r>
            <a:endParaRPr lang="en-US" sz="790" dirty="0"/>
          </a:p>
        </p:txBody>
      </p:sp>
      <p:sp>
        <p:nvSpPr>
          <p:cNvPr id="45" name="Text 41"/>
          <p:cNvSpPr/>
          <p:nvPr/>
        </p:nvSpPr>
        <p:spPr>
          <a:xfrm>
            <a:off x="5660136" y="3369564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790" dirty="0"/>
          </a:p>
        </p:txBody>
      </p:sp>
      <p:sp>
        <p:nvSpPr>
          <p:cNvPr id="46" name="Text 42"/>
          <p:cNvSpPr/>
          <p:nvPr/>
        </p:nvSpPr>
        <p:spPr>
          <a:xfrm>
            <a:off x="7534656" y="3369564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90" dirty="0"/>
          </a:p>
        </p:txBody>
      </p:sp>
      <p:sp>
        <p:nvSpPr>
          <p:cNvPr id="47" name="Text 43"/>
          <p:cNvSpPr/>
          <p:nvPr/>
        </p:nvSpPr>
        <p:spPr>
          <a:xfrm>
            <a:off x="8174736" y="3369564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[##%]</a:t>
            </a:r>
            <a:endParaRPr lang="en-US" sz="790" dirty="0"/>
          </a:p>
        </p:txBody>
      </p:sp>
      <p:sp>
        <p:nvSpPr>
          <p:cNvPr id="48" name="Text 44"/>
          <p:cNvSpPr/>
          <p:nvPr/>
        </p:nvSpPr>
        <p:spPr>
          <a:xfrm>
            <a:off x="8769096" y="3369564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[summary]</a:t>
            </a:r>
            <a:endParaRPr lang="en-US" sz="790" dirty="0"/>
          </a:p>
        </p:txBody>
      </p:sp>
      <p:sp>
        <p:nvSpPr>
          <p:cNvPr id="49" name="Shape 45"/>
          <p:cNvSpPr/>
          <p:nvPr/>
        </p:nvSpPr>
        <p:spPr>
          <a:xfrm>
            <a:off x="502920" y="4005072"/>
            <a:ext cx="5257800" cy="1353312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0" name="Text 46"/>
          <p:cNvSpPr/>
          <p:nvPr/>
        </p:nvSpPr>
        <p:spPr>
          <a:xfrm>
            <a:off x="630936" y="4096512"/>
            <a:ext cx="5001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rule</a:t>
            </a:r>
            <a:endParaRPr lang="en-US" sz="1140" dirty="0"/>
          </a:p>
        </p:txBody>
      </p:sp>
      <p:sp>
        <p:nvSpPr>
          <p:cNvPr id="51" name="Text 47"/>
          <p:cNvSpPr/>
          <p:nvPr/>
        </p:nvSpPr>
        <p:spPr>
          <a:xfrm>
            <a:off x="630936" y="4389120"/>
            <a:ext cx="5001768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demand indicators, not departmental performance. Avoid long service lists on the main slide; put detailed service tables in the addendum.</a:t>
            </a:r>
            <a:endParaRPr lang="en-US" sz="960" dirty="0"/>
          </a:p>
        </p:txBody>
      </p:sp>
      <p:sp>
        <p:nvSpPr>
          <p:cNvPr id="52" name="Shape 48"/>
          <p:cNvSpPr/>
          <p:nvPr/>
        </p:nvSpPr>
        <p:spPr>
          <a:xfrm>
            <a:off x="6080760" y="4005072"/>
            <a:ext cx="5257800" cy="1353312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3" name="Text 49"/>
          <p:cNvSpPr/>
          <p:nvPr/>
        </p:nvSpPr>
        <p:spPr>
          <a:xfrm>
            <a:off x="6208776" y="4096512"/>
            <a:ext cx="5001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prompts</a:t>
            </a:r>
            <a:endParaRPr lang="en-US" sz="1140" dirty="0"/>
          </a:p>
        </p:txBody>
      </p:sp>
      <p:sp>
        <p:nvSpPr>
          <p:cNvPr id="54" name="Text 50"/>
          <p:cNvSpPr/>
          <p:nvPr/>
        </p:nvSpPr>
        <p:spPr>
          <a:xfrm>
            <a:off x="6208776" y="4389120"/>
            <a:ext cx="5001768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addendum for low-volume services and single-service ward follow-up.</a:t>
            </a:r>
            <a:endParaRPr lang="en-US" sz="9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VOICE OF THE CITIZEN AND RESOLUTION POSITION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00A65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25 August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from approved corridor template</a:t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9436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4922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922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responses</a:t>
            </a:r>
            <a:endParaRPr lang="en-US" sz="770" dirty="0"/>
          </a:p>
        </p:txBody>
      </p:sp>
      <p:sp>
        <p:nvSpPr>
          <p:cNvPr id="14" name="Shape 10"/>
          <p:cNvSpPr/>
          <p:nvPr/>
        </p:nvSpPr>
        <p:spPr>
          <a:xfrm>
            <a:off x="269748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275234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74.2%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75234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Happiness</a:t>
            </a:r>
            <a:endParaRPr lang="en-US" sz="770" dirty="0"/>
          </a:p>
        </p:txBody>
      </p:sp>
      <p:sp>
        <p:nvSpPr>
          <p:cNvPr id="17" name="Shape 13"/>
          <p:cNvSpPr/>
          <p:nvPr/>
        </p:nvSpPr>
        <p:spPr>
          <a:xfrm>
            <a:off x="480060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2B200"/>
          </a:solidFill>
          <a:ln w="12700">
            <a:solidFill>
              <a:srgbClr val="F2B2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485546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85546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cases</a:t>
            </a:r>
            <a:endParaRPr lang="en-US" sz="770" dirty="0"/>
          </a:p>
        </p:txBody>
      </p:sp>
      <p:sp>
        <p:nvSpPr>
          <p:cNvPr id="20" name="Shape 16"/>
          <p:cNvSpPr/>
          <p:nvPr/>
        </p:nvSpPr>
        <p:spPr>
          <a:xfrm>
            <a:off x="690372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695858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31/33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695858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Survey-ready</a:t>
            </a:r>
            <a:endParaRPr lang="en-US" sz="770" dirty="0"/>
          </a:p>
        </p:txBody>
      </p:sp>
      <p:sp>
        <p:nvSpPr>
          <p:cNvPr id="23" name="Shape 19"/>
          <p:cNvSpPr/>
          <p:nvPr/>
        </p:nvSpPr>
        <p:spPr>
          <a:xfrm>
            <a:off x="900684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2B200"/>
          </a:solidFill>
          <a:ln w="12700">
            <a:solidFill>
              <a:srgbClr val="F2B2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906170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906170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availability</a:t>
            </a:r>
            <a:endParaRPr lang="en-US" sz="770" dirty="0"/>
          </a:p>
        </p:txBody>
      </p:sp>
      <p:sp>
        <p:nvSpPr>
          <p:cNvPr id="26" name="Shape 22"/>
          <p:cNvSpPr/>
          <p:nvPr/>
        </p:nvSpPr>
        <p:spPr>
          <a:xfrm>
            <a:off x="685800" y="2834640"/>
            <a:ext cx="516636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685800" y="2834640"/>
            <a:ext cx="5166360" cy="560070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685800" y="3394710"/>
            <a:ext cx="5166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29" name="Shape 25"/>
          <p:cNvSpPr/>
          <p:nvPr/>
        </p:nvSpPr>
        <p:spPr>
          <a:xfrm>
            <a:off x="685800" y="3954780"/>
            <a:ext cx="5166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685800" y="4514850"/>
            <a:ext cx="5166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2194560" y="2834640"/>
            <a:ext cx="0" cy="224028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2" name="Shape 28"/>
          <p:cNvSpPr/>
          <p:nvPr/>
        </p:nvSpPr>
        <p:spPr>
          <a:xfrm>
            <a:off x="3108960" y="2834640"/>
            <a:ext cx="0" cy="224028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3" name="Shape 29"/>
          <p:cNvSpPr/>
          <p:nvPr/>
        </p:nvSpPr>
        <p:spPr>
          <a:xfrm>
            <a:off x="4343400" y="2834640"/>
            <a:ext cx="0" cy="224028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34" name="Text 30"/>
          <p:cNvSpPr/>
          <p:nvPr/>
        </p:nvSpPr>
        <p:spPr>
          <a:xfrm>
            <a:off x="722376" y="287578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/ queue</a:t>
            </a:r>
            <a:endParaRPr lang="en-US" sz="790" dirty="0"/>
          </a:p>
        </p:txBody>
      </p:sp>
      <p:sp>
        <p:nvSpPr>
          <p:cNvPr id="35" name="Text 31"/>
          <p:cNvSpPr/>
          <p:nvPr/>
        </p:nvSpPr>
        <p:spPr>
          <a:xfrm>
            <a:off x="2231136" y="287578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</a:t>
            </a:r>
            <a:endParaRPr lang="en-US" sz="790" dirty="0"/>
          </a:p>
        </p:txBody>
      </p:sp>
      <p:sp>
        <p:nvSpPr>
          <p:cNvPr id="36" name="Text 32"/>
          <p:cNvSpPr/>
          <p:nvPr/>
        </p:nvSpPr>
        <p:spPr>
          <a:xfrm>
            <a:off x="3145536" y="287578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790" dirty="0"/>
          </a:p>
        </p:txBody>
      </p:sp>
      <p:sp>
        <p:nvSpPr>
          <p:cNvPr id="37" name="Text 33"/>
          <p:cNvSpPr/>
          <p:nvPr/>
        </p:nvSpPr>
        <p:spPr>
          <a:xfrm>
            <a:off x="4379976" y="287578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790" dirty="0"/>
          </a:p>
        </p:txBody>
      </p:sp>
      <p:sp>
        <p:nvSpPr>
          <p:cNvPr id="38" name="Text 34"/>
          <p:cNvSpPr/>
          <p:nvPr/>
        </p:nvSpPr>
        <p:spPr>
          <a:xfrm>
            <a:off x="722376" y="343585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[Case ref]</a:t>
            </a:r>
            <a:endParaRPr lang="en-US" sz="790" dirty="0"/>
          </a:p>
        </p:txBody>
      </p:sp>
      <p:sp>
        <p:nvSpPr>
          <p:cNvPr id="39" name="Text 35"/>
          <p:cNvSpPr/>
          <p:nvPr/>
        </p:nvSpPr>
        <p:spPr>
          <a:xfrm>
            <a:off x="2231136" y="343585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[Ward]</a:t>
            </a:r>
            <a:endParaRPr lang="en-US" sz="790" dirty="0"/>
          </a:p>
        </p:txBody>
      </p:sp>
      <p:sp>
        <p:nvSpPr>
          <p:cNvPr id="40" name="Text 36"/>
          <p:cNvSpPr/>
          <p:nvPr/>
        </p:nvSpPr>
        <p:spPr>
          <a:xfrm>
            <a:off x="3145536" y="343585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[Service]</a:t>
            </a:r>
            <a:endParaRPr lang="en-US" sz="790" dirty="0"/>
          </a:p>
        </p:txBody>
      </p:sp>
      <p:sp>
        <p:nvSpPr>
          <p:cNvPr id="41" name="Text 37"/>
          <p:cNvSpPr/>
          <p:nvPr/>
        </p:nvSpPr>
        <p:spPr>
          <a:xfrm>
            <a:off x="4379976" y="343585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[Call / verify / close]</a:t>
            </a:r>
            <a:endParaRPr lang="en-US" sz="790" dirty="0"/>
          </a:p>
        </p:txBody>
      </p:sp>
      <p:sp>
        <p:nvSpPr>
          <p:cNvPr id="42" name="Text 38"/>
          <p:cNvSpPr/>
          <p:nvPr/>
        </p:nvSpPr>
        <p:spPr>
          <a:xfrm>
            <a:off x="722376" y="399592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[Case ref]</a:t>
            </a:r>
            <a:endParaRPr lang="en-US" sz="790" dirty="0"/>
          </a:p>
        </p:txBody>
      </p:sp>
      <p:sp>
        <p:nvSpPr>
          <p:cNvPr id="43" name="Text 39"/>
          <p:cNvSpPr/>
          <p:nvPr/>
        </p:nvSpPr>
        <p:spPr>
          <a:xfrm>
            <a:off x="2231136" y="399592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[Ward]</a:t>
            </a:r>
            <a:endParaRPr lang="en-US" sz="790" dirty="0"/>
          </a:p>
        </p:txBody>
      </p:sp>
      <p:sp>
        <p:nvSpPr>
          <p:cNvPr id="44" name="Text 40"/>
          <p:cNvSpPr/>
          <p:nvPr/>
        </p:nvSpPr>
        <p:spPr>
          <a:xfrm>
            <a:off x="3145536" y="399592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[Service]</a:t>
            </a:r>
            <a:endParaRPr lang="en-US" sz="790" dirty="0"/>
          </a:p>
        </p:txBody>
      </p:sp>
      <p:sp>
        <p:nvSpPr>
          <p:cNvPr id="45" name="Text 41"/>
          <p:cNvSpPr/>
          <p:nvPr/>
        </p:nvSpPr>
        <p:spPr>
          <a:xfrm>
            <a:off x="4379976" y="399592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[Call / verify / close]</a:t>
            </a:r>
            <a:endParaRPr lang="en-US" sz="790" dirty="0"/>
          </a:p>
        </p:txBody>
      </p:sp>
      <p:sp>
        <p:nvSpPr>
          <p:cNvPr id="46" name="Text 42"/>
          <p:cNvSpPr/>
          <p:nvPr/>
        </p:nvSpPr>
        <p:spPr>
          <a:xfrm>
            <a:off x="722376" y="455599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[Case ref]</a:t>
            </a:r>
            <a:endParaRPr lang="en-US" sz="790" dirty="0"/>
          </a:p>
        </p:txBody>
      </p:sp>
      <p:sp>
        <p:nvSpPr>
          <p:cNvPr id="47" name="Text 43"/>
          <p:cNvSpPr/>
          <p:nvPr/>
        </p:nvSpPr>
        <p:spPr>
          <a:xfrm>
            <a:off x="2231136" y="455599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[Ward]</a:t>
            </a:r>
            <a:endParaRPr lang="en-US" sz="790" dirty="0"/>
          </a:p>
        </p:txBody>
      </p:sp>
      <p:sp>
        <p:nvSpPr>
          <p:cNvPr id="48" name="Text 44"/>
          <p:cNvSpPr/>
          <p:nvPr/>
        </p:nvSpPr>
        <p:spPr>
          <a:xfrm>
            <a:off x="3145536" y="455599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[Service]</a:t>
            </a:r>
            <a:endParaRPr lang="en-US" sz="790" dirty="0"/>
          </a:p>
        </p:txBody>
      </p:sp>
      <p:sp>
        <p:nvSpPr>
          <p:cNvPr id="49" name="Text 45"/>
          <p:cNvSpPr/>
          <p:nvPr/>
        </p:nvSpPr>
        <p:spPr>
          <a:xfrm>
            <a:off x="4379976" y="455599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[Call / verify / close]</a:t>
            </a:r>
            <a:endParaRPr lang="en-US" sz="790" dirty="0"/>
          </a:p>
        </p:txBody>
      </p:sp>
      <p:sp>
        <p:nvSpPr>
          <p:cNvPr id="50" name="Shape 46"/>
          <p:cNvSpPr/>
          <p:nvPr/>
        </p:nvSpPr>
        <p:spPr>
          <a:xfrm>
            <a:off x="6217920" y="2834640"/>
            <a:ext cx="4983480" cy="22402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1" name="Text 47"/>
          <p:cNvSpPr/>
          <p:nvPr/>
        </p:nvSpPr>
        <p:spPr>
          <a:xfrm>
            <a:off x="6345936" y="2926080"/>
            <a:ext cx="4727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reporting rule</a:t>
            </a:r>
            <a:endParaRPr lang="en-US" sz="1140" dirty="0"/>
          </a:p>
        </p:txBody>
      </p:sp>
      <p:sp>
        <p:nvSpPr>
          <p:cNvPr id="52" name="Text 48"/>
          <p:cNvSpPr/>
          <p:nvPr/>
        </p:nvSpPr>
        <p:spPr>
          <a:xfrm>
            <a:off x="6345936" y="3218688"/>
            <a:ext cx="4727448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source supplied. Metrics shown are calculated only where the response fields support them; detailed responses remain in the addendum.</a:t>
            </a:r>
            <a:endParaRPr lang="en-US" sz="9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ACTIONS, DATA QUALITY AND MANAGEMENT DECISIONS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solidFill>
            <a:srgbClr val="00A65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Ekurhuleni | INTERNAL SDI OPERATIONS REPORTING | 25 August 2026 | 15:00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from approved corridor template</a:t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91640"/>
            <a:ext cx="58064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502920" y="1691640"/>
            <a:ext cx="5806440" cy="475488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502920" y="2167128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502920" y="2642616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502920" y="3118104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502920" y="3593592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2011680" y="1691640"/>
            <a:ext cx="0" cy="23774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3246120" y="1691640"/>
            <a:ext cx="0" cy="23774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4389120" y="1691640"/>
            <a:ext cx="0" cy="23774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539496" y="1732788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2048256" y="1732788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282696" y="1732788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425696" y="1732788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check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39496" y="2208276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wards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2048256" y="2208276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lead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3282696" y="2208276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close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425696" y="2208276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wards validated/assigned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539496" y="2683764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Channel/time gap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2048256" y="2683764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3282696" y="2683764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operating window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425696" y="2683764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hours protected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539496" y="3159252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queue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2048256" y="3159252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lead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3282696" y="3159252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VOC source is supplied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4425696" y="3159252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VOC-ready dataset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539496" y="3634740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2048256" y="3634740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lead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3282696" y="3634740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circulation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4425696" y="3634740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quality findings reviewed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6629400" y="1691640"/>
            <a:ext cx="4709160" cy="237744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41" name="Text 37"/>
          <p:cNvSpPr/>
          <p:nvPr/>
        </p:nvSpPr>
        <p:spPr>
          <a:xfrm>
            <a:off x="6793992" y="1801368"/>
            <a:ext cx="4379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control load</a:t>
            </a:r>
            <a:endParaRPr lang="en-US" sz="1080" dirty="0"/>
          </a:p>
        </p:txBody>
      </p:sp>
      <p:sp>
        <p:nvSpPr>
          <p:cNvPr id="42" name="Shape 38"/>
          <p:cNvSpPr/>
          <p:nvPr/>
        </p:nvSpPr>
        <p:spPr>
          <a:xfrm>
            <a:off x="6949440" y="3566160"/>
            <a:ext cx="442570" cy="1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Shape 39"/>
          <p:cNvSpPr/>
          <p:nvPr/>
        </p:nvSpPr>
        <p:spPr>
          <a:xfrm>
            <a:off x="7754112" y="3550574"/>
            <a:ext cx="442570" cy="15586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Shape 40"/>
          <p:cNvSpPr/>
          <p:nvPr/>
        </p:nvSpPr>
        <p:spPr>
          <a:xfrm>
            <a:off x="8558784" y="2594610"/>
            <a:ext cx="442570" cy="971550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Shape 41"/>
          <p:cNvSpPr/>
          <p:nvPr/>
        </p:nvSpPr>
        <p:spPr>
          <a:xfrm>
            <a:off x="9363456" y="3521826"/>
            <a:ext cx="442570" cy="44334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Shape 42"/>
          <p:cNvSpPr/>
          <p:nvPr/>
        </p:nvSpPr>
        <p:spPr>
          <a:xfrm>
            <a:off x="10168128" y="3547110"/>
            <a:ext cx="442570" cy="19050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Shape 43"/>
          <p:cNvSpPr/>
          <p:nvPr/>
        </p:nvSpPr>
        <p:spPr>
          <a:xfrm>
            <a:off x="6858000" y="3566160"/>
            <a:ext cx="429768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  <p:txBody>
          <a:bodyPr/>
          <a:p/>
        </p:txBody>
      </p:sp>
      <p:sp>
        <p:nvSpPr>
          <p:cNvPr id="48" name="Text 44"/>
          <p:cNvSpPr/>
          <p:nvPr/>
        </p:nvSpPr>
        <p:spPr>
          <a:xfrm>
            <a:off x="6793992" y="3794760"/>
            <a:ext cx="4379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missing wards, VOC queue and key data exceptions.</a:t>
            </a:r>
            <a:endParaRPr lang="en-US" sz="660" dirty="0"/>
          </a:p>
        </p:txBody>
      </p:sp>
      <p:sp>
        <p:nvSpPr>
          <p:cNvPr id="49" name="Shape 45"/>
          <p:cNvSpPr/>
          <p:nvPr/>
        </p:nvSpPr>
        <p:spPr>
          <a:xfrm>
            <a:off x="502920" y="4343400"/>
            <a:ext cx="3429000" cy="11430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0" name="Text 46"/>
          <p:cNvSpPr/>
          <p:nvPr/>
        </p:nvSpPr>
        <p:spPr>
          <a:xfrm>
            <a:off x="630936" y="443484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needed</a:t>
            </a:r>
            <a:endParaRPr lang="en-US" sz="1140" dirty="0"/>
          </a:p>
        </p:txBody>
      </p:sp>
      <p:sp>
        <p:nvSpPr>
          <p:cNvPr id="51" name="Text 47"/>
          <p:cNvSpPr/>
          <p:nvPr/>
        </p:nvSpPr>
        <p:spPr>
          <a:xfrm>
            <a:off x="630936" y="4727448"/>
            <a:ext cx="3172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and assign the 0 unrepresented wards before the next operational close.</a:t>
            </a:r>
            <a:endParaRPr lang="en-US" sz="960" dirty="0"/>
          </a:p>
        </p:txBody>
      </p:sp>
      <p:sp>
        <p:nvSpPr>
          <p:cNvPr id="52" name="Shape 48"/>
          <p:cNvSpPr/>
          <p:nvPr/>
        </p:nvSpPr>
        <p:spPr>
          <a:xfrm>
            <a:off x="4251960" y="4343400"/>
            <a:ext cx="3429000" cy="11430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3" name="Text 49"/>
          <p:cNvSpPr/>
          <p:nvPr/>
        </p:nvSpPr>
        <p:spPr>
          <a:xfrm>
            <a:off x="4379976" y="443484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caveat</a:t>
            </a:r>
            <a:endParaRPr lang="en-US" sz="1140" dirty="0"/>
          </a:p>
        </p:txBody>
      </p:sp>
      <p:sp>
        <p:nvSpPr>
          <p:cNvPr id="54" name="Text 50"/>
          <p:cNvSpPr/>
          <p:nvPr/>
        </p:nvSpPr>
        <p:spPr>
          <a:xfrm>
            <a:off x="4379976" y="4727448"/>
            <a:ext cx="3172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Area-level municipality breakdown requires a validated ward/master reference mapping.</a:t>
            </a:r>
            <a:endParaRPr lang="en-US" sz="960" dirty="0"/>
          </a:p>
        </p:txBody>
      </p:sp>
      <p:sp>
        <p:nvSpPr>
          <p:cNvPr id="55" name="Shape 51"/>
          <p:cNvSpPr/>
          <p:nvPr/>
        </p:nvSpPr>
        <p:spPr>
          <a:xfrm>
            <a:off x="8001000" y="4343400"/>
            <a:ext cx="3429000" cy="11430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  <p:txBody>
          <a:bodyPr/>
          <a:p/>
        </p:txBody>
      </p:sp>
      <p:sp>
        <p:nvSpPr>
          <p:cNvPr id="56" name="Text 52"/>
          <p:cNvSpPr/>
          <p:nvPr/>
        </p:nvSpPr>
        <p:spPr>
          <a:xfrm>
            <a:off x="8129016" y="443484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Addendum pointer</a:t>
            </a:r>
            <a:endParaRPr lang="en-US" sz="1140" dirty="0"/>
          </a:p>
        </p:txBody>
      </p:sp>
      <p:sp>
        <p:nvSpPr>
          <p:cNvPr id="57" name="Text 53"/>
          <p:cNvSpPr/>
          <p:nvPr/>
        </p:nvSpPr>
        <p:spPr>
          <a:xfrm>
            <a:off x="8129016" y="4727448"/>
            <a:ext cx="3172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graphs, ward evidence, time logs, VOC evidence and QA registers are in the analytical addendum.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Gauteng Provincial Government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Generic Corridor Operations Report Template</dc:title>
  <dc:subject>Generic Corridor Operations Reporting Template</dc:subject>
  <dc:creator>CIC</dc:creator>
  <cp:lastModifiedBy>CIC</cp:lastModifiedBy>
  <cp:revision>3</cp:revision>
  <dcterms:created xsi:type="dcterms:W3CDTF">2026-08-26T12:35:59Z</dcterms:created>
  <dcterms:modified xsi:type="dcterms:W3CDTF">2026-08-27T13:13:33Z</dcterms:modified>
</cp:coreProperties>
</file>