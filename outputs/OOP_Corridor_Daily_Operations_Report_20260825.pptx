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9F2EC4-C076-4A07-B438-C52ED8362070}" type="datetimeFigureOut"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77E846-7598-4070-9CDC-FD9526AE9B2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89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5488" y="1353312"/>
            <a:ext cx="11247120" cy="2212848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731520" y="1755648"/>
            <a:ext cx="107350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
OPERATIONS REPORT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822960" y="2679192"/>
            <a:ext cx="105613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
25 August 2026 | Tuesday 25 August | 15:00</a:t>
            </a:r>
            <a:endParaRPr lang="en-US" sz="1450" dirty="0"/>
          </a:p>
        </p:txBody>
      </p:sp>
      <p:sp>
        <p:nvSpPr>
          <p:cNvPr id="7" name="Shape 3"/>
          <p:cNvSpPr/>
          <p:nvPr/>
        </p:nvSpPr>
        <p:spPr>
          <a:xfrm>
            <a:off x="58521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4008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7,738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4008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cases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255117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60604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112/112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260604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 covered</a:t>
            </a:r>
            <a:endParaRPr lang="en-US" sz="770" dirty="0"/>
          </a:p>
        </p:txBody>
      </p:sp>
      <p:sp>
        <p:nvSpPr>
          <p:cNvPr id="13" name="Shape 9"/>
          <p:cNvSpPr/>
          <p:nvPr/>
        </p:nvSpPr>
        <p:spPr>
          <a:xfrm>
            <a:off x="451713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457200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7200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770" dirty="0"/>
          </a:p>
        </p:txBody>
      </p:sp>
      <p:sp>
        <p:nvSpPr>
          <p:cNvPr id="16" name="Shape 12"/>
          <p:cNvSpPr/>
          <p:nvPr/>
        </p:nvSpPr>
        <p:spPr>
          <a:xfrm>
            <a:off x="648309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53796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653796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 missing</a:t>
            </a:r>
            <a:endParaRPr lang="en-US" sz="770" dirty="0"/>
          </a:p>
        </p:txBody>
      </p:sp>
      <p:sp>
        <p:nvSpPr>
          <p:cNvPr id="19" name="Shape 15"/>
          <p:cNvSpPr/>
          <p:nvPr/>
        </p:nvSpPr>
        <p:spPr>
          <a:xfrm>
            <a:off x="844905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8503920" y="4206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50392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ready / done</a:t>
            </a:r>
            <a:endParaRPr lang="en-US" sz="770" dirty="0"/>
          </a:p>
        </p:txBody>
      </p:sp>
      <p:sp>
        <p:nvSpPr>
          <p:cNvPr id="22" name="Shape 18"/>
          <p:cNvSpPr/>
          <p:nvPr/>
        </p:nvSpPr>
        <p:spPr>
          <a:xfrm>
            <a:off x="10415016" y="4096512"/>
            <a:ext cx="1719072" cy="768096"/>
          </a:xfrm>
          <a:prstGeom prst="roundRect">
            <a:avLst>
              <a:gd name="adj" fmla="val 8333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0469880" y="4206240"/>
            <a:ext cx="1609344" cy="219456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0469880" y="4526280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status</a:t>
            </a:r>
            <a:endParaRPr lang="en-US" sz="770" dirty="0"/>
          </a:p>
        </p:txBody>
      </p:sp>
      <p:sp>
        <p:nvSpPr>
          <p:cNvPr id="25" name="Text 21"/>
          <p:cNvSpPr/>
          <p:nvPr/>
        </p:nvSpPr>
        <p:spPr>
          <a:xfrm>
            <a:off x="594360" y="5166360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20" dirty="0"/>
          </a:p>
        </p:txBody>
      </p:sp>
      <p:sp>
        <p:nvSpPr>
          <p:cNvPr id="26" name="Shape 22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28" name="Text 24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COVERAGE SNAPSHOT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41148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53949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now</a:t>
            </a:r>
            <a:endParaRPr lang="en-US" sz="1140" dirty="0"/>
          </a:p>
        </p:txBody>
      </p:sp>
      <p:sp>
        <p:nvSpPr>
          <p:cNvPr id="13" name="Text 9"/>
          <p:cNvSpPr/>
          <p:nvPr/>
        </p:nvSpPr>
        <p:spPr>
          <a:xfrm>
            <a:off x="53949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7,738 valid cases across 112 of 112 configured wards (100.0%).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25196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437997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140" dirty="0"/>
          </a:p>
        </p:txBody>
      </p:sp>
      <p:sp>
        <p:nvSpPr>
          <p:cNvPr id="16" name="Text 12"/>
          <p:cNvSpPr/>
          <p:nvPr/>
        </p:nvSpPr>
        <p:spPr>
          <a:xfrm>
            <a:off x="437997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7,738 records in the supplied extract. Prior-close comparison: 0/0.</a:t>
            </a:r>
            <a:endParaRPr lang="en-US" sz="960" dirty="0"/>
          </a:p>
        </p:txBody>
      </p:sp>
      <p:sp>
        <p:nvSpPr>
          <p:cNvPr id="17" name="Shape 13"/>
          <p:cNvSpPr/>
          <p:nvPr/>
        </p:nvSpPr>
        <p:spPr>
          <a:xfrm>
            <a:off x="8092440" y="1554480"/>
            <a:ext cx="3703320" cy="13258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220456" y="164592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attention</a:t>
            </a:r>
            <a:endParaRPr lang="en-US" sz="1140" dirty="0"/>
          </a:p>
        </p:txBody>
      </p:sp>
      <p:sp>
        <p:nvSpPr>
          <p:cNvPr id="19" name="Text 15"/>
          <p:cNvSpPr/>
          <p:nvPr/>
        </p:nvSpPr>
        <p:spPr>
          <a:xfrm>
            <a:off x="8220456" y="1938528"/>
            <a:ext cx="34472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wards are not represented in the supplied extract. Validate the ward register before circulation.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502920" y="3154680"/>
            <a:ext cx="3657600" cy="214884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667512" y="3264408"/>
            <a:ext cx="3328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movement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822960" y="4023360"/>
            <a:ext cx="326898" cy="77724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1417320" y="4389120"/>
            <a:ext cx="326898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2011680" y="4023360"/>
            <a:ext cx="326898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606040" y="4507992"/>
            <a:ext cx="326898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3200400" y="4297680"/>
            <a:ext cx="326898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731520" y="4800600"/>
            <a:ext cx="324612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667512" y="5029200"/>
            <a:ext cx="3328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 by reporting date</a:t>
            </a:r>
            <a:endParaRPr lang="en-US" sz="660" dirty="0"/>
          </a:p>
        </p:txBody>
      </p:sp>
      <p:sp>
        <p:nvSpPr>
          <p:cNvPr id="29" name="Shape 25"/>
          <p:cNvSpPr/>
          <p:nvPr/>
        </p:nvSpPr>
        <p:spPr>
          <a:xfrm>
            <a:off x="4480560" y="3154680"/>
            <a:ext cx="434340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4480560" y="3154680"/>
            <a:ext cx="4343400" cy="429768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4480560" y="3584448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4480560" y="4014216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4480560" y="4443984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4480560" y="4873752"/>
            <a:ext cx="43434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534924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6" name="Shape 32"/>
          <p:cNvSpPr/>
          <p:nvPr/>
        </p:nvSpPr>
        <p:spPr>
          <a:xfrm>
            <a:off x="612648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7" name="Shape 33"/>
          <p:cNvSpPr/>
          <p:nvPr/>
        </p:nvSpPr>
        <p:spPr>
          <a:xfrm>
            <a:off x="708660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8" name="Shape 34"/>
          <p:cNvSpPr/>
          <p:nvPr/>
        </p:nvSpPr>
        <p:spPr>
          <a:xfrm>
            <a:off x="8138160" y="3154680"/>
            <a:ext cx="0" cy="21488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9" name="Text 35"/>
          <p:cNvSpPr/>
          <p:nvPr/>
        </p:nvSpPr>
        <p:spPr>
          <a:xfrm>
            <a:off x="4517136" y="3195828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</a:t>
            </a:r>
            <a:endParaRPr lang="en-US" sz="770" dirty="0"/>
          </a:p>
        </p:txBody>
      </p:sp>
      <p:sp>
        <p:nvSpPr>
          <p:cNvPr id="40" name="Text 36"/>
          <p:cNvSpPr/>
          <p:nvPr/>
        </p:nvSpPr>
        <p:spPr>
          <a:xfrm>
            <a:off x="5385816" y="3195828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70" dirty="0"/>
          </a:p>
        </p:txBody>
      </p:sp>
      <p:sp>
        <p:nvSpPr>
          <p:cNvPr id="41" name="Text 37"/>
          <p:cNvSpPr/>
          <p:nvPr/>
        </p:nvSpPr>
        <p:spPr>
          <a:xfrm>
            <a:off x="6163056" y="3195828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wards</a:t>
            </a:r>
            <a:endParaRPr lang="en-US" sz="770" dirty="0"/>
          </a:p>
        </p:txBody>
      </p:sp>
      <p:sp>
        <p:nvSpPr>
          <p:cNvPr id="42" name="Text 38"/>
          <p:cNvSpPr/>
          <p:nvPr/>
        </p:nvSpPr>
        <p:spPr>
          <a:xfrm>
            <a:off x="7123176" y="3195828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total</a:t>
            </a:r>
            <a:endParaRPr lang="en-US" sz="770" dirty="0"/>
          </a:p>
        </p:txBody>
      </p:sp>
      <p:sp>
        <p:nvSpPr>
          <p:cNvPr id="43" name="Text 39"/>
          <p:cNvSpPr/>
          <p:nvPr/>
        </p:nvSpPr>
        <p:spPr>
          <a:xfrm>
            <a:off x="8174736" y="3195828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needed</a:t>
            </a:r>
            <a:endParaRPr lang="en-US" sz="770" dirty="0"/>
          </a:p>
        </p:txBody>
      </p:sp>
      <p:sp>
        <p:nvSpPr>
          <p:cNvPr id="44" name="Text 40"/>
          <p:cNvSpPr/>
          <p:nvPr/>
        </p:nvSpPr>
        <p:spPr>
          <a:xfrm>
            <a:off x="4517136" y="3625596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2026-08-25</a:t>
            </a:r>
            <a:endParaRPr lang="en-US" sz="770" dirty="0"/>
          </a:p>
        </p:txBody>
      </p:sp>
      <p:sp>
        <p:nvSpPr>
          <p:cNvPr id="45" name="Text 41"/>
          <p:cNvSpPr/>
          <p:nvPr/>
        </p:nvSpPr>
        <p:spPr>
          <a:xfrm>
            <a:off x="5385816" y="3625596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770" dirty="0"/>
          </a:p>
        </p:txBody>
      </p:sp>
      <p:sp>
        <p:nvSpPr>
          <p:cNvPr id="46" name="Text 42"/>
          <p:cNvSpPr/>
          <p:nvPr/>
        </p:nvSpPr>
        <p:spPr>
          <a:xfrm>
            <a:off x="6163056" y="3625596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47" name="Text 43"/>
          <p:cNvSpPr/>
          <p:nvPr/>
        </p:nvSpPr>
        <p:spPr>
          <a:xfrm>
            <a:off x="7123176" y="3625596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112/112</a:t>
            </a:r>
            <a:endParaRPr lang="en-US" sz="770" dirty="0"/>
          </a:p>
        </p:txBody>
      </p:sp>
      <p:sp>
        <p:nvSpPr>
          <p:cNvPr id="48" name="Text 44"/>
          <p:cNvSpPr/>
          <p:nvPr/>
        </p:nvSpPr>
        <p:spPr>
          <a:xfrm>
            <a:off x="8174736" y="3625596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49" name="Text 45"/>
          <p:cNvSpPr/>
          <p:nvPr/>
        </p:nvSpPr>
        <p:spPr>
          <a:xfrm>
            <a:off x="4517136" y="4055364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0" name="Text 46"/>
          <p:cNvSpPr/>
          <p:nvPr/>
        </p:nvSpPr>
        <p:spPr>
          <a:xfrm>
            <a:off x="5385816" y="4055364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1" name="Text 47"/>
          <p:cNvSpPr/>
          <p:nvPr/>
        </p:nvSpPr>
        <p:spPr>
          <a:xfrm>
            <a:off x="6163056" y="4055364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2" name="Text 48"/>
          <p:cNvSpPr/>
          <p:nvPr/>
        </p:nvSpPr>
        <p:spPr>
          <a:xfrm>
            <a:off x="7123176" y="4055364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3" name="Text 49"/>
          <p:cNvSpPr/>
          <p:nvPr/>
        </p:nvSpPr>
        <p:spPr>
          <a:xfrm>
            <a:off x="8174736" y="4055364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4" name="Text 50"/>
          <p:cNvSpPr/>
          <p:nvPr/>
        </p:nvSpPr>
        <p:spPr>
          <a:xfrm>
            <a:off x="4517136" y="4485132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5" name="Text 51"/>
          <p:cNvSpPr/>
          <p:nvPr/>
        </p:nvSpPr>
        <p:spPr>
          <a:xfrm>
            <a:off x="5385816" y="4485132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6" name="Text 52"/>
          <p:cNvSpPr/>
          <p:nvPr/>
        </p:nvSpPr>
        <p:spPr>
          <a:xfrm>
            <a:off x="6163056" y="4485132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7" name="Text 53"/>
          <p:cNvSpPr/>
          <p:nvPr/>
        </p:nvSpPr>
        <p:spPr>
          <a:xfrm>
            <a:off x="7123176" y="4485132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8" name="Text 54"/>
          <p:cNvSpPr/>
          <p:nvPr/>
        </p:nvSpPr>
        <p:spPr>
          <a:xfrm>
            <a:off x="8174736" y="4485132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59" name="Text 55"/>
          <p:cNvSpPr/>
          <p:nvPr/>
        </p:nvSpPr>
        <p:spPr>
          <a:xfrm>
            <a:off x="4517136" y="4914900"/>
            <a:ext cx="79552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60" name="Text 56"/>
          <p:cNvSpPr/>
          <p:nvPr/>
        </p:nvSpPr>
        <p:spPr>
          <a:xfrm>
            <a:off x="5385816" y="4914900"/>
            <a:ext cx="70408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61" name="Text 57"/>
          <p:cNvSpPr/>
          <p:nvPr/>
        </p:nvSpPr>
        <p:spPr>
          <a:xfrm>
            <a:off x="6163056" y="4914900"/>
            <a:ext cx="88696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62" name="Text 58"/>
          <p:cNvSpPr/>
          <p:nvPr/>
        </p:nvSpPr>
        <p:spPr>
          <a:xfrm>
            <a:off x="7123176" y="4914900"/>
            <a:ext cx="97840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63" name="Text 59"/>
          <p:cNvSpPr/>
          <p:nvPr/>
        </p:nvSpPr>
        <p:spPr>
          <a:xfrm>
            <a:off x="8174736" y="4914900"/>
            <a:ext cx="612648" cy="3749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70" dirty="0"/>
          </a:p>
        </p:txBody>
      </p:sp>
      <p:sp>
        <p:nvSpPr>
          <p:cNvPr id="64" name="Text 60"/>
          <p:cNvSpPr/>
          <p:nvPr/>
        </p:nvSpPr>
        <p:spPr>
          <a:xfrm>
            <a:off x="9144000" y="316382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focus</a:t>
            </a:r>
            <a:endParaRPr lang="en-US" sz="1140" dirty="0"/>
          </a:p>
        </p:txBody>
      </p:sp>
      <p:sp>
        <p:nvSpPr>
          <p:cNvPr id="65" name="Text 61"/>
          <p:cNvSpPr/>
          <p:nvPr/>
        </p:nvSpPr>
        <p:spPr>
          <a:xfrm>
            <a:off x="9144000" y="3474720"/>
            <a:ext cx="2606040" cy="1810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9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ward representation (0 missing).
Protect observed peak intake periods.
Use the addendum for detailed evidence.</a:t>
            </a:r>
            <a:endParaRPr lang="en-US" sz="940" dirty="0"/>
          </a:p>
        </p:txBody>
      </p:sp>
      <p:sp>
        <p:nvSpPr>
          <p:cNvPr id="66" name="TextBox 65"/>
          <p:cNvSpPr txBox="1"/>
          <p:nvPr/>
        </p:nvSpPr>
        <p:spPr>
          <a:xfrm>
            <a:off x="777240" y="4736592"/>
            <a:ext cx="33375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/>
              <a:t>Reporting 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3840480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/>
              <a:t>Cases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WARD COVERAGE BY MUNICIPALITY / REGION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512064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45920"/>
            <a:ext cx="5120640" cy="393192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039112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432304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2825496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218688"/>
            <a:ext cx="51206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246888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3218688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005072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4791456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" y="1687068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2505456" y="1687068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255264" y="1687068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4041648" y="1687068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828032" y="1687068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539496" y="2080260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2505456" y="2080260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3255264" y="2080260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4041648" y="2080260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828032" y="2080260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539496" y="2473452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2505456" y="2473452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3255264" y="2473452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4041648" y="2473452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828032" y="2473452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39496" y="2866644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2505456" y="2866644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3255264" y="2866644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041648" y="2866644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4828032" y="2866644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539496" y="3259836"/>
            <a:ext cx="1892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2505456" y="3259836"/>
            <a:ext cx="676656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3255264" y="3259836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4041648" y="3259836"/>
            <a:ext cx="71323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4828032" y="3259836"/>
            <a:ext cx="758952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100.0%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5989320" y="1645920"/>
            <a:ext cx="5440680" cy="196596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153912" y="1755648"/>
            <a:ext cx="5111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vs missing wards by area</a:t>
            </a:r>
            <a:endParaRPr lang="en-US" sz="1080" dirty="0"/>
          </a:p>
        </p:txBody>
      </p:sp>
      <p:sp>
        <p:nvSpPr>
          <p:cNvPr id="48" name="Shape 44"/>
          <p:cNvSpPr/>
          <p:nvPr/>
        </p:nvSpPr>
        <p:spPr>
          <a:xfrm>
            <a:off x="6309360" y="2487168"/>
            <a:ext cx="523037" cy="621792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Shape 45"/>
          <p:cNvSpPr/>
          <p:nvPr/>
        </p:nvSpPr>
        <p:spPr>
          <a:xfrm>
            <a:off x="7260336" y="3108960"/>
            <a:ext cx="523037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6"/>
          <p:cNvSpPr/>
          <p:nvPr/>
        </p:nvSpPr>
        <p:spPr>
          <a:xfrm>
            <a:off x="8211312" y="3108960"/>
            <a:ext cx="523037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Shape 47"/>
          <p:cNvSpPr/>
          <p:nvPr/>
        </p:nvSpPr>
        <p:spPr>
          <a:xfrm>
            <a:off x="9162288" y="3108960"/>
            <a:ext cx="523037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Shape 48"/>
          <p:cNvSpPr/>
          <p:nvPr/>
        </p:nvSpPr>
        <p:spPr>
          <a:xfrm>
            <a:off x="10113264" y="2487168"/>
            <a:ext cx="523037" cy="621792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Shape 49"/>
          <p:cNvSpPr/>
          <p:nvPr/>
        </p:nvSpPr>
        <p:spPr>
          <a:xfrm>
            <a:off x="6217920" y="3108960"/>
            <a:ext cx="502920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54" name="Text 50"/>
          <p:cNvSpPr/>
          <p:nvPr/>
        </p:nvSpPr>
        <p:spPr>
          <a:xfrm>
            <a:off x="6153912" y="3337560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vs missing wards</a:t>
            </a:r>
            <a:endParaRPr lang="en-US" sz="660" dirty="0"/>
          </a:p>
        </p:txBody>
      </p:sp>
      <p:sp>
        <p:nvSpPr>
          <p:cNvPr id="55" name="Shape 51"/>
          <p:cNvSpPr/>
          <p:nvPr/>
        </p:nvSpPr>
        <p:spPr>
          <a:xfrm>
            <a:off x="502920" y="3886200"/>
            <a:ext cx="5120640" cy="16002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630936" y="3977640"/>
            <a:ext cx="4864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1140" dirty="0"/>
          </a:p>
        </p:txBody>
      </p:sp>
      <p:sp>
        <p:nvSpPr>
          <p:cNvPr id="57" name="Text 53"/>
          <p:cNvSpPr/>
          <p:nvPr/>
        </p:nvSpPr>
        <p:spPr>
          <a:xfrm>
            <a:off x="630936" y="4270248"/>
            <a:ext cx="486460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configured wards are represented in this extract. Missing-ward names require the approved ward master when coverage is below 100%.</a:t>
            </a:r>
            <a:endParaRPr lang="en-US" sz="960" dirty="0"/>
          </a:p>
        </p:txBody>
      </p:sp>
      <p:sp>
        <p:nvSpPr>
          <p:cNvPr id="58" name="Shape 54"/>
          <p:cNvSpPr/>
          <p:nvPr/>
        </p:nvSpPr>
        <p:spPr>
          <a:xfrm>
            <a:off x="5989320" y="3886200"/>
            <a:ext cx="5440680" cy="16002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9" name="Text 55"/>
          <p:cNvSpPr/>
          <p:nvPr/>
        </p:nvSpPr>
        <p:spPr>
          <a:xfrm>
            <a:off x="6117336" y="3977640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Call-list link</a:t>
            </a:r>
            <a:endParaRPr lang="en-US" sz="1140" dirty="0"/>
          </a:p>
        </p:txBody>
      </p:sp>
      <p:sp>
        <p:nvSpPr>
          <p:cNvPr id="60" name="Text 56"/>
          <p:cNvSpPr/>
          <p:nvPr/>
        </p:nvSpPr>
        <p:spPr>
          <a:xfrm>
            <a:off x="6117336" y="4270248"/>
            <a:ext cx="518464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addendum contains the ward evidence and validation trail.</a:t>
            </a:r>
            <a:endParaRPr lang="en-US" sz="960" dirty="0"/>
          </a:p>
        </p:txBody>
      </p:sp>
      <p:sp>
        <p:nvSpPr>
          <p:cNvPr id="61" name="TextBox 60"/>
          <p:cNvSpPr txBox="1"/>
          <p:nvPr/>
        </p:nvSpPr>
        <p:spPr>
          <a:xfrm>
            <a:off x="6172200" y="2999232"/>
            <a:ext cx="5029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/>
              <a:t>Area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2377439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/>
              <a:t>Wards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CHANNEL AND TIME COVERAGE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5532120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45920"/>
            <a:ext cx="5532120" cy="393192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039112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432304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2825496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218688"/>
            <a:ext cx="55321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164592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237744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297180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794760" y="1645920"/>
            <a:ext cx="0" cy="196596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" y="1687068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682496" y="1687068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2414016" y="1687068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3008376" y="1687068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wards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3831336" y="1687068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note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539496" y="2080260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1682496" y="2080260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2414016" y="2080260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3008376" y="2080260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831336" y="2080260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[e.g., primary coverage lever]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539496" y="2473452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Walk-In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1682496" y="2473452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2414016" y="2473452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3008376" y="2473452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Call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3831336" y="2473452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7,288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539496" y="2866644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94.2%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1682496" y="2866644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concentration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2414016" y="2866644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Call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3008376" y="2866644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3831336" y="2866644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750" dirty="0"/>
          </a:p>
        </p:txBody>
      </p:sp>
      <p:sp>
        <p:nvSpPr>
          <p:cNvPr id="41" name="Text 37"/>
          <p:cNvSpPr/>
          <p:nvPr/>
        </p:nvSpPr>
        <p:spPr>
          <a:xfrm>
            <a:off x="539496" y="3259836"/>
            <a:ext cx="106984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mix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1682496" y="3259836"/>
            <a:ext cx="65836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750" dirty="0"/>
          </a:p>
        </p:txBody>
      </p:sp>
      <p:sp>
        <p:nvSpPr>
          <p:cNvPr id="43" name="Text 39"/>
          <p:cNvSpPr/>
          <p:nvPr/>
        </p:nvSpPr>
        <p:spPr>
          <a:xfrm>
            <a:off x="2414016" y="3259836"/>
            <a:ext cx="5212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3008376" y="3259836"/>
            <a:ext cx="74980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750" dirty="0"/>
          </a:p>
        </p:txBody>
      </p:sp>
      <p:sp>
        <p:nvSpPr>
          <p:cNvPr id="45" name="Text 41"/>
          <p:cNvSpPr/>
          <p:nvPr/>
        </p:nvSpPr>
        <p:spPr>
          <a:xfrm>
            <a:off x="3831336" y="3259836"/>
            <a:ext cx="2167128" cy="3383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Walk-In</a:t>
            </a:r>
            <a:endParaRPr lang="en-US" sz="750" dirty="0"/>
          </a:p>
        </p:txBody>
      </p:sp>
      <p:sp>
        <p:nvSpPr>
          <p:cNvPr id="46" name="Shape 42"/>
          <p:cNvSpPr/>
          <p:nvPr/>
        </p:nvSpPr>
        <p:spPr>
          <a:xfrm>
            <a:off x="6355080" y="1645920"/>
            <a:ext cx="5074920" cy="196596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>
            <a:r>
              <a:t>94</a:t>
            </a:r>
          </a:p>
        </p:txBody>
      </p:sp>
      <p:sp>
        <p:nvSpPr>
          <p:cNvPr id="47" name="Text 43"/>
          <p:cNvSpPr/>
          <p:nvPr/>
        </p:nvSpPr>
        <p:spPr>
          <a:xfrm>
            <a:off x="6519672" y="1755648"/>
            <a:ext cx="4745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1080" dirty="0"/>
          </a:p>
        </p:txBody>
      </p:sp>
      <p:sp>
        <p:nvSpPr>
          <p:cNvPr id="48" name="Shape 44"/>
          <p:cNvSpPr/>
          <p:nvPr/>
        </p:nvSpPr>
        <p:spPr>
          <a:xfrm>
            <a:off x="6675120" y="2487168"/>
            <a:ext cx="482803" cy="621792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>
            <a:r>
              <a:t>Monitor mix</a:t>
            </a:r>
          </a:p>
        </p:txBody>
      </p:sp>
      <p:sp>
        <p:nvSpPr>
          <p:cNvPr id="49" name="Shape 45"/>
          <p:cNvSpPr/>
          <p:nvPr/>
        </p:nvSpPr>
        <p:spPr>
          <a:xfrm>
            <a:off x="7552944" y="3098381"/>
            <a:ext cx="482803" cy="10579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6"/>
          <p:cNvSpPr/>
          <p:nvPr/>
        </p:nvSpPr>
        <p:spPr>
          <a:xfrm>
            <a:off x="8430768" y="3100685"/>
            <a:ext cx="482803" cy="8275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Shape 47"/>
          <p:cNvSpPr/>
          <p:nvPr/>
        </p:nvSpPr>
        <p:spPr>
          <a:xfrm>
            <a:off x="9308592" y="3100941"/>
            <a:ext cx="482803" cy="8019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Shape 48"/>
          <p:cNvSpPr/>
          <p:nvPr/>
        </p:nvSpPr>
        <p:spPr>
          <a:xfrm>
            <a:off x="10186416" y="3105121"/>
            <a:ext cx="482803" cy="3839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Shape 49"/>
          <p:cNvSpPr/>
          <p:nvPr/>
        </p:nvSpPr>
        <p:spPr>
          <a:xfrm>
            <a:off x="6583680" y="3108960"/>
            <a:ext cx="466344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>
            <a:r>
              <a:t>Channel mix</a:t>
            </a:r>
          </a:p>
        </p:txBody>
      </p:sp>
      <p:sp>
        <p:nvSpPr>
          <p:cNvPr id="54" name="Text 50"/>
          <p:cNvSpPr/>
          <p:nvPr/>
        </p:nvSpPr>
        <p:spPr>
          <a:xfrm>
            <a:off x="6519672" y="3337560"/>
            <a:ext cx="4745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55" name="Shape 51"/>
          <p:cNvSpPr/>
          <p:nvPr/>
        </p:nvSpPr>
        <p:spPr>
          <a:xfrm>
            <a:off x="502920" y="3886200"/>
            <a:ext cx="5440680" cy="1627632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667512" y="3995928"/>
            <a:ext cx="5111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coverage / hourly activity</a:t>
            </a:r>
            <a:endParaRPr lang="en-US" sz="1080" dirty="0"/>
          </a:p>
        </p:txBody>
      </p:sp>
      <p:sp>
        <p:nvSpPr>
          <p:cNvPr id="57" name="Shape 53"/>
          <p:cNvSpPr/>
          <p:nvPr/>
        </p:nvSpPr>
        <p:spPr>
          <a:xfrm>
            <a:off x="822960" y="4908078"/>
            <a:ext cx="523037" cy="102834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Shape 54"/>
          <p:cNvSpPr/>
          <p:nvPr/>
        </p:nvSpPr>
        <p:spPr>
          <a:xfrm>
            <a:off x="1773936" y="4818097"/>
            <a:ext cx="523037" cy="192815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Shape 55"/>
          <p:cNvSpPr/>
          <p:nvPr/>
        </p:nvSpPr>
        <p:spPr>
          <a:xfrm>
            <a:off x="2724912" y="4895223"/>
            <a:ext cx="523037" cy="115689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6"/>
          <p:cNvSpPr/>
          <p:nvPr/>
        </p:nvSpPr>
        <p:spPr>
          <a:xfrm>
            <a:off x="3675888" y="4676699"/>
            <a:ext cx="523037" cy="334213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Shape 57"/>
          <p:cNvSpPr/>
          <p:nvPr/>
        </p:nvSpPr>
        <p:spPr>
          <a:xfrm>
            <a:off x="4626864" y="4728117"/>
            <a:ext cx="523037" cy="282795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" name="Shape 58"/>
          <p:cNvSpPr/>
          <p:nvPr/>
        </p:nvSpPr>
        <p:spPr>
          <a:xfrm>
            <a:off x="731520" y="5010912"/>
            <a:ext cx="502920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63" name="Text 59"/>
          <p:cNvSpPr/>
          <p:nvPr/>
        </p:nvSpPr>
        <p:spPr>
          <a:xfrm>
            <a:off x="667512" y="5239512"/>
            <a:ext cx="5111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64" name="Shape 60"/>
          <p:cNvSpPr/>
          <p:nvPr/>
        </p:nvSpPr>
        <p:spPr>
          <a:xfrm>
            <a:off x="6355080" y="3886200"/>
            <a:ext cx="5074920" cy="162763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65" name="Text 61"/>
          <p:cNvSpPr/>
          <p:nvPr/>
        </p:nvSpPr>
        <p:spPr>
          <a:xfrm>
            <a:off x="6483096" y="3977640"/>
            <a:ext cx="4818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management should see</a:t>
            </a:r>
            <a:endParaRPr lang="en-US" sz="1140" dirty="0"/>
          </a:p>
        </p:txBody>
      </p:sp>
      <p:sp>
        <p:nvSpPr>
          <p:cNvPr id="66" name="Text 62"/>
          <p:cNvSpPr/>
          <p:nvPr/>
        </p:nvSpPr>
        <p:spPr>
          <a:xfrm>
            <a:off x="6483096" y="4270248"/>
            <a:ext cx="4818888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window: 07:06–14:31. Peak: 13:00 (26 cases).</a:t>
            </a:r>
            <a:endParaRPr lang="en-US" sz="960" dirty="0"/>
          </a:p>
        </p:txBody>
      </p:sp>
      <p:sp>
        <p:nvSpPr>
          <p:cNvPr id="67" name="TextBox 66"/>
          <p:cNvSpPr txBox="1"/>
          <p:nvPr/>
        </p:nvSpPr>
        <p:spPr>
          <a:xfrm>
            <a:off x="6172200" y="2999232"/>
            <a:ext cx="50292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/>
              <a:t>Channel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2377439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/>
              <a:t>Cases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4370832"/>
            <a:ext cx="5120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/>
              <a:t>Hour of 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3703320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/>
              <a:t>Cases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SERVICES AND DEMAND MIX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45920"/>
            <a:ext cx="4800600" cy="210312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67512" y="1755648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services logged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822960" y="2507742"/>
            <a:ext cx="452628" cy="738378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1645920" y="2773524"/>
            <a:ext cx="452628" cy="472596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2468880" y="2778293"/>
            <a:ext cx="452628" cy="467827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3291840" y="2995948"/>
            <a:ext cx="452628" cy="250172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4114800" y="3101306"/>
            <a:ext cx="452628" cy="144814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31520" y="3246120"/>
            <a:ext cx="438912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667512" y="3474720"/>
            <a:ext cx="4471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service-demand categories by cases</a:t>
            </a:r>
            <a:endParaRPr lang="en-US" sz="660" dirty="0"/>
          </a:p>
        </p:txBody>
      </p:sp>
      <p:sp>
        <p:nvSpPr>
          <p:cNvPr id="20" name="Shape 16"/>
          <p:cNvSpPr/>
          <p:nvPr/>
        </p:nvSpPr>
        <p:spPr>
          <a:xfrm>
            <a:off x="5623560" y="1645920"/>
            <a:ext cx="5715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5623560" y="1645920"/>
            <a:ext cx="5715000" cy="420624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5623560" y="2066544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5623560" y="2487168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5623560" y="2907792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5623560" y="3328416"/>
            <a:ext cx="57150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6" name="Shape 22"/>
          <p:cNvSpPr/>
          <p:nvPr/>
        </p:nvSpPr>
        <p:spPr>
          <a:xfrm>
            <a:off x="749808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813816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8732520" y="1645920"/>
            <a:ext cx="0" cy="210312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5660136" y="1687068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/ cluster</a:t>
            </a:r>
            <a:endParaRPr lang="en-US" sz="790" dirty="0"/>
          </a:p>
        </p:txBody>
      </p:sp>
      <p:sp>
        <p:nvSpPr>
          <p:cNvPr id="30" name="Text 26"/>
          <p:cNvSpPr/>
          <p:nvPr/>
        </p:nvSpPr>
        <p:spPr>
          <a:xfrm>
            <a:off x="7534656" y="1687068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</a:t>
            </a:r>
            <a:endParaRPr lang="en-US" sz="790" dirty="0"/>
          </a:p>
        </p:txBody>
      </p:sp>
      <p:sp>
        <p:nvSpPr>
          <p:cNvPr id="31" name="Text 27"/>
          <p:cNvSpPr/>
          <p:nvPr/>
        </p:nvSpPr>
        <p:spPr>
          <a:xfrm>
            <a:off x="8174736" y="1687068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90" dirty="0"/>
          </a:p>
        </p:txBody>
      </p:sp>
      <p:sp>
        <p:nvSpPr>
          <p:cNvPr id="32" name="Text 28"/>
          <p:cNvSpPr/>
          <p:nvPr/>
        </p:nvSpPr>
        <p:spPr>
          <a:xfrm>
            <a:off x="8769096" y="1687068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790" dirty="0"/>
          </a:p>
        </p:txBody>
      </p:sp>
      <p:sp>
        <p:nvSpPr>
          <p:cNvPr id="33" name="Text 29"/>
          <p:cNvSpPr/>
          <p:nvPr/>
        </p:nvSpPr>
        <p:spPr>
          <a:xfrm>
            <a:off x="5660136" y="2107692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Roads Services</a:t>
            </a:r>
            <a:endParaRPr lang="en-US" sz="790" dirty="0"/>
          </a:p>
        </p:txBody>
      </p:sp>
      <p:sp>
        <p:nvSpPr>
          <p:cNvPr id="34" name="Text 30"/>
          <p:cNvSpPr/>
          <p:nvPr/>
        </p:nvSpPr>
        <p:spPr>
          <a:xfrm>
            <a:off x="7534656" y="2107692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1,703</a:t>
            </a:r>
            <a:endParaRPr lang="en-US" sz="790" dirty="0"/>
          </a:p>
        </p:txBody>
      </p:sp>
      <p:sp>
        <p:nvSpPr>
          <p:cNvPr id="35" name="Text 31"/>
          <p:cNvSpPr/>
          <p:nvPr/>
        </p:nvSpPr>
        <p:spPr>
          <a:xfrm>
            <a:off x="8174736" y="2107692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22.0%</a:t>
            </a:r>
            <a:endParaRPr lang="en-US" sz="790" dirty="0"/>
          </a:p>
        </p:txBody>
      </p:sp>
      <p:sp>
        <p:nvSpPr>
          <p:cNvPr id="36" name="Text 32"/>
          <p:cNvSpPr/>
          <p:nvPr/>
        </p:nvSpPr>
        <p:spPr>
          <a:xfrm>
            <a:off x="8769096" y="2107692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demand category</a:t>
            </a:r>
            <a:endParaRPr lang="en-US" sz="790" dirty="0"/>
          </a:p>
        </p:txBody>
      </p:sp>
      <p:sp>
        <p:nvSpPr>
          <p:cNvPr id="37" name="Text 33"/>
          <p:cNvSpPr/>
          <p:nvPr/>
        </p:nvSpPr>
        <p:spPr>
          <a:xfrm>
            <a:off x="5660136" y="2528316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Electricity Services</a:t>
            </a:r>
            <a:endParaRPr lang="en-US" sz="790" dirty="0"/>
          </a:p>
        </p:txBody>
      </p:sp>
      <p:sp>
        <p:nvSpPr>
          <p:cNvPr id="38" name="Text 34"/>
          <p:cNvSpPr/>
          <p:nvPr/>
        </p:nvSpPr>
        <p:spPr>
          <a:xfrm>
            <a:off x="7534656" y="2528316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1,090</a:t>
            </a:r>
            <a:endParaRPr lang="en-US" sz="790" dirty="0"/>
          </a:p>
        </p:txBody>
      </p:sp>
      <p:sp>
        <p:nvSpPr>
          <p:cNvPr id="39" name="Text 35"/>
          <p:cNvSpPr/>
          <p:nvPr/>
        </p:nvSpPr>
        <p:spPr>
          <a:xfrm>
            <a:off x="8174736" y="2528316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14.1%</a:t>
            </a:r>
            <a:endParaRPr lang="en-US" sz="790" dirty="0"/>
          </a:p>
        </p:txBody>
      </p:sp>
      <p:sp>
        <p:nvSpPr>
          <p:cNvPr id="40" name="Text 36"/>
          <p:cNvSpPr/>
          <p:nvPr/>
        </p:nvSpPr>
        <p:spPr>
          <a:xfrm>
            <a:off x="8769096" y="2528316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indicator</a:t>
            </a:r>
            <a:endParaRPr lang="en-US" sz="790" dirty="0"/>
          </a:p>
        </p:txBody>
      </p:sp>
      <p:sp>
        <p:nvSpPr>
          <p:cNvPr id="41" name="Text 37"/>
          <p:cNvSpPr/>
          <p:nvPr/>
        </p:nvSpPr>
        <p:spPr>
          <a:xfrm>
            <a:off x="5660136" y="2948940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Services</a:t>
            </a:r>
            <a:endParaRPr lang="en-US" sz="790" dirty="0"/>
          </a:p>
        </p:txBody>
      </p:sp>
      <p:sp>
        <p:nvSpPr>
          <p:cNvPr id="42" name="Text 38"/>
          <p:cNvSpPr/>
          <p:nvPr/>
        </p:nvSpPr>
        <p:spPr>
          <a:xfrm>
            <a:off x="7534656" y="2948940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1,079</a:t>
            </a:r>
            <a:endParaRPr lang="en-US" sz="790" dirty="0"/>
          </a:p>
        </p:txBody>
      </p:sp>
      <p:sp>
        <p:nvSpPr>
          <p:cNvPr id="43" name="Text 39"/>
          <p:cNvSpPr/>
          <p:nvPr/>
        </p:nvSpPr>
        <p:spPr>
          <a:xfrm>
            <a:off x="8174736" y="2948940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13.9%</a:t>
            </a:r>
            <a:endParaRPr lang="en-US" sz="790" dirty="0"/>
          </a:p>
        </p:txBody>
      </p:sp>
      <p:sp>
        <p:nvSpPr>
          <p:cNvPr id="44" name="Text 40"/>
          <p:cNvSpPr/>
          <p:nvPr/>
        </p:nvSpPr>
        <p:spPr>
          <a:xfrm>
            <a:off x="8769096" y="2948940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indicator</a:t>
            </a:r>
            <a:endParaRPr lang="en-US" sz="790" dirty="0"/>
          </a:p>
        </p:txBody>
      </p:sp>
      <p:sp>
        <p:nvSpPr>
          <p:cNvPr id="45" name="Text 41"/>
          <p:cNvSpPr/>
          <p:nvPr/>
        </p:nvSpPr>
        <p:spPr>
          <a:xfrm>
            <a:off x="5660136" y="3369564"/>
            <a:ext cx="18013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790" dirty="0"/>
          </a:p>
        </p:txBody>
      </p:sp>
      <p:sp>
        <p:nvSpPr>
          <p:cNvPr id="46" name="Text 42"/>
          <p:cNvSpPr/>
          <p:nvPr/>
        </p:nvSpPr>
        <p:spPr>
          <a:xfrm>
            <a:off x="7534656" y="3369564"/>
            <a:ext cx="56692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2,896</a:t>
            </a:r>
            <a:endParaRPr lang="en-US" sz="790" dirty="0"/>
          </a:p>
        </p:txBody>
      </p:sp>
      <p:sp>
        <p:nvSpPr>
          <p:cNvPr id="47" name="Text 43"/>
          <p:cNvSpPr/>
          <p:nvPr/>
        </p:nvSpPr>
        <p:spPr>
          <a:xfrm>
            <a:off x="8174736" y="3369564"/>
            <a:ext cx="52120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42.8%</a:t>
            </a:r>
            <a:endParaRPr lang="en-US" sz="790" dirty="0"/>
          </a:p>
        </p:txBody>
      </p:sp>
      <p:sp>
        <p:nvSpPr>
          <p:cNvPr id="48" name="Text 44"/>
          <p:cNvSpPr/>
          <p:nvPr/>
        </p:nvSpPr>
        <p:spPr>
          <a:xfrm>
            <a:off x="8769096" y="3369564"/>
            <a:ext cx="253288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categories</a:t>
            </a:r>
            <a:endParaRPr lang="en-US" sz="790" dirty="0"/>
          </a:p>
        </p:txBody>
      </p:sp>
      <p:sp>
        <p:nvSpPr>
          <p:cNvPr id="49" name="Shape 45"/>
          <p:cNvSpPr/>
          <p:nvPr/>
        </p:nvSpPr>
        <p:spPr>
          <a:xfrm>
            <a:off x="502920" y="4005072"/>
            <a:ext cx="5257800" cy="135331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30936" y="4096512"/>
            <a:ext cx="5001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rule</a:t>
            </a:r>
            <a:endParaRPr lang="en-US" sz="1140" dirty="0"/>
          </a:p>
        </p:txBody>
      </p:sp>
      <p:sp>
        <p:nvSpPr>
          <p:cNvPr id="51" name="Text 47"/>
          <p:cNvSpPr/>
          <p:nvPr/>
        </p:nvSpPr>
        <p:spPr>
          <a:xfrm>
            <a:off x="630936" y="4389120"/>
            <a:ext cx="5001768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demand concentration to target follow-up; do not interpret case volume as departmental performance.</a:t>
            </a:r>
            <a:endParaRPr lang="en-US" sz="960" dirty="0"/>
          </a:p>
        </p:txBody>
      </p:sp>
      <p:sp>
        <p:nvSpPr>
          <p:cNvPr id="52" name="Shape 48"/>
          <p:cNvSpPr/>
          <p:nvPr/>
        </p:nvSpPr>
        <p:spPr>
          <a:xfrm>
            <a:off x="6080760" y="4005072"/>
            <a:ext cx="5257800" cy="1353312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6208776" y="4096512"/>
            <a:ext cx="5001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prompts</a:t>
            </a:r>
            <a:endParaRPr lang="en-US" sz="1140" dirty="0"/>
          </a:p>
        </p:txBody>
      </p:sp>
      <p:sp>
        <p:nvSpPr>
          <p:cNvPr id="54" name="Text 50"/>
          <p:cNvSpPr/>
          <p:nvPr/>
        </p:nvSpPr>
        <p:spPr>
          <a:xfrm>
            <a:off x="6208776" y="4389120"/>
            <a:ext cx="5001768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addendum for low-volume services and ward-level detail.</a:t>
            </a:r>
            <a:endParaRPr lang="en-US" sz="960" dirty="0"/>
          </a:p>
        </p:txBody>
      </p:sp>
      <p:sp>
        <p:nvSpPr>
          <p:cNvPr id="55" name="TextBox 54"/>
          <p:cNvSpPr txBox="1"/>
          <p:nvPr/>
        </p:nvSpPr>
        <p:spPr>
          <a:xfrm>
            <a:off x="685800" y="2999232"/>
            <a:ext cx="4297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/>
              <a:t>Service category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77439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/>
              <a:t>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VOICE OF THE CITIZEN AND RESOLUTION POSITION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9436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4922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922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responses</a:t>
            </a:r>
            <a:endParaRPr lang="en-US" sz="770" dirty="0"/>
          </a:p>
        </p:txBody>
      </p:sp>
      <p:sp>
        <p:nvSpPr>
          <p:cNvPr id="14" name="Shape 10"/>
          <p:cNvSpPr/>
          <p:nvPr/>
        </p:nvSpPr>
        <p:spPr>
          <a:xfrm>
            <a:off x="269748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75234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74.2%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75234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Happiness</a:t>
            </a:r>
            <a:endParaRPr lang="en-US" sz="770" dirty="0"/>
          </a:p>
        </p:txBody>
      </p:sp>
      <p:sp>
        <p:nvSpPr>
          <p:cNvPr id="17" name="Shape 13"/>
          <p:cNvSpPr/>
          <p:nvPr/>
        </p:nvSpPr>
        <p:spPr>
          <a:xfrm>
            <a:off x="480060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485546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85546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cases</a:t>
            </a:r>
            <a:endParaRPr lang="en-US" sz="770" dirty="0"/>
          </a:p>
        </p:txBody>
      </p:sp>
      <p:sp>
        <p:nvSpPr>
          <p:cNvPr id="20" name="Shape 16"/>
          <p:cNvSpPr/>
          <p:nvPr/>
        </p:nvSpPr>
        <p:spPr>
          <a:xfrm>
            <a:off x="690372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695858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31/33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695858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Survey-ready</a:t>
            </a:r>
            <a:endParaRPr lang="en-US" sz="770" dirty="0"/>
          </a:p>
        </p:txBody>
      </p:sp>
      <p:sp>
        <p:nvSpPr>
          <p:cNvPr id="23" name="Shape 19"/>
          <p:cNvSpPr/>
          <p:nvPr/>
        </p:nvSpPr>
        <p:spPr>
          <a:xfrm>
            <a:off x="9006840" y="167335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F2B200"/>
          </a:solidFill>
          <a:ln w="12700">
            <a:solidFill>
              <a:srgbClr val="F2B200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9061704" y="178308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9061704" y="2103120"/>
            <a:ext cx="1719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availability</a:t>
            </a:r>
            <a:endParaRPr lang="en-US" sz="770" dirty="0"/>
          </a:p>
        </p:txBody>
      </p:sp>
      <p:sp>
        <p:nvSpPr>
          <p:cNvPr id="26" name="Shape 22"/>
          <p:cNvSpPr/>
          <p:nvPr/>
        </p:nvSpPr>
        <p:spPr>
          <a:xfrm>
            <a:off x="685800" y="2834640"/>
            <a:ext cx="516636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685800" y="2834640"/>
            <a:ext cx="5166360" cy="560070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685800" y="339471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685800" y="395478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685800" y="4514850"/>
            <a:ext cx="516636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31" name="Shape 27"/>
          <p:cNvSpPr/>
          <p:nvPr/>
        </p:nvSpPr>
        <p:spPr>
          <a:xfrm>
            <a:off x="219456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310896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3" name="Shape 29"/>
          <p:cNvSpPr/>
          <p:nvPr/>
        </p:nvSpPr>
        <p:spPr>
          <a:xfrm>
            <a:off x="4343400" y="2834640"/>
            <a:ext cx="0" cy="224028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722376" y="287578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/ queue</a:t>
            </a:r>
            <a:endParaRPr lang="en-US" sz="790" dirty="0"/>
          </a:p>
        </p:txBody>
      </p:sp>
      <p:sp>
        <p:nvSpPr>
          <p:cNvPr id="35" name="Text 31"/>
          <p:cNvSpPr/>
          <p:nvPr/>
        </p:nvSpPr>
        <p:spPr>
          <a:xfrm>
            <a:off x="2231136" y="287578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</a:t>
            </a:r>
            <a:endParaRPr lang="en-US" sz="790" dirty="0"/>
          </a:p>
        </p:txBody>
      </p:sp>
      <p:sp>
        <p:nvSpPr>
          <p:cNvPr id="36" name="Text 32"/>
          <p:cNvSpPr/>
          <p:nvPr/>
        </p:nvSpPr>
        <p:spPr>
          <a:xfrm>
            <a:off x="3145536" y="287578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790" dirty="0"/>
          </a:p>
        </p:txBody>
      </p:sp>
      <p:sp>
        <p:nvSpPr>
          <p:cNvPr id="37" name="Text 33"/>
          <p:cNvSpPr/>
          <p:nvPr/>
        </p:nvSpPr>
        <p:spPr>
          <a:xfrm>
            <a:off x="4379976" y="287578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790" dirty="0"/>
          </a:p>
        </p:txBody>
      </p:sp>
      <p:sp>
        <p:nvSpPr>
          <p:cNvPr id="38" name="Text 34"/>
          <p:cNvSpPr/>
          <p:nvPr/>
        </p:nvSpPr>
        <p:spPr>
          <a:xfrm>
            <a:off x="722376" y="343585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39" name="Text 35"/>
          <p:cNvSpPr/>
          <p:nvPr/>
        </p:nvSpPr>
        <p:spPr>
          <a:xfrm>
            <a:off x="2231136" y="343585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0" name="Text 36"/>
          <p:cNvSpPr/>
          <p:nvPr/>
        </p:nvSpPr>
        <p:spPr>
          <a:xfrm>
            <a:off x="3145536" y="343585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1" name="Text 37"/>
          <p:cNvSpPr/>
          <p:nvPr/>
        </p:nvSpPr>
        <p:spPr>
          <a:xfrm>
            <a:off x="4379976" y="343585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42" name="Text 38"/>
          <p:cNvSpPr/>
          <p:nvPr/>
        </p:nvSpPr>
        <p:spPr>
          <a:xfrm>
            <a:off x="722376" y="399592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3" name="Text 39"/>
          <p:cNvSpPr/>
          <p:nvPr/>
        </p:nvSpPr>
        <p:spPr>
          <a:xfrm>
            <a:off x="2231136" y="399592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4" name="Text 40"/>
          <p:cNvSpPr/>
          <p:nvPr/>
        </p:nvSpPr>
        <p:spPr>
          <a:xfrm>
            <a:off x="3145536" y="399592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5" name="Text 41"/>
          <p:cNvSpPr/>
          <p:nvPr/>
        </p:nvSpPr>
        <p:spPr>
          <a:xfrm>
            <a:off x="4379976" y="399592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46" name="Text 42"/>
          <p:cNvSpPr/>
          <p:nvPr/>
        </p:nvSpPr>
        <p:spPr>
          <a:xfrm>
            <a:off x="722376" y="455599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7" name="Text 43"/>
          <p:cNvSpPr/>
          <p:nvPr/>
        </p:nvSpPr>
        <p:spPr>
          <a:xfrm>
            <a:off x="2231136" y="4555998"/>
            <a:ext cx="84124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90" dirty="0"/>
          </a:p>
        </p:txBody>
      </p:sp>
      <p:sp>
        <p:nvSpPr>
          <p:cNvPr id="48" name="Text 44"/>
          <p:cNvSpPr/>
          <p:nvPr/>
        </p:nvSpPr>
        <p:spPr>
          <a:xfrm>
            <a:off x="3145536" y="4555998"/>
            <a:ext cx="116128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available</a:t>
            </a:r>
            <a:endParaRPr lang="en-US" sz="790" dirty="0"/>
          </a:p>
        </p:txBody>
      </p:sp>
      <p:sp>
        <p:nvSpPr>
          <p:cNvPr id="49" name="Text 45"/>
          <p:cNvSpPr/>
          <p:nvPr/>
        </p:nvSpPr>
        <p:spPr>
          <a:xfrm>
            <a:off x="4379976" y="4555998"/>
            <a:ext cx="1435608" cy="50520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verify / close</a:t>
            </a:r>
            <a:endParaRPr lang="en-US" sz="790" dirty="0"/>
          </a:p>
        </p:txBody>
      </p:sp>
      <p:sp>
        <p:nvSpPr>
          <p:cNvPr id="50" name="Shape 46"/>
          <p:cNvSpPr/>
          <p:nvPr/>
        </p:nvSpPr>
        <p:spPr>
          <a:xfrm>
            <a:off x="6217920" y="2834640"/>
            <a:ext cx="4983480" cy="224028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1" name="Text 47"/>
          <p:cNvSpPr/>
          <p:nvPr/>
        </p:nvSpPr>
        <p:spPr>
          <a:xfrm>
            <a:off x="6345936" y="2926080"/>
            <a:ext cx="4727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reporting rule</a:t>
            </a:r>
            <a:endParaRPr lang="en-US" sz="1140" dirty="0"/>
          </a:p>
        </p:txBody>
      </p:sp>
      <p:sp>
        <p:nvSpPr>
          <p:cNvPr id="52" name="Text 48"/>
          <p:cNvSpPr/>
          <p:nvPr/>
        </p:nvSpPr>
        <p:spPr>
          <a:xfrm>
            <a:off x="6345936" y="3218688"/>
            <a:ext cx="4727448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source supplied. Metrics are calculated only from supported response fields; detailed responses remain in the addendum.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auteng_logo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73152"/>
            <a:ext cx="2788920" cy="786384"/>
          </a:xfrm>
          <a:prstGeom prst="rect">
            <a:avLst/>
          </a:prstGeom>
        </p:spPr>
      </p:pic>
      <p:pic>
        <p:nvPicPr>
          <p:cNvPr id="3" name="Image 1" descr="/mnt/data/ggt2030_logo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09728"/>
            <a:ext cx="20574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64592" y="941832"/>
            <a:ext cx="11859768" cy="393192"/>
          </a:xfrm>
          <a:prstGeom prst="rect">
            <a:avLst/>
          </a:prstGeom>
          <a:solidFill>
            <a:srgbClr val="0058A8"/>
          </a:solidFill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5" name="Text 1"/>
          <p:cNvSpPr/>
          <p:nvPr/>
        </p:nvSpPr>
        <p:spPr>
          <a:xfrm>
            <a:off x="320040" y="1005840"/>
            <a:ext cx="9098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ACTIONS, DATA QUALITY AND MANAGEMENT DECISIONS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0378440" y="987552"/>
            <a:ext cx="1417320" cy="26517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10378440" y="1028700"/>
            <a:ext cx="1417320" cy="164592"/>
          </a:xfrm>
          <a:prstGeom prst="rect">
            <a:avLst/>
          </a:prstGeom>
          <a:solidFill>
            <a:srgbClr val="00A65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164592" y="6446520"/>
            <a:ext cx="11841480" cy="0"/>
          </a:xfrm>
          <a:prstGeom prst="line">
            <a:avLst/>
          </a:prstGeom>
          <a:noFill/>
          <a:ln w="1270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182880" y="6519672"/>
            <a:ext cx="7955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70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Ekurhuleni | INTERNAL SDI OPERATIONS REPORTING | 25 August 2026 | 15:00</a:t>
            </a:r>
            <a:endParaRPr lang="en-US" sz="570" dirty="0"/>
          </a:p>
        </p:txBody>
      </p:sp>
      <p:sp>
        <p:nvSpPr>
          <p:cNvPr id="10" name="Text 6"/>
          <p:cNvSpPr/>
          <p:nvPr/>
        </p:nvSpPr>
        <p:spPr>
          <a:xfrm>
            <a:off x="8412480" y="651967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7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570" dirty="0"/>
          </a:p>
        </p:txBody>
      </p:sp>
      <p:sp>
        <p:nvSpPr>
          <p:cNvPr id="11" name="Shape 7"/>
          <p:cNvSpPr/>
          <p:nvPr/>
        </p:nvSpPr>
        <p:spPr>
          <a:xfrm>
            <a:off x="502920" y="1691640"/>
            <a:ext cx="580644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02920" y="1691640"/>
            <a:ext cx="5806440" cy="475488"/>
          </a:xfrm>
          <a:prstGeom prst="rect">
            <a:avLst/>
          </a:prstGeom>
          <a:solidFill>
            <a:srgbClr val="0058A8"/>
          </a:solidFill>
          <a:ln w="6350">
            <a:solidFill>
              <a:srgbClr val="0058A8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502920" y="2167128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02920" y="2642616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02920" y="3118104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02920" y="3593592"/>
            <a:ext cx="58064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201168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324612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89120" y="1691640"/>
            <a:ext cx="0" cy="2377440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539496" y="1732788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2048256" y="1732788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282696" y="1732788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425696" y="1732788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check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39496" y="2208276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wards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2048256" y="2208276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lead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3282696" y="2208276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close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425696" y="2208276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wards validated/assigned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39496" y="2683764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Channel/time gap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048256" y="2683764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3282696" y="2683764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operating window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4425696" y="2683764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hours protected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539496" y="3159252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queue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2048256" y="3159252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lead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3282696" y="3159252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period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4425696" y="3159252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VOC responses reviewed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39496" y="3634740"/>
            <a:ext cx="143560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2048256" y="3634740"/>
            <a:ext cx="11612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lead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3282696" y="3634740"/>
            <a:ext cx="106984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circulation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425696" y="3634740"/>
            <a:ext cx="1847088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quality findings reviewed</a:t>
            </a:r>
            <a:endParaRPr lang="en-US" sz="800" dirty="0"/>
          </a:p>
        </p:txBody>
      </p:sp>
      <p:sp>
        <p:nvSpPr>
          <p:cNvPr id="40" name="Shape 36"/>
          <p:cNvSpPr/>
          <p:nvPr/>
        </p:nvSpPr>
        <p:spPr>
          <a:xfrm>
            <a:off x="6629400" y="1691640"/>
            <a:ext cx="4709160" cy="2377440"/>
          </a:xfrm>
          <a:prstGeom prst="rect">
            <a:avLst/>
          </a:prstGeom>
          <a:solidFill>
            <a:srgbClr val="F8FAFC"/>
          </a:solidFill>
          <a:ln w="1143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6793992" y="1801368"/>
            <a:ext cx="4379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control load</a:t>
            </a:r>
            <a:endParaRPr lang="en-US" sz="1080" dirty="0"/>
          </a:p>
        </p:txBody>
      </p:sp>
      <p:sp>
        <p:nvSpPr>
          <p:cNvPr id="42" name="Shape 38"/>
          <p:cNvSpPr/>
          <p:nvPr/>
        </p:nvSpPr>
        <p:spPr>
          <a:xfrm>
            <a:off x="6949440" y="3566160"/>
            <a:ext cx="442570" cy="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Shape 39"/>
          <p:cNvSpPr/>
          <p:nvPr/>
        </p:nvSpPr>
        <p:spPr>
          <a:xfrm>
            <a:off x="7754112" y="3536720"/>
            <a:ext cx="442570" cy="2944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0"/>
          <p:cNvSpPr/>
          <p:nvPr/>
        </p:nvSpPr>
        <p:spPr>
          <a:xfrm>
            <a:off x="8558784" y="2594610"/>
            <a:ext cx="442570" cy="97155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Shape 41"/>
          <p:cNvSpPr/>
          <p:nvPr/>
        </p:nvSpPr>
        <p:spPr>
          <a:xfrm>
            <a:off x="9363456" y="3448397"/>
            <a:ext cx="442570" cy="117763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Shape 42"/>
          <p:cNvSpPr/>
          <p:nvPr/>
        </p:nvSpPr>
        <p:spPr>
          <a:xfrm>
            <a:off x="10168128" y="3536720"/>
            <a:ext cx="442570" cy="29440"/>
          </a:xfrm>
          <a:prstGeom prst="rect">
            <a:avLst/>
          </a:prstGeom>
          <a:solidFill>
            <a:srgbClr val="0058A8">
              <a:alpha val="85000"/>
            </a:srgbClr>
          </a:solidFill>
          <a:ln w="12700">
            <a:solidFill>
              <a:srgbClr val="0058A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3"/>
          <p:cNvSpPr/>
          <p:nvPr/>
        </p:nvSpPr>
        <p:spPr>
          <a:xfrm>
            <a:off x="6858000" y="3566160"/>
            <a:ext cx="4297680" cy="0"/>
          </a:xfrm>
          <a:prstGeom prst="line">
            <a:avLst/>
          </a:prstGeom>
          <a:noFill/>
          <a:ln w="6350">
            <a:solidFill>
              <a:srgbClr val="A6A6A6"/>
            </a:solidFill>
            <a:prstDash val="solid"/>
          </a:ln>
        </p:spPr>
        <p:txBody>
          <a:bodyPr/>
          <a:p/>
        </p:txBody>
      </p:sp>
      <p:sp>
        <p:nvSpPr>
          <p:cNvPr id="48" name="Text 44"/>
          <p:cNvSpPr/>
          <p:nvPr/>
        </p:nvSpPr>
        <p:spPr>
          <a:xfrm>
            <a:off x="6793992" y="3794760"/>
            <a:ext cx="4379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i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660" dirty="0"/>
          </a:p>
        </p:txBody>
      </p:sp>
      <p:sp>
        <p:nvSpPr>
          <p:cNvPr id="49" name="Shape 45"/>
          <p:cNvSpPr/>
          <p:nvPr/>
        </p:nvSpPr>
        <p:spPr>
          <a:xfrm>
            <a:off x="50292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0" name="Text 46"/>
          <p:cNvSpPr/>
          <p:nvPr/>
        </p:nvSpPr>
        <p:spPr>
          <a:xfrm>
            <a:off x="63093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needed</a:t>
            </a:r>
            <a:endParaRPr lang="en-US" sz="1140" dirty="0"/>
          </a:p>
        </p:txBody>
      </p:sp>
      <p:sp>
        <p:nvSpPr>
          <p:cNvPr id="51" name="Text 47"/>
          <p:cNvSpPr/>
          <p:nvPr/>
        </p:nvSpPr>
        <p:spPr>
          <a:xfrm>
            <a:off x="63093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and assign the 0 unrepresented wards before the next operational close.</a:t>
            </a:r>
            <a:endParaRPr lang="en-US" sz="960" dirty="0"/>
          </a:p>
        </p:txBody>
      </p:sp>
      <p:sp>
        <p:nvSpPr>
          <p:cNvPr id="52" name="Shape 48"/>
          <p:cNvSpPr/>
          <p:nvPr/>
        </p:nvSpPr>
        <p:spPr>
          <a:xfrm>
            <a:off x="425196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3" name="Text 49"/>
          <p:cNvSpPr/>
          <p:nvPr/>
        </p:nvSpPr>
        <p:spPr>
          <a:xfrm>
            <a:off x="437997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caveat</a:t>
            </a:r>
            <a:endParaRPr lang="en-US" sz="1140" dirty="0"/>
          </a:p>
        </p:txBody>
      </p:sp>
      <p:sp>
        <p:nvSpPr>
          <p:cNvPr id="54" name="Text 50"/>
          <p:cNvSpPr/>
          <p:nvPr/>
        </p:nvSpPr>
        <p:spPr>
          <a:xfrm>
            <a:off x="437997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Area-level municipality breakdown requires a validated ward/master reference mapping.</a:t>
            </a:r>
            <a:endParaRPr lang="en-US" sz="960" dirty="0"/>
          </a:p>
        </p:txBody>
      </p:sp>
      <p:sp>
        <p:nvSpPr>
          <p:cNvPr id="55" name="Shape 51"/>
          <p:cNvSpPr/>
          <p:nvPr/>
        </p:nvSpPr>
        <p:spPr>
          <a:xfrm>
            <a:off x="8001000" y="4343400"/>
            <a:ext cx="3429000" cy="1143000"/>
          </a:xfrm>
          <a:prstGeom prst="rect">
            <a:avLst/>
          </a:prstGeom>
          <a:solidFill>
            <a:srgbClr val="EAF3FB"/>
          </a:solidFill>
          <a:ln w="10160">
            <a:solidFill>
              <a:srgbClr val="D9E2F3"/>
            </a:solidFill>
            <a:prstDash val="solid"/>
          </a:ln>
        </p:spPr>
        <p:txBody>
          <a:bodyPr/>
          <a:p/>
        </p:txBody>
      </p:sp>
      <p:sp>
        <p:nvSpPr>
          <p:cNvPr id="56" name="Text 52"/>
          <p:cNvSpPr/>
          <p:nvPr/>
        </p:nvSpPr>
        <p:spPr>
          <a:xfrm>
            <a:off x="8129016" y="4434840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b="1" dirty="0">
                <a:solidFill>
                  <a:srgbClr val="005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Addendum pointer</a:t>
            </a:r>
            <a:endParaRPr lang="en-US" sz="1140" dirty="0"/>
          </a:p>
        </p:txBody>
      </p:sp>
      <p:sp>
        <p:nvSpPr>
          <p:cNvPr id="57" name="Text 53"/>
          <p:cNvSpPr/>
          <p:nvPr/>
        </p:nvSpPr>
        <p:spPr>
          <a:xfrm>
            <a:off x="8129016" y="4727448"/>
            <a:ext cx="3172968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graphs, accounted wards, missing wards, time logs and correction registers are attached separately.</a:t>
            </a:r>
            <a:endParaRPr lang="en-US" sz="960" dirty="0"/>
          </a:p>
        </p:txBody>
      </p:sp>
      <p:sp>
        <p:nvSpPr>
          <p:cNvPr id="58" name="TextBox 57"/>
          <p:cNvSpPr txBox="1"/>
          <p:nvPr/>
        </p:nvSpPr>
        <p:spPr>
          <a:xfrm>
            <a:off x="6812280" y="2999232"/>
            <a:ext cx="43891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/>
              <a:t>Control area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12280" y="2377439"/>
            <a:ext cx="5486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/>
              <a:t>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Gauteng Provincial Government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Generic Corridor Operations Report Template</dc:title>
  <dc:subject>Generic Corridor Operations Reporting Template</dc:subject>
  <dc:creator>CIC</dc:creator>
  <cp:lastModifiedBy>CIC</cp:lastModifiedBy>
  <cp:revision>3</cp:revision>
  <dcterms:created xsi:type="dcterms:W3CDTF">2026-08-26T12:35:59Z</dcterms:created>
  <dcterms:modified xsi:type="dcterms:W3CDTF">2026-08-27T13:13:33Z</dcterms:modified>
</cp:coreProperties>
</file>