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channel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Cases by hour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.0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status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Active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72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Case Category 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location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Ekurhuleni NU</c:v>
                </c:pt>
                <c:pt idx="1">
                  <c:v>Mayfield, Benoni</c:v>
                </c:pt>
                <c:pt idx="2">
                  <c:v>Reiger Park, Boksburg</c:v>
                </c:pt>
                <c:pt idx="3">
                  <c:v>Etwatwa X13</c:v>
                </c:pt>
                <c:pt idx="4">
                  <c:v>Essexwold, Germiston</c:v>
                </c:pt>
                <c:pt idx="5">
                  <c:v>Palm Ridge 5,6 Informal</c:v>
                </c:pt>
                <c:pt idx="6">
                  <c:v>Tsakane SP</c:v>
                </c:pt>
                <c:pt idx="7">
                  <c:v>Tsakane Ext 19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6.0</c:v>
                </c:pt>
                <c:pt idx="7">
                  <c:v>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4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Daily priority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1.53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324D"/>
                </a:solidFill>
                <a:latin typeface="Aptos"/>
              </a:rPr>
              <a:t>Largest concentration segments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263238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  <c:pt idx="5">
                  <c:v>Health Services</c:v>
                </c:pt>
                <c:pt idx="6">
                  <c:v>Citizens Online Services</c:v>
                </c:pt>
                <c:pt idx="7">
                  <c:v>Revenue Management Services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68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Ekurhuleni Operations &amp;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800" b="0">
                <a:solidFill>
                  <a:srgbClr val="DCE8F2"/>
                </a:solidFill>
                <a:latin typeface="Aptos"/>
              </a:rPr>
              <a:t>02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Requesting team: Operations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6858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100" b="0">
                <a:solidFill>
                  <a:srgbClr val="DCE8F2"/>
                </a:solidFill>
                <a:latin typeface="Aptos"/>
              </a:rPr>
              <a:t>Audience: Operations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440680"/>
            <a:ext cx="9601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B9C8D6"/>
                </a:solidFill>
                <a:latin typeface="Aptos"/>
              </a:rPr>
              <a:t>Automatically designed from the selected data, period and reporting brief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5138928"/>
            <a:ext cx="128016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Distinct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325880"/>
            <a:ext cx="20574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624" y="1453895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1691640"/>
            <a:ext cx="17830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Not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11064240" cy="33375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6148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What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182112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104 cases were logged on the selected reporting 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12463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712463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24 distinct wards were represented on the selected reporting date; 24 were new to the reporting week.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42816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242816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Reporting-week running coverage is 24 wards, with 88 still needed against the configured benchmark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73168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Outbound Call was the leading intake channel with 104 cases (100.0%).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41148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FFC000"/>
                </a:solidFill>
                <a:latin typeface="Aptos"/>
              </a:rPr>
              <a:t>DAY-005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303520"/>
            <a:ext cx="100126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Peak activity occurred at 09:00 with 28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Daily Operational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Cases logged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3880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Daily 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880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0792" y="1417320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7096" y="1545336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New 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096" y="1783080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Running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7576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0792" y="2532888"/>
            <a:ext cx="343204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7096" y="2660904"/>
            <a:ext cx="3157728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6" y="2898648"/>
            <a:ext cx="3157728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21.4%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10698480" cy="14173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33087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Operational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99669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Suggested new wards per remaining working day: 44 across 2 remaining working day(s).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5C6B78"/>
                </a:solidFill>
                <a:latin typeface="Aptos"/>
              </a:rPr>
              <a:t>The pace is a recommendation based on the configured ward benchmark and remaining Monday–Friday days, not an observed performance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Ward &amp; Geographic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Wards represented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Configured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7432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636776"/>
            <a:ext cx="2468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1874519"/>
            <a:ext cx="2468880" cy="39319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000" b="1">
                <a:solidFill>
                  <a:srgbClr val="0058A8"/>
                </a:solidFill>
                <a:latin typeface="Aptos"/>
              </a:rPr>
              <a:t>21.4%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788920"/>
          <a:ext cx="64008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0" y="2788920"/>
            <a:ext cx="379476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971800"/>
            <a:ext cx="3337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17324D"/>
                </a:solidFill>
                <a:latin typeface="Aptos"/>
              </a:rPr>
              <a:t>CCA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255264"/>
            <a:ext cx="14173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255264"/>
            <a:ext cx="5029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Cov.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255264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511296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GERMISTON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11296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511296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794759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BRAKPAN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94759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794759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078223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DUDUZA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078223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078223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361687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KWA THEMA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361687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4361687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645151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NIGEL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645151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4645151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4928615"/>
            <a:ext cx="16916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THOKOZA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928615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0/4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4928615"/>
            <a:ext cx="640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20" b="0">
                <a:solidFill>
                  <a:srgbClr val="263238"/>
                </a:solidFill>
                <a:latin typeface="Aptos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010912"/>
            <a:ext cx="329184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87783"/>
                </a:solidFill>
                <a:latin typeface="Aptos"/>
              </a:rPr>
              <a:t>+ 14 more CCA rows in addendum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285232"/>
            <a:ext cx="10424160" cy="658368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394960"/>
            <a:ext cx="100949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650992"/>
            <a:ext cx="10094976" cy="201167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24 of 112 configured wards are represented (21.4%), leaving 88 unrepresented. Prioritise the uncovered wards before treating the period as geographically representative.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Channel &amp; Hourly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53312"/>
          <a:ext cx="4892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0" y="1353312"/>
          <a:ext cx="55321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138928"/>
            <a:ext cx="10652760" cy="77724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248656"/>
            <a:ext cx="1032357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504688"/>
            <a:ext cx="10323576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Outbound Call carries 104 cases (100.0%). peak activity is 28 cases at 09:00. Use these patterns to review channel capacity and timing; they are activity signals, not proof of service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status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Active accounts for 104 cases (100.0%) in the selected period. This identifies the main concentration of activity; it does not by itself indicate a performance failure or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Service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Electricity Services leads this service category with 26 cases (25.2%). The next segment is Roads Services;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Cases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location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Ekurhuleni NU leads this location with 8 cases (14.0%). The next segment is Mayfield, Benoni;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Priority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Daily priority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903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371600"/>
            <a:ext cx="3657600" cy="379476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481328"/>
            <a:ext cx="3328416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What the chart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1737360"/>
            <a:ext cx="3328416" cy="33375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Medium leads this priority segment with 103 cases (99.0%). The next segment is High; use this view to focus attention where activity is concentrated, not to infer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Voice of 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VoC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0058A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283464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2286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687783"/>
                </a:solidFill>
                <a:latin typeface="Aptos"/>
              </a:rPr>
              <a:t>Positive / 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21408"/>
            <a:ext cx="228600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400" b="1">
                <a:solidFill>
                  <a:srgbClr val="2E7D32"/>
                </a:solidFill>
                <a:latin typeface="Aptos"/>
              </a:rPr>
              <a:t>Not available%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2412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ptos"/>
              </a:rPr>
              <a:t>VoC is shown only when supplied evidence is available and labelled for the selected reporting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Pareto Priority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Largest concentration segments — Case Category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442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Aptos"/>
              </a:rPr>
              <a:t>Pareto priority screen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1993392"/>
          <a:ext cx="9784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413248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Cumulative share across the first 3 segment(s): 69.9%. Use this as a prioritisation signal, not a causal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Diagnostic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Fishbone cause framework + Five Whys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Fishbone investigation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Governance /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38528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Owner=GODFREY PILUSA, GODFREY is 38.5% within the dominant segment vs 28.8% overall (+9.6 pp).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Process Design /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86584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Intergovernmental Dependenci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Location=Mqantsa, Tembisa is 11.5% within the dominant segment vs 3.8% overall (+7.7 pp).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82696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Resource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82696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Owner=GODFREY PILUSA, GODFREY is 38.5% within the dominant segment vs 28.8% overall (+9.6 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Infrastructure /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Category 2=Electricity Infrastructure is 42.3% within the dominant segment vs 10.6% overall (+31.7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Data /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78808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Status Reason=Received is 100.0% within the dominant segment vs 100.0% overall (+0.0 pp).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26864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Policy /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626864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214884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263238"/>
                </a:solidFill>
                <a:latin typeface="Aptos"/>
              </a:rPr>
              <a:t>Communication /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074920"/>
            <a:ext cx="36118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Case Type=Transfer to External Entity is 19.2% within the dominant segment vs 13.5% overall (+5.8 pp).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572768"/>
            <a:ext cx="37947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Five Whys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965960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263238"/>
                </a:solidFill>
                <a:latin typeface="Aptos"/>
              </a:rPr>
              <a:t>1. Case Category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276856"/>
            <a:ext cx="36576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263238"/>
                </a:solidFill>
                <a:latin typeface="Aptos"/>
              </a:rPr>
              <a:t>Why is the segment concentrated? Evidence: 42.3% within dominant segment vs 10.6% overall (delta +31.7 pp).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5413248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0">
                <a:solidFill>
                  <a:srgbClr val="5C6B78"/>
                </a:solidFill>
                <a:latin typeface="Aptos"/>
              </a:rPr>
              <a:t>Answers require verified operational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Extreme Analysis — Optimisation &amp; Control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3152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Corrective / preventive action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8132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Pareto screening identifies Electricity Services as the largest Case Category 1 segment at 26 cases (25.0%).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5564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Start the diagnostic review with Electricity Services; test the leading segments against process, control, capacity and data evidence before redesigning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67128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31136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The dominant Pareto segment was profiled across available workflow, ownership, demand and outcome fields; 3 material share shifts were observed.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Validate the strongest associations against process records, case narratives and responsible operating teams before treating them as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80944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Fishbone screening mapped 3 observable signal(s) across eight standard cause categories.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55264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Use the Fishbone register as a hypothesis-testing checklist; do not treat an unmapped category as evidence of a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58183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30752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Five Whys prompts were generated for 1 materially concentrated segment(s).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05072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Validate each why with case evidence, process documentation or operational owner confirmation before recording a root cause.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16552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2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80560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A control-gap review has been activated for the extreme-analysis run, using deterministic quality findings and workflow concentrations as review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80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Review high-severity quality exceptions and concentrated workflow segments against the relevant SOP/control before proposing redesign.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66360"/>
            <a:ext cx="1074420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1051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30368"/>
            <a:ext cx="90525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1">
                <a:solidFill>
                  <a:srgbClr val="17324D"/>
                </a:solidFill>
                <a:latin typeface="Aptos"/>
              </a:rPr>
              <a:t>Optimisation review is enabled to convert confirmed diagnostic findings into corrective/preventive action candidates.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04688"/>
            <a:ext cx="9052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Prioritise actions whose diagnostic evidence is confirmed by process owners; route systemic process-redesign candidates to Business Process Management for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5C6B78"/>
                </a:solidFill>
                <a:latin typeface="Aptos"/>
              </a:rPr>
              <a:t>Evidence gates: Level 3 predictive analysis is not enabled because insufficient historical daily observations are available for a defensible trend/forecast.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Actions and Management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61872"/>
            <a:ext cx="47091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DECISION /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261872"/>
            <a:ext cx="31546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26187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1">
                <a:solidFill>
                  <a:srgbClr val="687783"/>
                </a:solidFill>
                <a:latin typeface="Aptos"/>
              </a:rP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36192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73351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27632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Validate the unrepresented wards against the official register and use the missing-ward list to target follow-up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2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AI-F-001 is High priority and evidence is High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627632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32304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9464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Outbound Call as the first segment for capacity and control checks; compare it with the next-largest segments before changing operating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23744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AI-F-002 is High priority and evidence is High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23744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28416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65576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419856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Medium as the first segment for capacity and control checks; compare it with the next-largest segments before changing operating priorities.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AI-F-003 is High priority and evidence is High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419856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24528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61688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315968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Review the Active queue against the intended workflow target and examine ageing or resolution evidence if those fields are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15968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AI-F-004 is High priority and evidence is High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15968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AI-E-007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20640"/>
            <a:ext cx="10744200" cy="7863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777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1">
                <a:solidFill>
                  <a:srgbClr val="FFC000"/>
                </a:solidFill>
                <a:latin typeface="Aptos"/>
              </a:rPr>
              <a:t>Normal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212079"/>
            <a:ext cx="4526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50" b="1">
                <a:solidFill>
                  <a:srgbClr val="17324D"/>
                </a:solidFill>
                <a:latin typeface="Aptos"/>
              </a:rPr>
              <a:t>Start the diagnostic review with Electricity Services; test the leading segments against process, control, capacity and data evidence before redesigning operations.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12079"/>
            <a:ext cx="29718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800" b="0">
                <a:solidFill>
                  <a:srgbClr val="263238"/>
                </a:solidFill>
                <a:latin typeface="Aptos"/>
              </a:rPr>
              <a:t>Finding EXT-F-001 remains relevant for routine operational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212079"/>
            <a:ext cx="14173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50" b="0">
                <a:solidFill>
                  <a:srgbClr val="687783"/>
                </a:solidFill>
                <a:latin typeface="Aptos"/>
              </a:rPr>
              <a:t>EXT-E-001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69848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2300" b="1">
                <a:solidFill>
                  <a:srgbClr val="17324D"/>
                </a:solidFill>
                <a:latin typeface="Aptos"/>
              </a:rPr>
              <a:t>Evidence and Method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1074420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44200" cy="438912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966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How to verify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76272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Source and file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1518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Field mapping / data dictionary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Period filter and denominators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93008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93008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Full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Record-level or pseudonymised evidence where appropriate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1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70831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Quality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9744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09744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Calculation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48656"/>
            <a:ext cx="274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1000" b="1">
                <a:solidFill>
                  <a:srgbClr val="FFC000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48656"/>
            <a:ext cx="96469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263238"/>
                </a:solidFill>
                <a:latin typeface="Aptos"/>
              </a:rPr>
              <a:t>Finding-to-evidence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900" b="0">
                <a:solidFill>
                  <a:srgbClr val="5C6B78"/>
                </a:solidFill>
                <a:latin typeface="Aptos"/>
              </a:rPr>
              <a:t>Detailed calculations, source registers, exceptions and traceability belong in the analytical addendum.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ptos"/>
              </a:rPr>
              <a:t>Ekurhuleni  •  Operations Team  •  02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9224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6B7785"/>
                </a:solidFill>
                <a:latin typeface="Aptos"/>
              </a:rPr>
              <a:t>Evidence-led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