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channel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72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hour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.04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status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Active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72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Case Category 1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  <c:pt idx="5">
                  <c:v>Health Services</c:v>
                </c:pt>
                <c:pt idx="6">
                  <c:v>Citizens Online Services</c:v>
                </c:pt>
                <c:pt idx="7">
                  <c:v>Revenue Management 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6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location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Ekurhuleni NU</c:v>
                </c:pt>
                <c:pt idx="1">
                  <c:v>Mayfield, Benoni</c:v>
                </c:pt>
                <c:pt idx="2">
                  <c:v>Reiger Park, Boksburg</c:v>
                </c:pt>
                <c:pt idx="3">
                  <c:v>Etwatwa X13</c:v>
                </c:pt>
                <c:pt idx="4">
                  <c:v>Essexwold, Germiston</c:v>
                </c:pt>
                <c:pt idx="5">
                  <c:v>Palm Ridge 5,6 Informal</c:v>
                </c:pt>
                <c:pt idx="6">
                  <c:v>Tsakane SP</c:v>
                </c:pt>
                <c:pt idx="7">
                  <c:v>Tsakane Ext 19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</c:v>
                </c:pt>
                <c:pt idx="1">
                  <c:v>8.0</c:v>
                </c:pt>
                <c:pt idx="2">
                  <c:v>8.0</c:v>
                </c:pt>
                <c:pt idx="3">
                  <c:v>7.0</c:v>
                </c:pt>
                <c:pt idx="4">
                  <c:v>7.0</c:v>
                </c:pt>
                <c:pt idx="5">
                  <c:v>7.0</c:v>
                </c:pt>
                <c:pt idx="6">
                  <c:v>6.0</c:v>
                </c:pt>
                <c:pt idx="7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44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priority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High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103.0</c:v>
                </c:pt>
                <c:pt idx="1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1.53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5156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Ekurhuleni Operations &amp;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800" b="0">
                <a:solidFill>
                  <a:srgbClr val="DCE8F2"/>
                </a:solidFill>
                <a:latin typeface="Aptos"/>
              </a:rPr>
              <a:t>02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Requesting team: Operations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Audience: Executive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068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B9C8D6"/>
                </a:solidFill>
                <a:latin typeface="Aptos"/>
              </a:rPr>
              <a:t>Automatically designed from the selected data, period and reporting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138928"/>
            <a:ext cx="128016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Distinct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Not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1064240" cy="33375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What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2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182112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104 cases were logged on the selected reporting 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12463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712463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24 distinct wards were represented on the selected reporting date; 24 were new to the reporting week.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42816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242816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Reporting-week running coverage is 24 wards, with 88 still needed against the configured benchmark where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73168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Outbound Call was the leading intake channel with 104 cases (100.0%).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303520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Peak activity occurred at 09:00 with 28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Daily Operational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Cases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7576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3880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Daily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880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0792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7096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New wards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096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Running 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7576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Still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0792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7096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7096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21.4%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10698480" cy="14173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33087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Operational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99669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Suggested new wards per remaining working day: 44 across 2 remaining working day(s).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9966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5C6B78"/>
                </a:solidFill>
                <a:latin typeface="Aptos"/>
              </a:rPr>
              <a:t>The pace is a recommendation based on the configured ward benchmark and remaining Monday–Friday days, not an observed performance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Ward &amp; Geographic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Wards represented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Configured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21.4%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788920"/>
          <a:ext cx="64008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0" y="2788920"/>
            <a:ext cx="379476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971800"/>
            <a:ext cx="3337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CCA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255264"/>
            <a:ext cx="14173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CCA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255264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Cov.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3255264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511296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GERMISTON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511296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511296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794759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BRAKPAN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794759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3794759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078223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DUDUZA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078223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078223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361687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KWA THEMA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361687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361687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645151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NIGEL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645151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645151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928615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THOKOZA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928615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928615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010912"/>
            <a:ext cx="329184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87783"/>
                </a:solidFill>
                <a:latin typeface="Aptos"/>
              </a:rPr>
              <a:t>+ 14 more CCA rows in addendum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285232"/>
            <a:ext cx="10424160" cy="658368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5394960"/>
            <a:ext cx="1009497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650992"/>
            <a:ext cx="10094976" cy="201167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24 of 112 configured wards are represented (21.4%), leaving 88 unrepresented. Prioritise the uncovered wards before treating the period as geographically representative.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Channel &amp; Hourly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53312"/>
          <a:ext cx="4892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0" y="1353312"/>
          <a:ext cx="55321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5138928"/>
            <a:ext cx="10652760" cy="77724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248656"/>
            <a:ext cx="1032357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504688"/>
            <a:ext cx="10323576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Outbound Call carries 104 cases (100.0%). peak activity is 28 cases at 09:00. Use these patterns to review channel capacity and timing; they are activity signals, not proof of service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Case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status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Active accounts for 104 cases (100.0%) in the selected period. This identifies the main concentration of activity; it does not by itself indicate a performance failure or root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Service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Case Category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Electricity Services leads this service category with 26 cases (25.2%). The next segment is Roads Services;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Cases by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location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Ekurhuleni NU leads this location with 8 cases (14.0%). The next segment is Mayfield, Benoni;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Priority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priority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Medium leads this priority segment with 103 cases (99.0%). The next segment is High;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Voice of Citizen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VoC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0058A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Positive /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Aptos"/>
              </a:rPr>
              <a:t>Not available%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2412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VoC is shown only when supplied evidence is available and labelled for the selected reporting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Actions and Management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61872"/>
            <a:ext cx="47091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DECISION /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261872"/>
            <a:ext cx="31546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261872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73351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27632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Validate the unrepresented wards against the official register and use the missing-ward list to target follow-up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27632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AI-F-001 is High priority and evidence is High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627632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32304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69464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23744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Outbound Call as the first segment for capacity and control checks; compare it with the next-largest segments before changing operating priorities.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23744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AI-F-002 is High priority and evidence is High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523744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28416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65576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419856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Medium as the first segment for capacity and control checks; compare it with the next-largest segments before changing operating priorities.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19856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AI-F-003 is High priority and evidence is High confidence.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419856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24528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61688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315968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the Active queue against the intended workflow target and examine ageing or resolution evidence if those fields are available.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15968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AI-F-004 is High priority and evidence is High confidence.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315968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Evidence and Method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43891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966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How to verify this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76272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Source and file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1518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Field mapping / data dictionary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Period filter and denominators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93008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Full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Record-level or pseudonymised evidence where appropriate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1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Quality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0974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Calculation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4865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4865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Finding-to-evidence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Detailed calculations, source registers, exceptions and traceability belong in the analytical addendum.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