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Covered</c:v>
                </c:pt>
              </c:strCache>
            </c:strRef>
          </c:tx>
          <c:spPr>
            <a:solidFill>
              <a:srgbClr val="0058A8"/>
            </a:solidFill>
          </c:spPr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11.0</c:v>
                </c:pt>
                <c:pt idx="1">
                  <c:v>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51.0</c:v>
                </c:pt>
                <c:pt idx="1">
                  <c:v>41.0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Outbound Call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Aptos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800">
              <a:latin typeface="Apto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Cases by hour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08:00</c:v>
                </c:pt>
                <c:pt idx="1">
                  <c:v>09:00</c:v>
                </c:pt>
                <c:pt idx="2">
                  <c:v>10:00</c:v>
                </c:pt>
                <c:pt idx="3">
                  <c:v>11:00</c:v>
                </c:pt>
                <c:pt idx="4">
                  <c:v>12:00</c:v>
                </c:pt>
                <c:pt idx="5">
                  <c:v>13:00</c:v>
                </c:pt>
                <c:pt idx="6">
                  <c:v>14:00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5.0</c:v>
                </c:pt>
                <c:pt idx="1">
                  <c:v>9.0</c:v>
                </c:pt>
                <c:pt idx="2">
                  <c:v>7.0</c:v>
                </c:pt>
                <c:pt idx="3">
                  <c:v>14.0</c:v>
                </c:pt>
                <c:pt idx="4">
                  <c:v>8.0</c:v>
                </c:pt>
                <c:pt idx="5">
                  <c:v>13.0</c:v>
                </c:pt>
                <c:pt idx="6">
                  <c:v>16.0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88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status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Active</c:v>
                </c:pt>
                <c:pt idx="1">
                  <c:v>Resolved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61.0</c:v>
                </c:pt>
                <c:pt idx="1">
                  <c:v>11.0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1.97999999999999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Case Category 1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Electricity Services</c:v>
                </c:pt>
                <c:pt idx="1">
                  <c:v>Roads Services</c:v>
                </c:pt>
                <c:pt idx="2">
                  <c:v>Environment Services</c:v>
                </c:pt>
                <c:pt idx="3">
                  <c:v>Sanitation Services</c:v>
                </c:pt>
                <c:pt idx="4">
                  <c:v>Water Services</c:v>
                </c:pt>
                <c:pt idx="5">
                  <c:v>Health Services</c:v>
                </c:pt>
                <c:pt idx="6">
                  <c:v>Community Safety Services</c:v>
                </c:pt>
                <c:pt idx="7">
                  <c:v>Social Development Services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17.0</c:v>
                </c:pt>
                <c:pt idx="1">
                  <c:v>16.0</c:v>
                </c:pt>
                <c:pt idx="2">
                  <c:v>12.0</c:v>
                </c:pt>
                <c:pt idx="3">
                  <c:v>7.0</c:v>
                </c:pt>
                <c:pt idx="4">
                  <c:v>6.0</c:v>
                </c:pt>
                <c:pt idx="5">
                  <c:v>4.0</c:v>
                </c:pt>
                <c:pt idx="6">
                  <c:v>4.0</c:v>
                </c:pt>
                <c:pt idx="7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6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location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Ekurhuleni NU</c:v>
                </c:pt>
                <c:pt idx="1">
                  <c:v>Sethokga, Tembisa</c:v>
                </c:pt>
                <c:pt idx="2">
                  <c:v>Wattville SP</c:v>
                </c:pt>
                <c:pt idx="3">
                  <c:v>Esselen Park, Tembisa</c:v>
                </c:pt>
                <c:pt idx="4">
                  <c:v>Vosloorus SP1</c:v>
                </c:pt>
                <c:pt idx="5">
                  <c:v>Good Hope, Germiston</c:v>
                </c:pt>
                <c:pt idx="6">
                  <c:v>Tshongweni, Katlehong</c:v>
                </c:pt>
                <c:pt idx="7">
                  <c:v>Northmead, Benoni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12.0</c:v>
                </c:pt>
                <c:pt idx="1">
                  <c:v>9.0</c:v>
                </c:pt>
                <c:pt idx="2">
                  <c:v>9.0</c:v>
                </c:pt>
                <c:pt idx="3">
                  <c:v>6.0</c:v>
                </c:pt>
                <c:pt idx="4">
                  <c:v>5.0</c:v>
                </c:pt>
                <c:pt idx="5">
                  <c:v>4.0</c:v>
                </c:pt>
                <c:pt idx="6">
                  <c:v>4.0</c:v>
                </c:pt>
                <c:pt idx="7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16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priority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High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65.0</c:v>
                </c:pt>
                <c:pt idx="1">
                  <c:v>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6.7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1051560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Ekurhuleni Operations &amp; Analytics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874519"/>
            <a:ext cx="987552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800" b="0">
                <a:solidFill>
                  <a:srgbClr val="DCE8F2"/>
                </a:solidFill>
                <a:latin typeface="Aptos"/>
              </a:rPr>
              <a:t>24 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43200"/>
            <a:ext cx="6858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100" b="0">
                <a:solidFill>
                  <a:srgbClr val="DCE8F2"/>
                </a:solidFill>
                <a:latin typeface="Aptos"/>
              </a:rPr>
              <a:t>Requesting team: Operations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54680"/>
            <a:ext cx="6858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100" b="0">
                <a:solidFill>
                  <a:srgbClr val="DCE8F2"/>
                </a:solidFill>
                <a:latin typeface="Aptos"/>
              </a:rPr>
              <a:t>Audience: Operations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440680"/>
            <a:ext cx="9601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B9C8D6"/>
                </a:solidFill>
                <a:latin typeface="Aptos"/>
              </a:rPr>
              <a:t>Automatically designed from the selected data, period and reporting brief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5138928"/>
            <a:ext cx="128016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Period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950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Distinct 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950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406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Daily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7862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Vs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862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Not available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60320"/>
            <a:ext cx="11064240" cy="33375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76148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What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2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182112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72 cases were logged on the selected reporting date.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12463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712463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20 distinct wards were represented on the selected reporting date; 20 were new to the reporting week.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42816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242816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Reporting-week running coverage is 20 wards, with 92 still needed against the configured benchmark where available.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73168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773168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Outbound Call was the leading intake channel with 72 cases (100.0%).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03520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303520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Peak activity occurred at 14:00 with 16 cases.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Daily Operational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545336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Cases logged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1783080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7576" y="1417320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3880" y="1545336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Daily 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3880" y="1783080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0792" y="1417320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7096" y="1545336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New wards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7096" y="1783080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532888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660904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Running wards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898648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7576" y="2532888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3880" y="2660904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Still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3880" y="2898648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92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0792" y="2532888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7096" y="2660904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7096" y="2898648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17.9%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86200"/>
            <a:ext cx="10698480" cy="141732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33087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17324D"/>
                </a:solidFill>
                <a:latin typeface="Aptos"/>
              </a:rPr>
              <a:t>Operational pacing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80560"/>
            <a:ext cx="99669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Suggested new wards per remaining working day: 23 across 4 remaining working day(s).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10912"/>
            <a:ext cx="99669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5C6B78"/>
                </a:solidFill>
                <a:latin typeface="Aptos"/>
              </a:rPr>
              <a:t>The pace is a recommendation based on the configured ward benchmark and remaining Monday–Friday days, not an observed performance value.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Ward &amp; Geographic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636776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Wards represented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874519"/>
            <a:ext cx="24688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58184" y="1636776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Configured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8184" y="1874519"/>
            <a:ext cx="24688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84264" y="1636776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4264" y="1874519"/>
            <a:ext cx="24688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17.9%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85800" y="2788920"/>
          <a:ext cx="640080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315200" y="2788920"/>
            <a:ext cx="3794760" cy="2697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999232"/>
            <a:ext cx="3337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17324D"/>
                </a:solidFill>
                <a:latin typeface="Aptos"/>
              </a:rPr>
              <a:t>CCA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401568"/>
            <a:ext cx="3291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263238"/>
                </a:solidFill>
                <a:latin typeface="Aptos"/>
              </a:rPr>
              <a:t>ALBERTON — 0/5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712464"/>
            <a:ext cx="3291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263238"/>
                </a:solidFill>
                <a:latin typeface="Aptos"/>
              </a:rPr>
              <a:t>BENONI — 2/7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4023360"/>
            <a:ext cx="3291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263238"/>
                </a:solidFill>
                <a:latin typeface="Aptos"/>
              </a:rPr>
              <a:t>BOKSBURG — 2/6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334256"/>
            <a:ext cx="3291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263238"/>
                </a:solidFill>
                <a:latin typeface="Aptos"/>
              </a:rPr>
              <a:t>DAVEYTON — 0/4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645152"/>
            <a:ext cx="3291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263238"/>
                </a:solidFill>
                <a:latin typeface="Aptos"/>
              </a:rPr>
              <a:t>EDENVALE — 1/6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4956048"/>
            <a:ext cx="3291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263238"/>
                </a:solidFill>
                <a:latin typeface="Aptos"/>
              </a:rPr>
              <a:t>ETWATWA — 0/4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266944"/>
            <a:ext cx="3291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263238"/>
                </a:solidFill>
                <a:latin typeface="Aptos"/>
              </a:rPr>
              <a:t>GERMISTON — 1/8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5230368"/>
            <a:ext cx="329184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87783"/>
                </a:solidFill>
                <a:latin typeface="Aptos"/>
              </a:rPr>
              <a:t>+ 13 more CCA rows in addendum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Channel &amp; Hourly Activity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371600"/>
          <a:ext cx="49834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897880" y="1371600"/>
          <a:ext cx="539496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Workflow / Resolution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status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108813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Service &amp; Demand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Case Category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108813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Location / Entity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location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108813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Priority / Risk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priority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108813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Data Quality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4420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99616"/>
            <a:ext cx="9144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Medium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90472"/>
            <a:ext cx="937260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21408"/>
            <a:ext cx="1074420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03704"/>
            <a:ext cx="9144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Medium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194560"/>
            <a:ext cx="937260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25496"/>
            <a:ext cx="1074420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07792"/>
            <a:ext cx="9144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898648"/>
            <a:ext cx="937260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9584"/>
            <a:ext cx="1074420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9144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602736"/>
            <a:ext cx="937260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Voice of Citizen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834640" cy="1828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2860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VoC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228600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400" b="1">
                <a:solidFill>
                  <a:srgbClr val="0058A8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1463040"/>
            <a:ext cx="2834640" cy="1828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22860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Positive / 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121408"/>
            <a:ext cx="228600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400" b="1">
                <a:solidFill>
                  <a:srgbClr val="2E7D32"/>
                </a:solidFill>
                <a:latin typeface="Aptos"/>
              </a:rPr>
              <a:t>Not available%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1024128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VoC is shown only when supplied evidence is available and labelled for the selected reporting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Actions and Management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4420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17904"/>
            <a:ext cx="685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90472"/>
            <a:ext cx="90982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67128"/>
            <a:ext cx="1074420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67712"/>
            <a:ext cx="685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40280"/>
            <a:ext cx="90982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16936"/>
            <a:ext cx="1074420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685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90088"/>
            <a:ext cx="90982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66744"/>
            <a:ext cx="1074420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67328"/>
            <a:ext cx="685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39896"/>
            <a:ext cx="90982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16552"/>
            <a:ext cx="1074420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17136"/>
            <a:ext cx="685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489704"/>
            <a:ext cx="90982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Evidence and Method Note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44200" cy="438912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99669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How to verify this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76272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Source and file 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15184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Field mapping / data dictionary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4096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54096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Period filter and denominators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93008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93008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Full distributions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931920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Record-level or pseudonymised evidence where appropriate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1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370831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Quality exceptions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9744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09744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Calculation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48656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248656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Finding-to-evidence traceability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Detailed calculations, source registers, exceptions and traceability belong in the analytical addendum.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